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9" r:id="rId3"/>
    <p:sldId id="260" r:id="rId4"/>
    <p:sldId id="294" r:id="rId5"/>
    <p:sldId id="332" r:id="rId6"/>
    <p:sldId id="333" r:id="rId7"/>
    <p:sldId id="328" r:id="rId8"/>
    <p:sldId id="336" r:id="rId9"/>
    <p:sldId id="335" r:id="rId10"/>
    <p:sldId id="334" r:id="rId11"/>
    <p:sldId id="301" r:id="rId12"/>
    <p:sldId id="329" r:id="rId13"/>
    <p:sldId id="305" r:id="rId14"/>
    <p:sldId id="330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10" r:id="rId25"/>
    <p:sldId id="346" r:id="rId26"/>
    <p:sldId id="347" r:id="rId27"/>
    <p:sldId id="348" r:id="rId28"/>
    <p:sldId id="349" r:id="rId29"/>
    <p:sldId id="327" r:id="rId30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951C7C-A2FA-427E-97BD-343ECF258B32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AC9A69A0-07FC-4F82-AB6B-A0C40671D6B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619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51D0-8DAB-4B76-9B45-D612D57A1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3091F-4675-4B73-ACD8-378A712AC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EDFA-674C-43ED-B5C2-B2E3EA19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493DE-C1F6-410A-BD9D-7DAA7430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EA9A2-1B2C-41CE-A5D3-2820793D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9346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F800-2C5F-4751-98A9-8314F9D3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BE00-1ADD-41ED-A608-2532A9F9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102C3-FA60-455E-8445-0CF481F3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C0E9-2DD1-4DBD-97F2-2EAF8E7F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360B-7840-4F7B-9ACA-EE19674E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04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2541-0A3F-4350-AACB-0F7C1D37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426A2-62D5-4C7E-A8A8-6CC753865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63E2B-589F-422B-A87C-C4517BB4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E44F9-24D2-4FC9-8A92-06EDD201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59F40-FBF1-47B4-8C4F-636B6C62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0139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9B79-E10F-4B78-AB7E-50284DD0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959D9-5BA6-4BF2-976F-923204F8E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27AD8-1421-4A98-8EE7-B39D5118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9DA3C-F6F2-49EC-8268-20E088BA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B0C89-58B0-4C07-9E9B-52FAC008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6C4EE-78C7-4E4E-8FAC-CE2C964F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811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26C3-1BBA-4472-8D24-B7947897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2C210-9517-4552-82DE-2FCFF93FA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CEF99-D798-48CC-9B6C-864A17865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5B4C8-EA6F-4BD1-B692-FAEF56528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79162-FF2B-450A-BB9B-B634025D2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09BEA-E43C-4371-9D3E-FDEA4A21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05382-0480-4256-9341-708A69CD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84FF4-4D79-4CBC-9985-E6B9086F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2250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5A21-B88A-4141-BD14-51D2D907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E5195-4541-456C-A2D1-9E1B19D2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062CF-8609-4C2B-86B9-DE794889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C390B-7A5F-464D-BCC9-92A33102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5510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58851-5A96-4908-A82B-5B8A11F8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6C04B-39C4-4993-BCAB-1FD949EC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D40E2-D27C-417F-AF5C-60FC761D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9692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AB3B-7B0F-441F-9EFC-74CAD32C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8EA2-6D18-4B05-8821-4298A15C3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9739-7A08-4954-A27E-6C804076A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766E2-51F7-4B5E-8403-346F26F7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CD8CE-6DDA-483E-B21D-FCCD9521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13E88-4959-4C49-B2A4-5453279E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9041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B5AF-DCA8-45F9-907A-B1682D75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7A7FA-6214-4971-9EFD-507F277AA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766C6-A227-4B26-9CA8-5AE318B6D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0F084-A098-44C5-B098-C4CA31EE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85CCB-390C-4FFC-B6DA-65A226B5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8A3B2-5782-4CE5-BF99-19BD0F45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283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1655-F1F0-4867-B5D6-8BB1507B9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32E70-F049-43E4-BFE9-8A76AE32A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5F4F-8C37-42A7-B043-BA4CF224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D674C-E3B2-4CE1-ABEB-24F050D0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7F120-CAE9-4BA4-A288-889C9C4C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9421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D21D5-4DE2-4200-B895-F8770C7A5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6A8F6-60CB-4C90-B78E-343B72464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664D8-D048-4A49-9E01-3BB41FEB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B48CE-DF50-4785-85E3-18A547B7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9407D-FA94-48BC-88E7-DDE62645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4972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C639-F443-4BF3-BD98-9E359787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C653E-AC9A-44E7-B043-E14BB396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89AC6-DF52-410D-940C-03344ED68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0BF41-0E46-4B99-8679-8B80CE169B2B}" type="datetimeFigureOut">
              <a:rPr lang="fa-IR" smtClean="0"/>
              <a:t>18/03/1448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A690-603A-49B9-ABA6-8CF37EE70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917B5-A481-4BBE-9F83-D6DC54B80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0855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03284"/>
            <a:ext cx="9144000" cy="2690156"/>
          </a:xfrm>
        </p:spPr>
        <p:txBody>
          <a:bodyPr>
            <a:normAutofit/>
          </a:bodyPr>
          <a:lstStyle/>
          <a:p>
            <a:r>
              <a:rPr lang="pt-BR" sz="4800" dirty="0"/>
              <a:t>TP558 - Tópicos avançados em Machine Learning</a:t>
            </a:r>
            <a:br>
              <a:rPr lang="pt-BR" sz="4800" dirty="0"/>
            </a:br>
            <a:br>
              <a:rPr lang="pt-BR" sz="900" dirty="0"/>
            </a:br>
            <a:r>
              <a:rPr lang="en-US" sz="6600" b="1" dirty="0"/>
              <a:t>Federated Learning</a:t>
            </a:r>
            <a:endParaRPr lang="pt-BR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8241323" y="5859723"/>
            <a:ext cx="3657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Hanieh Memarian</a:t>
            </a:r>
          </a:p>
          <a:p>
            <a:r>
              <a:rPr lang="pt-BR" sz="2000" dirty="0"/>
              <a:t>hanieh.memarian@dtel.inatel.br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93076" y="5890500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4" y="347213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0C1EBE7-53C6-C04D-72F0-F50AE93BB874}"/>
              </a:ext>
            </a:extLst>
          </p:cNvPr>
          <p:cNvSpPr txBox="1"/>
          <p:nvPr/>
        </p:nvSpPr>
        <p:spPr>
          <a:xfrm>
            <a:off x="5095561" y="9544"/>
            <a:ext cx="153439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/>
              <a:t>Outline</a:t>
            </a:r>
            <a:r>
              <a:rPr lang="en-US" sz="2800" dirty="0"/>
              <a:t> </a:t>
            </a:r>
            <a:endParaRPr lang="fa-IR" sz="2800" b="1" dirty="0">
              <a:solidFill>
                <a:srgbClr val="002060"/>
              </a:solidFill>
              <a:cs typeface="B Zar" panose="00000400000000000000" pitchFamily="2" charset="-78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320D5E-8548-F252-6A27-F6DFE9414B78}"/>
              </a:ext>
            </a:extLst>
          </p:cNvPr>
          <p:cNvCxnSpPr>
            <a:cxnSpLocks/>
          </p:cNvCxnSpPr>
          <p:nvPr/>
        </p:nvCxnSpPr>
        <p:spPr>
          <a:xfrm>
            <a:off x="0" y="564392"/>
            <a:ext cx="12192000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9E64970-C9D6-428C-858A-1D668BE9A297}"/>
              </a:ext>
            </a:extLst>
          </p:cNvPr>
          <p:cNvGrpSpPr/>
          <p:nvPr/>
        </p:nvGrpSpPr>
        <p:grpSpPr>
          <a:xfrm>
            <a:off x="854031" y="2203941"/>
            <a:ext cx="10483938" cy="3878039"/>
            <a:chOff x="736784" y="2518266"/>
            <a:chExt cx="10483938" cy="387803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EC853F-68FD-402C-85C9-E663DEC9E3CE}"/>
                </a:ext>
              </a:extLst>
            </p:cNvPr>
            <p:cNvGrpSpPr/>
            <p:nvPr/>
          </p:nvGrpSpPr>
          <p:grpSpPr>
            <a:xfrm>
              <a:off x="736784" y="2518266"/>
              <a:ext cx="8412799" cy="3878039"/>
              <a:chOff x="1865788" y="1893309"/>
              <a:chExt cx="8412799" cy="387803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A25B914-CBE9-4C2F-6E76-816DE5A9327C}"/>
                  </a:ext>
                </a:extLst>
              </p:cNvPr>
              <p:cNvSpPr/>
              <p:nvPr/>
            </p:nvSpPr>
            <p:spPr>
              <a:xfrm>
                <a:off x="1865788" y="2450950"/>
                <a:ext cx="1944217" cy="2016224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 rtl="1">
                  <a:lnSpc>
                    <a:spcPts val="1800"/>
                  </a:lnSpc>
                  <a:spcAft>
                    <a:spcPts val="1800"/>
                  </a:spcAft>
                </a:pPr>
                <a:endParaRPr lang="da-DK" sz="1400" dirty="0">
                  <a:solidFill>
                    <a:schemeClr val="tx1"/>
                  </a:solidFill>
                  <a:cs typeface="B Nazanin" panose="00000400000000000000" pitchFamily="2" charset="-78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7F92B30-B60D-977A-1A01-3957CC2A7BED}"/>
                  </a:ext>
                </a:extLst>
              </p:cNvPr>
              <p:cNvSpPr/>
              <p:nvPr/>
            </p:nvSpPr>
            <p:spPr>
              <a:xfrm>
                <a:off x="3971628" y="2450950"/>
                <a:ext cx="1944217" cy="1625988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>
                  <a:lnSpc>
                    <a:spcPts val="1800"/>
                  </a:lnSpc>
                  <a:spcAft>
                    <a:spcPts val="1800"/>
                  </a:spcAft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2E70C5-81AF-B26F-5376-AA548AD2347C}"/>
                  </a:ext>
                </a:extLst>
              </p:cNvPr>
              <p:cNvSpPr/>
              <p:nvPr/>
            </p:nvSpPr>
            <p:spPr>
              <a:xfrm>
                <a:off x="6027049" y="2450949"/>
                <a:ext cx="1944217" cy="1300789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>
                  <a:lnSpc>
                    <a:spcPts val="1800"/>
                  </a:lnSpc>
                  <a:spcAft>
                    <a:spcPts val="1800"/>
                  </a:spcAft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62D0210-640F-F715-1694-E3319915415E}"/>
                  </a:ext>
                </a:extLst>
              </p:cNvPr>
              <p:cNvSpPr/>
              <p:nvPr/>
            </p:nvSpPr>
            <p:spPr>
              <a:xfrm>
                <a:off x="8132889" y="2450949"/>
                <a:ext cx="1944217" cy="993839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>
                  <a:lnSpc>
                    <a:spcPts val="1800"/>
                  </a:lnSpc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B137054-3C63-9ADD-D426-94A9B12EBE50}"/>
                  </a:ext>
                </a:extLst>
              </p:cNvPr>
              <p:cNvSpPr/>
              <p:nvPr/>
            </p:nvSpPr>
            <p:spPr>
              <a:xfrm>
                <a:off x="4190963" y="3384900"/>
                <a:ext cx="2016224" cy="201622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3FCCBF-FC8B-C598-4757-E831AACCBA99}"/>
                  </a:ext>
                </a:extLst>
              </p:cNvPr>
              <p:cNvSpPr/>
              <p:nvPr/>
            </p:nvSpPr>
            <p:spPr>
              <a:xfrm>
                <a:off x="6262442" y="3002529"/>
                <a:ext cx="1971777" cy="201622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731940A-0ADB-618D-078F-D5A01E6AA68F}"/>
                  </a:ext>
                </a:extLst>
              </p:cNvPr>
              <p:cNvSpPr/>
              <p:nvPr/>
            </p:nvSpPr>
            <p:spPr>
              <a:xfrm>
                <a:off x="8306810" y="2647198"/>
                <a:ext cx="1971777" cy="201622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4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9270020-BFD5-D597-EA56-06391B14047A}"/>
                  </a:ext>
                </a:extLst>
              </p:cNvPr>
              <p:cNvSpPr/>
              <p:nvPr/>
            </p:nvSpPr>
            <p:spPr>
              <a:xfrm>
                <a:off x="1865788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7C4F8B-FAF1-700B-58FE-F71A6F5DE5E5}"/>
                  </a:ext>
                </a:extLst>
              </p:cNvPr>
              <p:cNvSpPr/>
              <p:nvPr/>
            </p:nvSpPr>
            <p:spPr>
              <a:xfrm>
                <a:off x="3971628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E50C339-307F-7A14-8742-6CF869DCEF8E}"/>
                  </a:ext>
                </a:extLst>
              </p:cNvPr>
              <p:cNvSpPr/>
              <p:nvPr/>
            </p:nvSpPr>
            <p:spPr>
              <a:xfrm>
                <a:off x="6027049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73142BF-BF6E-F78C-764E-21EACF1AC429}"/>
                  </a:ext>
                </a:extLst>
              </p:cNvPr>
              <p:cNvSpPr/>
              <p:nvPr/>
            </p:nvSpPr>
            <p:spPr>
              <a:xfrm>
                <a:off x="8132889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A8C1E16-5022-3240-312D-A978690BAEE1}"/>
                  </a:ext>
                </a:extLst>
              </p:cNvPr>
              <p:cNvSpPr/>
              <p:nvPr/>
            </p:nvSpPr>
            <p:spPr>
              <a:xfrm>
                <a:off x="1918875" y="2490681"/>
                <a:ext cx="138565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r" rtl="1"/>
                <a:endParaRPr lang="fa-IR" sz="1600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F42F09-C88B-E054-9526-16014B5B2630}"/>
                  </a:ext>
                </a:extLst>
              </p:cNvPr>
              <p:cNvSpPr/>
              <p:nvPr/>
            </p:nvSpPr>
            <p:spPr>
              <a:xfrm>
                <a:off x="4024715" y="2490681"/>
                <a:ext cx="1838043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What is FL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Why is FL Useful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Development Idea of FL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Definition of FL</a:t>
                </a:r>
                <a:endParaRPr lang="fa-IR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ECF2A1-8037-8714-03A8-421FEDB49F88}"/>
                  </a:ext>
                </a:extLst>
              </p:cNvPr>
              <p:cNvSpPr/>
              <p:nvPr/>
            </p:nvSpPr>
            <p:spPr>
              <a:xfrm>
                <a:off x="6024381" y="2460474"/>
                <a:ext cx="199791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Privacy Protection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Communication Cost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System Heterogeneity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Unreliable Model Upload</a:t>
                </a:r>
                <a:endParaRPr lang="fa-IR" sz="14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DE8FF71-FCDA-21FE-29F5-53A1A7E9EC6A}"/>
                  </a:ext>
                </a:extLst>
              </p:cNvPr>
              <p:cNvSpPr/>
              <p:nvPr/>
            </p:nvSpPr>
            <p:spPr>
              <a:xfrm>
                <a:off x="2272041" y="1996342"/>
                <a:ext cx="111537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rtl="1"/>
                <a:r>
                  <a:rPr lang="en-US" sz="1400" b="1" dirty="0">
                    <a:cs typeface="B Nazanin" panose="00000400000000000000" pitchFamily="2" charset="-78"/>
                  </a:rPr>
                  <a:t>Introduction</a:t>
                </a:r>
                <a:endParaRPr lang="fa-IR" sz="1400" b="1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8210C6-D234-70CF-82B8-EEDAAB6C5EB9}"/>
                  </a:ext>
                </a:extLst>
              </p:cNvPr>
              <p:cNvSpPr/>
              <p:nvPr/>
            </p:nvSpPr>
            <p:spPr>
              <a:xfrm>
                <a:off x="4101323" y="1893309"/>
                <a:ext cx="17427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/>
                  <a:t>Definition &amp; Development of FL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8268C1F-C4F4-96AA-C788-BBB0749422F0}"/>
                  </a:ext>
                </a:extLst>
              </p:cNvPr>
              <p:cNvSpPr/>
              <p:nvPr/>
            </p:nvSpPr>
            <p:spPr>
              <a:xfrm>
                <a:off x="6051230" y="1996342"/>
                <a:ext cx="194421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cs typeface="B Nazanin" panose="00000400000000000000" pitchFamily="2" charset="-78"/>
                  </a:rPr>
                  <a:t>Challenges</a:t>
                </a:r>
                <a:endParaRPr lang="fa-IR" sz="1400" b="1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01D35D2-1E37-4B8D-6183-2BFE1250A827}"/>
                  </a:ext>
                </a:extLst>
              </p:cNvPr>
              <p:cNvSpPr/>
              <p:nvPr/>
            </p:nvSpPr>
            <p:spPr>
              <a:xfrm>
                <a:off x="8788662" y="1996341"/>
                <a:ext cx="67518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 dirty="0">
                    <a:cs typeface="B Nazanin" panose="00000400000000000000" pitchFamily="2" charset="-78"/>
                  </a:rPr>
                  <a:t>Article</a:t>
                </a:r>
                <a:endParaRPr lang="fa-IR" sz="1400" b="1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F4FA3EC-6380-5E52-202E-BD5C4E7B29BC}"/>
                  </a:ext>
                </a:extLst>
              </p:cNvPr>
              <p:cNvSpPr/>
              <p:nvPr/>
            </p:nvSpPr>
            <p:spPr>
              <a:xfrm>
                <a:off x="2119138" y="3755124"/>
                <a:ext cx="2016224" cy="201622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A4AB81C-DEF6-4D05-1202-45D386C5F989}"/>
                  </a:ext>
                </a:extLst>
              </p:cNvPr>
              <p:cNvSpPr/>
              <p:nvPr/>
            </p:nvSpPr>
            <p:spPr>
              <a:xfrm>
                <a:off x="1918874" y="2504950"/>
                <a:ext cx="183804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Background of Machine Learning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Basic problem</a:t>
                </a:r>
                <a:endParaRPr lang="fa-IR" sz="1400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1820EFE-1AD7-489B-BFD7-FB2387D849D9}"/>
                  </a:ext>
                </a:extLst>
              </p:cNvPr>
              <p:cNvSpPr/>
              <p:nvPr/>
            </p:nvSpPr>
            <p:spPr>
              <a:xfrm>
                <a:off x="8177414" y="2499488"/>
                <a:ext cx="189969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i="0" dirty="0">
                    <a:solidFill>
                      <a:srgbClr val="000000"/>
                    </a:solidFill>
                    <a:effectLst/>
                  </a:rPr>
                  <a:t>Federated Averaging Algorithm</a:t>
                </a:r>
                <a:r>
                  <a:rPr lang="en-US" sz="1400" dirty="0"/>
                  <a:t> 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Simulation Results</a:t>
                </a:r>
                <a:endParaRPr lang="fa-IR" sz="14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  <a:p>
                <a:pPr algn="l"/>
                <a:endParaRPr lang="fa-IR" sz="14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C4FB52-97A0-4CEA-9769-414FF7434727}"/>
                </a:ext>
              </a:extLst>
            </p:cNvPr>
            <p:cNvSpPr/>
            <p:nvPr/>
          </p:nvSpPr>
          <p:spPr>
            <a:xfrm>
              <a:off x="9248945" y="2900695"/>
              <a:ext cx="1971777" cy="201622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scene3d>
              <a:camera prst="isometricOffAxis1Top">
                <a:rot lat="17389689" lon="18628493" rev="2880000"/>
              </a:camera>
              <a:lightRig rig="threePt" dir="t"/>
            </a:scene3d>
            <a:sp3d extrusionH="381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48352E-1E2D-4F4B-8ED4-D00DE4AD5A8A}"/>
                </a:ext>
              </a:extLst>
            </p:cNvPr>
            <p:cNvSpPr/>
            <p:nvPr/>
          </p:nvSpPr>
          <p:spPr>
            <a:xfrm>
              <a:off x="9030731" y="3085431"/>
              <a:ext cx="1944217" cy="561106"/>
            </a:xfrm>
            <a:prstGeom prst="rect">
              <a:avLst/>
            </a:prstGeom>
            <a:solidFill>
              <a:schemeClr val="bg1">
                <a:lumMod val="9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>
                <a:lnSpc>
                  <a:spcPts val="1800"/>
                </a:lnSpc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A96C58-A171-4429-B214-EB9CF9B421AC}"/>
                </a:ext>
              </a:extLst>
            </p:cNvPr>
            <p:cNvSpPr/>
            <p:nvPr/>
          </p:nvSpPr>
          <p:spPr>
            <a:xfrm>
              <a:off x="9030731" y="2573836"/>
              <a:ext cx="1944217" cy="4237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cap="all" dirty="0">
                <a:solidFill>
                  <a:schemeClr val="accent5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3CF6620-53D4-466C-B79B-1657914DDE07}"/>
                </a:ext>
              </a:extLst>
            </p:cNvPr>
            <p:cNvSpPr/>
            <p:nvPr/>
          </p:nvSpPr>
          <p:spPr>
            <a:xfrm>
              <a:off x="9144783" y="2524077"/>
              <a:ext cx="168953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cs typeface="B Nazanin" panose="00000400000000000000" pitchFamily="2" charset="-78"/>
                </a:rPr>
                <a:t>Future works &amp; Conclusion</a:t>
              </a:r>
              <a:endParaRPr lang="fa-IR" sz="1400" b="1" dirty="0">
                <a:cs typeface="B Nazanin" panose="00000400000000000000" pitchFamily="2" charset="-78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89F2DB6-6C85-40CD-8163-ECCD9CBEC167}"/>
              </a:ext>
            </a:extLst>
          </p:cNvPr>
          <p:cNvSpPr/>
          <p:nvPr/>
        </p:nvSpPr>
        <p:spPr>
          <a:xfrm>
            <a:off x="9147978" y="2795186"/>
            <a:ext cx="18996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Conclusion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400" dirty="0"/>
              <a:t>Future Directions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076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3112617" y="2875002"/>
            <a:ext cx="59667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cs typeface="B Nazanin" panose="00000400000000000000" pitchFamily="2" charset="-78"/>
              </a:rPr>
              <a:t>Introduction</a:t>
            </a:r>
            <a:endParaRPr lang="fa-IR" sz="6600" b="1" dirty="0">
              <a:solidFill>
                <a:schemeClr val="accent1">
                  <a:lumMod val="50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5631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4/29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328113" y="100856"/>
            <a:ext cx="1535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Introduction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53915"/>
            <a:ext cx="911099" cy="27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A207C1D-162E-4643-AA59-10D701F9D39F}"/>
              </a:ext>
            </a:extLst>
          </p:cNvPr>
          <p:cNvSpPr txBox="1"/>
          <p:nvPr/>
        </p:nvSpPr>
        <p:spPr>
          <a:xfrm>
            <a:off x="1361266" y="2804339"/>
            <a:ext cx="1992851" cy="1477328"/>
          </a:xfrm>
          <a:prstGeom prst="rect">
            <a:avLst/>
          </a:prstGeom>
          <a:noFill/>
          <a:ln w="4762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smartphones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cameras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vehicles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wireless devices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IoT devices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B5E582-D955-4D0D-BE70-F0D469AACE5A}"/>
              </a:ext>
            </a:extLst>
          </p:cNvPr>
          <p:cNvSpPr txBox="1"/>
          <p:nvPr/>
        </p:nvSpPr>
        <p:spPr>
          <a:xfrm>
            <a:off x="3228136" y="806032"/>
            <a:ext cx="5735727" cy="369332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Traditional machine learning generally follows this process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331C52-06A6-4785-893E-3CAB41E3E355}"/>
              </a:ext>
            </a:extLst>
          </p:cNvPr>
          <p:cNvSpPr txBox="1"/>
          <p:nvPr/>
        </p:nvSpPr>
        <p:spPr>
          <a:xfrm>
            <a:off x="2520649" y="1607316"/>
            <a:ext cx="71507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Devices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→     </a:t>
            </a:r>
            <a:r>
              <a:rPr lang="en-US" dirty="0"/>
              <a:t>Raw Data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→</a:t>
            </a:r>
            <a:r>
              <a:rPr lang="en-US" dirty="0"/>
              <a:t>    Central Server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→</a:t>
            </a:r>
            <a:r>
              <a:rPr lang="en-US" dirty="0"/>
              <a:t>    Model Training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A975B8-8296-4873-9BB3-CE72AE3670CE}"/>
              </a:ext>
            </a:extLst>
          </p:cNvPr>
          <p:cNvCxnSpPr>
            <a:cxnSpLocks/>
            <a:stCxn id="48" idx="0"/>
            <a:endCxn id="47" idx="2"/>
          </p:cNvCxnSpPr>
          <p:nvPr/>
        </p:nvCxnSpPr>
        <p:spPr>
          <a:xfrm flipV="1">
            <a:off x="6096000" y="1175364"/>
            <a:ext cx="0" cy="431952"/>
          </a:xfrm>
          <a:prstGeom prst="straightConnector1">
            <a:avLst/>
          </a:prstGeom>
          <a:ln w="38100" cap="flat" cmpd="sng" algn="ctr">
            <a:solidFill>
              <a:schemeClr val="accent5">
                <a:lumMod val="50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4EA94FDA-14AF-49EE-8872-6250EBF662B7}"/>
              </a:ext>
            </a:extLst>
          </p:cNvPr>
          <p:cNvSpPr/>
          <p:nvPr/>
        </p:nvSpPr>
        <p:spPr>
          <a:xfrm>
            <a:off x="2584967" y="1629913"/>
            <a:ext cx="769150" cy="354348"/>
          </a:xfrm>
          <a:prstGeom prst="flowChartAlternateProcess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361AFC-BCA7-464B-B03B-7E5BCF15FE51}"/>
              </a:ext>
            </a:extLst>
          </p:cNvPr>
          <p:cNvCxnSpPr>
            <a:cxnSpLocks/>
            <a:stCxn id="43" idx="0"/>
            <a:endCxn id="51" idx="2"/>
          </p:cNvCxnSpPr>
          <p:nvPr/>
        </p:nvCxnSpPr>
        <p:spPr>
          <a:xfrm flipV="1">
            <a:off x="2357692" y="1984261"/>
            <a:ext cx="611850" cy="820078"/>
          </a:xfrm>
          <a:prstGeom prst="straightConnector1">
            <a:avLst/>
          </a:prstGeom>
          <a:ln w="31750">
            <a:solidFill>
              <a:schemeClr val="accent5">
                <a:lumMod val="75000"/>
              </a:schemeClr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DB91AD04-0A87-463F-83DC-CBDFD7070291}"/>
              </a:ext>
            </a:extLst>
          </p:cNvPr>
          <p:cNvSpPr/>
          <p:nvPr/>
        </p:nvSpPr>
        <p:spPr>
          <a:xfrm>
            <a:off x="4001126" y="1600933"/>
            <a:ext cx="962026" cy="354348"/>
          </a:xfrm>
          <a:prstGeom prst="flowChartAlternateProcess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C1E162-80B1-4283-83D7-DBF62671EB9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4482139" y="1955281"/>
            <a:ext cx="4015285" cy="776151"/>
          </a:xfrm>
          <a:prstGeom prst="straightConnector1">
            <a:avLst/>
          </a:prstGeom>
          <a:ln w="31750">
            <a:solidFill>
              <a:schemeClr val="accent5">
                <a:lumMod val="40000"/>
                <a:lumOff val="60000"/>
              </a:schemeClr>
            </a:solidFill>
            <a:prstDash val="sys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45F1303-ABB2-4309-A290-749EA9106E31}"/>
              </a:ext>
            </a:extLst>
          </p:cNvPr>
          <p:cNvSpPr txBox="1"/>
          <p:nvPr/>
        </p:nvSpPr>
        <p:spPr>
          <a:xfrm>
            <a:off x="6863887" y="2804339"/>
            <a:ext cx="3267074" cy="1477328"/>
          </a:xfrm>
          <a:prstGeom prst="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text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images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location and sensing data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spectrum information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environmental measurements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C35668-2BBD-466E-AC67-4AC5B195CC07}"/>
              </a:ext>
            </a:extLst>
          </p:cNvPr>
          <p:cNvGrpSpPr/>
          <p:nvPr/>
        </p:nvGrpSpPr>
        <p:grpSpPr>
          <a:xfrm>
            <a:off x="2584967" y="4871183"/>
            <a:ext cx="6851482" cy="1403763"/>
            <a:chOff x="2584967" y="4871183"/>
            <a:chExt cx="6851482" cy="140376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20A9CA-ED55-4454-8736-B0E0D4ADD03D}"/>
                </a:ext>
              </a:extLst>
            </p:cNvPr>
            <p:cNvGrpSpPr/>
            <p:nvPr/>
          </p:nvGrpSpPr>
          <p:grpSpPr>
            <a:xfrm>
              <a:off x="2755550" y="4871183"/>
              <a:ext cx="6680899" cy="1403763"/>
              <a:chOff x="4983304" y="2587057"/>
              <a:chExt cx="6680899" cy="140376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9D89CF2-DD80-4B83-AFAC-8EE6D63E5D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2500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15338" t="21225" r="17500" b="56503"/>
              <a:stretch/>
            </p:blipFill>
            <p:spPr>
              <a:xfrm>
                <a:off x="4983304" y="2587057"/>
                <a:ext cx="6680899" cy="1246294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ED1492-64CF-4A06-9506-1BC6B0F48842}"/>
                  </a:ext>
                </a:extLst>
              </p:cNvPr>
              <p:cNvSpPr/>
              <p:nvPr/>
            </p:nvSpPr>
            <p:spPr>
              <a:xfrm>
                <a:off x="8164286" y="3657600"/>
                <a:ext cx="286424" cy="33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C24A10-9175-4128-9C23-A85589026AD6}"/>
                </a:ext>
              </a:extLst>
            </p:cNvPr>
            <p:cNvSpPr/>
            <p:nvPr/>
          </p:nvSpPr>
          <p:spPr>
            <a:xfrm>
              <a:off x="2584967" y="5691260"/>
              <a:ext cx="286424" cy="5836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</p:spTree>
    <p:extLst>
      <p:ext uri="{BB962C8B-B14F-4D97-AF65-F5344CB8AC3E}">
        <p14:creationId xmlns:p14="http://schemas.microsoft.com/office/powerpoint/2010/main" val="79720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5/29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99280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Introduction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53915"/>
            <a:ext cx="911099" cy="27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A207C1D-162E-4643-AA59-10D701F9D39F}"/>
              </a:ext>
            </a:extLst>
          </p:cNvPr>
          <p:cNvSpPr txBox="1"/>
          <p:nvPr/>
        </p:nvSpPr>
        <p:spPr>
          <a:xfrm>
            <a:off x="4970116" y="5278216"/>
            <a:ext cx="3684622" cy="646331"/>
          </a:xfrm>
          <a:prstGeom prst="rect">
            <a:avLst/>
          </a:prstGeom>
          <a:noFill/>
          <a:ln w="4762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Sending data to a distant cloud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processing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B5E582-D955-4D0D-BE70-F0D469AACE5A}"/>
              </a:ext>
            </a:extLst>
          </p:cNvPr>
          <p:cNvSpPr txBox="1"/>
          <p:nvPr/>
        </p:nvSpPr>
        <p:spPr>
          <a:xfrm>
            <a:off x="277781" y="3336762"/>
            <a:ext cx="1387538" cy="461665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Problems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A975B8-8296-4873-9BB3-CE72AE3670CE}"/>
              </a:ext>
            </a:extLst>
          </p:cNvPr>
          <p:cNvCxnSpPr>
            <a:cxnSpLocks/>
          </p:cNvCxnSpPr>
          <p:nvPr/>
        </p:nvCxnSpPr>
        <p:spPr>
          <a:xfrm flipH="1">
            <a:off x="1791711" y="1365547"/>
            <a:ext cx="1388143" cy="2137230"/>
          </a:xfrm>
          <a:prstGeom prst="straightConnector1">
            <a:avLst/>
          </a:prstGeom>
          <a:ln w="38100" cap="flat" cmpd="sng" algn="ctr">
            <a:solidFill>
              <a:schemeClr val="accent5">
                <a:lumMod val="40000"/>
                <a:lumOff val="60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C1E162-80B1-4283-83D7-DBF62671EB90}"/>
              </a:ext>
            </a:extLst>
          </p:cNvPr>
          <p:cNvCxnSpPr>
            <a:cxnSpLocks/>
          </p:cNvCxnSpPr>
          <p:nvPr/>
        </p:nvCxnSpPr>
        <p:spPr>
          <a:xfrm flipV="1">
            <a:off x="4138877" y="1365547"/>
            <a:ext cx="3244313" cy="4686"/>
          </a:xfrm>
          <a:prstGeom prst="straightConnector1">
            <a:avLst/>
          </a:prstGeom>
          <a:ln w="31750">
            <a:solidFill>
              <a:schemeClr val="accent5">
                <a:lumMod val="40000"/>
                <a:lumOff val="60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45F1303-ABB2-4309-A290-749EA9106E31}"/>
              </a:ext>
            </a:extLst>
          </p:cNvPr>
          <p:cNvSpPr txBox="1"/>
          <p:nvPr/>
        </p:nvSpPr>
        <p:spPr>
          <a:xfrm>
            <a:off x="7383190" y="920354"/>
            <a:ext cx="3267074" cy="1600438"/>
          </a:xfrm>
          <a:prstGeom prst="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raw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financial information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passwords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locations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browsing history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health information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3ACCB4-EB04-48FA-9D99-001A1305915E}"/>
              </a:ext>
            </a:extLst>
          </p:cNvPr>
          <p:cNvSpPr txBox="1"/>
          <p:nvPr/>
        </p:nvSpPr>
        <p:spPr>
          <a:xfrm>
            <a:off x="3221653" y="1185567"/>
            <a:ext cx="875425" cy="36933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Privacy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6819E6-0D0A-44BA-8DF1-86060A6860C1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1795500" y="3149615"/>
            <a:ext cx="1265522" cy="369464"/>
          </a:xfrm>
          <a:prstGeom prst="straightConnector1">
            <a:avLst/>
          </a:prstGeom>
          <a:ln w="38100" cap="flat" cmpd="sng" algn="ctr">
            <a:solidFill>
              <a:schemeClr val="tx2">
                <a:lumMod val="40000"/>
                <a:lumOff val="60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62ED18-D6E8-4F72-8697-B165D9F12A6D}"/>
              </a:ext>
            </a:extLst>
          </p:cNvPr>
          <p:cNvSpPr txBox="1"/>
          <p:nvPr/>
        </p:nvSpPr>
        <p:spPr>
          <a:xfrm>
            <a:off x="3061022" y="2964949"/>
            <a:ext cx="2128837" cy="36933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0800000" scaled="1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Communication cost</a:t>
            </a:r>
            <a:endParaRPr lang="fa-IR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248133-01B0-41D8-B141-E5BDB0235B9F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5189859" y="3149615"/>
            <a:ext cx="1114725" cy="0"/>
          </a:xfrm>
          <a:prstGeom prst="straightConnector1">
            <a:avLst/>
          </a:prstGeom>
          <a:ln w="31750" cap="flat" cmpd="sng" algn="ctr">
            <a:solidFill>
              <a:schemeClr val="tx2">
                <a:lumMod val="40000"/>
                <a:lumOff val="60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69FD803-9D9B-44B0-A582-D8130AB41422}"/>
              </a:ext>
            </a:extLst>
          </p:cNvPr>
          <p:cNvSpPr txBox="1"/>
          <p:nvPr/>
        </p:nvSpPr>
        <p:spPr>
          <a:xfrm>
            <a:off x="6174403" y="3870851"/>
            <a:ext cx="116549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fa-IR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4227225B-3F04-47A7-B71D-4C63B43C3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584" y="2779913"/>
            <a:ext cx="2213939" cy="1200329"/>
          </a:xfrm>
          <a:prstGeom prst="rect">
            <a:avLst/>
          </a:prstGeom>
          <a:noFill/>
          <a:ln w="38100">
            <a:solidFill>
              <a:schemeClr val="tx2">
                <a:lumMod val="40000"/>
                <a:lumOff val="60000"/>
              </a:schemeClr>
            </a:solidFill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bandwidth</a:t>
            </a:r>
          </a:p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</a:t>
            </a:r>
          </a:p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storage</a:t>
            </a:r>
          </a:p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resources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C09DF5F-78E6-43EE-B7C9-AD32A001FAA7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1791711" y="3537571"/>
            <a:ext cx="1240948" cy="967158"/>
          </a:xfrm>
          <a:prstGeom prst="straightConnector1">
            <a:avLst/>
          </a:prstGeom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C4BFADC-2204-49E2-AEC6-2F0040A3C6FC}"/>
              </a:ext>
            </a:extLst>
          </p:cNvPr>
          <p:cNvSpPr txBox="1"/>
          <p:nvPr/>
        </p:nvSpPr>
        <p:spPr>
          <a:xfrm>
            <a:off x="3032659" y="4320063"/>
            <a:ext cx="1179893" cy="36933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Scalability</a:t>
            </a:r>
            <a:endParaRPr lang="fa-IR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89D5A5-5F9B-4D95-8EA8-99F88C4F1A03}"/>
              </a:ext>
            </a:extLst>
          </p:cNvPr>
          <p:cNvSpPr txBox="1"/>
          <p:nvPr/>
        </p:nvSpPr>
        <p:spPr>
          <a:xfrm>
            <a:off x="6673682" y="4337044"/>
            <a:ext cx="5223753" cy="36933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networks may contain millions or billions of devices</a:t>
            </a:r>
            <a:endParaRPr lang="fa-IR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8C8E13-638E-49A6-9347-A40947EBA4C4}"/>
              </a:ext>
            </a:extLst>
          </p:cNvPr>
          <p:cNvCxnSpPr>
            <a:cxnSpLocks/>
            <a:stCxn id="39" idx="1"/>
            <a:endCxn id="35" idx="3"/>
          </p:cNvCxnSpPr>
          <p:nvPr/>
        </p:nvCxnSpPr>
        <p:spPr>
          <a:xfrm flipH="1" flipV="1">
            <a:off x="4212552" y="4504729"/>
            <a:ext cx="2461130" cy="16981"/>
          </a:xfrm>
          <a:prstGeom prst="straightConnector1">
            <a:avLst/>
          </a:prstGeom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8913CB-672C-4101-8EE4-29D7AF3D080C}"/>
              </a:ext>
            </a:extLst>
          </p:cNvPr>
          <p:cNvCxnSpPr>
            <a:cxnSpLocks/>
          </p:cNvCxnSpPr>
          <p:nvPr/>
        </p:nvCxnSpPr>
        <p:spPr>
          <a:xfrm flipH="1" flipV="1">
            <a:off x="1791711" y="3583229"/>
            <a:ext cx="1206279" cy="2018152"/>
          </a:xfrm>
          <a:prstGeom prst="straightConnector1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C1AA2E3-3EB4-44F4-964D-FBCC74DD3A2F}"/>
              </a:ext>
            </a:extLst>
          </p:cNvPr>
          <p:cNvSpPr txBox="1"/>
          <p:nvPr/>
        </p:nvSpPr>
        <p:spPr>
          <a:xfrm>
            <a:off x="3028870" y="5417471"/>
            <a:ext cx="992221" cy="369332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Latency</a:t>
            </a:r>
            <a:endParaRPr lang="fa-IR" b="1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4613A9-D474-4787-AFEB-DDF38164D120}"/>
              </a:ext>
            </a:extLst>
          </p:cNvPr>
          <p:cNvCxnSpPr>
            <a:cxnSpLocks/>
            <a:stCxn id="43" idx="1"/>
            <a:endCxn id="49" idx="3"/>
          </p:cNvCxnSpPr>
          <p:nvPr/>
        </p:nvCxnSpPr>
        <p:spPr>
          <a:xfrm flipH="1">
            <a:off x="4021091" y="5601382"/>
            <a:ext cx="949025" cy="755"/>
          </a:xfrm>
          <a:prstGeom prst="straightConnector1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62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1043942" y="2367171"/>
            <a:ext cx="101041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5">
                    <a:lumMod val="75000"/>
                  </a:schemeClr>
                </a:solidFill>
              </a:rPr>
              <a:t>Definition and Development</a:t>
            </a:r>
          </a:p>
          <a:p>
            <a:pPr algn="ctr"/>
            <a:r>
              <a:rPr lang="en-US" sz="6600" b="1" dirty="0">
                <a:solidFill>
                  <a:schemeClr val="accent5">
                    <a:lumMod val="75000"/>
                  </a:schemeClr>
                </a:solidFill>
              </a:rPr>
              <a:t>of Federated Learning</a:t>
            </a:r>
          </a:p>
        </p:txBody>
      </p:sp>
    </p:spTree>
    <p:extLst>
      <p:ext uri="{BB962C8B-B14F-4D97-AF65-F5344CB8AC3E}">
        <p14:creationId xmlns:p14="http://schemas.microsoft.com/office/powerpoint/2010/main" val="361245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7/29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92063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Federated Learning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33D116C-E706-4364-9EAB-CD6CBEA6C7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27676" t="28678" r="26835" b="17358"/>
          <a:stretch/>
        </p:blipFill>
        <p:spPr>
          <a:xfrm>
            <a:off x="6096000" y="1929891"/>
            <a:ext cx="5717210" cy="381504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F89596-3031-4C3C-A726-06C8AA41E905}"/>
              </a:ext>
            </a:extLst>
          </p:cNvPr>
          <p:cNvSpPr txBox="1"/>
          <p:nvPr/>
        </p:nvSpPr>
        <p:spPr>
          <a:xfrm>
            <a:off x="542563" y="1307673"/>
            <a:ext cx="5008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Is Federated Learning?</a:t>
            </a:r>
            <a:endParaRPr lang="fa-IR" sz="2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7029A9-8C58-4BD0-AB1C-A74379BD110B}"/>
              </a:ext>
            </a:extLst>
          </p:cNvPr>
          <p:cNvSpPr txBox="1"/>
          <p:nvPr/>
        </p:nvSpPr>
        <p:spPr>
          <a:xfrm>
            <a:off x="542563" y="2394104"/>
            <a:ext cx="55534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Local computing</a:t>
            </a:r>
          </a:p>
          <a:p>
            <a:r>
              <a:rPr lang="en-US" dirty="0"/>
              <a:t>      The data stays on the local device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Model transmission</a:t>
            </a:r>
          </a:p>
          <a:p>
            <a:r>
              <a:rPr lang="en-US" dirty="0"/>
              <a:t>       Instead of sending raw data, clients exchange </a:t>
            </a:r>
          </a:p>
          <a:p>
            <a:r>
              <a:rPr lang="en-US" dirty="0"/>
              <a:t>       model-related information</a:t>
            </a:r>
          </a:p>
        </p:txBody>
      </p:sp>
    </p:spTree>
    <p:extLst>
      <p:ext uri="{BB962C8B-B14F-4D97-AF65-F5344CB8AC3E}">
        <p14:creationId xmlns:p14="http://schemas.microsoft.com/office/powerpoint/2010/main" val="393060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8/29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Federated Learning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0871D51-212F-4D37-BCB2-96CA0688B632}"/>
              </a:ext>
            </a:extLst>
          </p:cNvPr>
          <p:cNvGrpSpPr/>
          <p:nvPr/>
        </p:nvGrpSpPr>
        <p:grpSpPr>
          <a:xfrm>
            <a:off x="1024675" y="984209"/>
            <a:ext cx="9668237" cy="4645153"/>
            <a:chOff x="1261881" y="1012784"/>
            <a:chExt cx="9668237" cy="46451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D2EF76-6F9F-4919-8AB1-FE0975EEAEE1}"/>
                </a:ext>
              </a:extLst>
            </p:cNvPr>
            <p:cNvSpPr txBox="1"/>
            <p:nvPr/>
          </p:nvSpPr>
          <p:spPr>
            <a:xfrm>
              <a:off x="3794060" y="1012784"/>
              <a:ext cx="53277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Why is Federated Learning Useful?</a:t>
              </a:r>
              <a:endParaRPr lang="fa-IR" sz="2000" b="1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C59CDFA-D7EB-45FC-9144-B565A8AB0C65}"/>
                </a:ext>
              </a:extLst>
            </p:cNvPr>
            <p:cNvGrpSpPr/>
            <p:nvPr/>
          </p:nvGrpSpPr>
          <p:grpSpPr>
            <a:xfrm>
              <a:off x="1261881" y="2265124"/>
              <a:ext cx="9668237" cy="461665"/>
              <a:chOff x="542563" y="1713053"/>
              <a:chExt cx="9668237" cy="461665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CC1A2C-1A04-4882-A5C4-8E4C1E342AFF}"/>
                  </a:ext>
                </a:extLst>
              </p:cNvPr>
              <p:cNvSpPr txBox="1"/>
              <p:nvPr/>
            </p:nvSpPr>
            <p:spPr>
              <a:xfrm>
                <a:off x="542563" y="1774608"/>
                <a:ext cx="3653747" cy="4001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2000" dirty="0"/>
                  <a:t>Centralized Machine Learning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9D6E27-0496-497B-A8D3-7F1EB54016CD}"/>
                  </a:ext>
                </a:extLst>
              </p:cNvPr>
              <p:cNvSpPr txBox="1"/>
              <p:nvPr/>
            </p:nvSpPr>
            <p:spPr>
              <a:xfrm>
                <a:off x="4972051" y="1713053"/>
                <a:ext cx="5238749" cy="461665"/>
              </a:xfrm>
              <a:prstGeom prst="rect">
                <a:avLst/>
              </a:prstGeom>
              <a:noFill/>
              <a:ln w="50800">
                <a:solidFill>
                  <a:schemeClr val="accent5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Raw Data   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→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Central Server   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→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Training</a:t>
                </a:r>
              </a:p>
            </p:txBody>
          </p:sp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B42AF01-7534-4DE0-A8FF-70F9FF2FF6AE}"/>
                  </a:ext>
                </a:extLst>
              </p:cNvPr>
              <p:cNvSpPr/>
              <p:nvPr/>
            </p:nvSpPr>
            <p:spPr>
              <a:xfrm>
                <a:off x="4082010" y="1860960"/>
                <a:ext cx="642389" cy="227405"/>
              </a:xfrm>
              <a:prstGeom prst="rightArrow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1B006B1-499C-4D21-8293-81688A01A747}"/>
                </a:ext>
              </a:extLst>
            </p:cNvPr>
            <p:cNvGrpSpPr/>
            <p:nvPr/>
          </p:nvGrpSpPr>
          <p:grpSpPr>
            <a:xfrm>
              <a:off x="1661931" y="3424604"/>
              <a:ext cx="8868137" cy="769441"/>
              <a:chOff x="542563" y="2524630"/>
              <a:chExt cx="8868137" cy="76944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6AB968-D809-4E54-A031-D4218B4E0E48}"/>
                  </a:ext>
                </a:extLst>
              </p:cNvPr>
              <p:cNvSpPr txBox="1"/>
              <p:nvPr/>
            </p:nvSpPr>
            <p:spPr>
              <a:xfrm>
                <a:off x="542563" y="2709296"/>
                <a:ext cx="25720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dirty="0">
                    <a:solidFill>
                      <a:prstClr val="black"/>
                    </a:solidFill>
                  </a:rPr>
                  <a:t>F</a:t>
                </a: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ederated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lang="en-US" sz="2000" dirty="0">
                    <a:solidFill>
                      <a:prstClr val="black"/>
                    </a:solidFill>
                  </a:rPr>
                  <a:t>L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earning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7B987D-24E7-4073-9390-A15B9DEDB1DA}"/>
                  </a:ext>
                </a:extLst>
              </p:cNvPr>
              <p:cNvSpPr txBox="1"/>
              <p:nvPr/>
            </p:nvSpPr>
            <p:spPr>
              <a:xfrm>
                <a:off x="6005513" y="2524630"/>
                <a:ext cx="3405187" cy="769441"/>
              </a:xfrm>
              <a:prstGeom prst="rect">
                <a:avLst/>
              </a:prstGeom>
              <a:noFill/>
              <a:ln w="50800"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Data stays locally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Model updates   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↔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Server</a:t>
                </a: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020AD6B9-0826-4DD3-9F2D-2FCE7F7C0567}"/>
                  </a:ext>
                </a:extLst>
              </p:cNvPr>
              <p:cNvSpPr/>
              <p:nvPr/>
            </p:nvSpPr>
            <p:spPr>
              <a:xfrm>
                <a:off x="3150637" y="2803947"/>
                <a:ext cx="2505134" cy="227405"/>
              </a:xfrm>
              <a:prstGeom prst="rightArrow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142BA9-639E-4940-A2C5-FA13173C1EAB}"/>
                </a:ext>
              </a:extLst>
            </p:cNvPr>
            <p:cNvGrpSpPr/>
            <p:nvPr/>
          </p:nvGrpSpPr>
          <p:grpSpPr>
            <a:xfrm>
              <a:off x="2369436" y="4950051"/>
              <a:ext cx="7744190" cy="707886"/>
              <a:chOff x="1954732" y="4482016"/>
              <a:chExt cx="7744190" cy="70788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08923E-EC14-4D5B-A112-BE1E521ABFF2}"/>
                  </a:ext>
                </a:extLst>
              </p:cNvPr>
              <p:cNvSpPr txBox="1"/>
              <p:nvPr/>
            </p:nvSpPr>
            <p:spPr>
              <a:xfrm>
                <a:off x="2774065" y="4482016"/>
                <a:ext cx="610552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/>
                  <a:t>Directly sending their privacy-sensitive data to a central server</a:t>
                </a:r>
              </a:p>
            </p:txBody>
          </p:sp>
          <p:sp>
            <p:nvSpPr>
              <p:cNvPr id="22" name="&quot;Not Allowed&quot; Symbol 21">
                <a:extLst>
                  <a:ext uri="{FF2B5EF4-FFF2-40B4-BE49-F238E27FC236}">
                    <a16:creationId xmlns:a16="http://schemas.microsoft.com/office/drawing/2014/main" id="{DCE4998C-002D-4702-B35D-21004C9E3E51}"/>
                  </a:ext>
                </a:extLst>
              </p:cNvPr>
              <p:cNvSpPr/>
              <p:nvPr/>
            </p:nvSpPr>
            <p:spPr>
              <a:xfrm>
                <a:off x="1954732" y="4482016"/>
                <a:ext cx="561975" cy="484352"/>
              </a:xfrm>
              <a:prstGeom prst="noSmoking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&quot;Not Allowed&quot; Symbol 25">
                <a:extLst>
                  <a:ext uri="{FF2B5EF4-FFF2-40B4-BE49-F238E27FC236}">
                    <a16:creationId xmlns:a16="http://schemas.microsoft.com/office/drawing/2014/main" id="{8A6A5E0F-60B1-42FA-AFEE-3456C7D07B1E}"/>
                  </a:ext>
                </a:extLst>
              </p:cNvPr>
              <p:cNvSpPr/>
              <p:nvPr/>
            </p:nvSpPr>
            <p:spPr>
              <a:xfrm>
                <a:off x="9136947" y="4482016"/>
                <a:ext cx="561975" cy="484352"/>
              </a:xfrm>
              <a:prstGeom prst="noSmoking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641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9/29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Federated Learning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D2EF76-6F9F-4919-8AB1-FE0975EEAEE1}"/>
              </a:ext>
            </a:extLst>
          </p:cNvPr>
          <p:cNvSpPr txBox="1"/>
          <p:nvPr/>
        </p:nvSpPr>
        <p:spPr>
          <a:xfrm>
            <a:off x="2882768" y="592834"/>
            <a:ext cx="6426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Development Idea of Federated Learning</a:t>
            </a:r>
            <a:endParaRPr lang="fa-I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D7D7A1-1409-4F1B-8A6E-353CD5177332}"/>
              </a:ext>
            </a:extLst>
          </p:cNvPr>
          <p:cNvSpPr txBox="1"/>
          <p:nvPr/>
        </p:nvSpPr>
        <p:spPr>
          <a:xfrm>
            <a:off x="956387" y="1054993"/>
            <a:ext cx="1100312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Several companies want to collaboratively train a model</a:t>
            </a:r>
          </a:p>
          <a:p>
            <a:endParaRPr lang="en-US" sz="1000" dirty="0"/>
          </a:p>
          <a:p>
            <a:r>
              <a:rPr lang="en-US" dirty="0"/>
              <a:t>Each company has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limited data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incomplete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privacy restrictions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If each company trains independently</a:t>
            </a:r>
          </a:p>
          <a:p>
            <a:pPr algn="ctr"/>
            <a:r>
              <a:rPr lang="en-US" b="1" dirty="0"/>
              <a:t>Model Quality </a:t>
            </a:r>
            <a:r>
              <a:rPr lang="en-US" sz="2400" b="1" dirty="0">
                <a:solidFill>
                  <a:schemeClr val="accent1"/>
                </a:solidFill>
              </a:rPr>
              <a:t>↓</a:t>
            </a:r>
            <a:endParaRPr lang="en-US" b="1" dirty="0">
              <a:solidFill>
                <a:schemeClr val="accent1"/>
              </a:solidFill>
            </a:endParaRPr>
          </a:p>
          <a:p>
            <a:pPr algn="ctr"/>
            <a:endParaRPr lang="en-US" sz="1400" b="1" dirty="0"/>
          </a:p>
          <a:p>
            <a:r>
              <a:rPr lang="en-US" sz="2000" b="1" dirty="0"/>
              <a:t>      Why</a:t>
            </a:r>
            <a:r>
              <a:rPr lang="en-US" dirty="0"/>
              <a:t>                               Each organization </a:t>
            </a:r>
            <a:r>
              <a:rPr lang="en-US" b="1" dirty="0"/>
              <a:t>only</a:t>
            </a:r>
            <a:r>
              <a:rPr lang="en-US" dirty="0"/>
              <a:t> sees part of the available information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If they directly combine all data</a:t>
            </a:r>
          </a:p>
          <a:p>
            <a:pPr algn="ctr"/>
            <a:r>
              <a:rPr lang="en-US" b="1" dirty="0"/>
              <a:t>Privacy Risk </a:t>
            </a:r>
            <a:r>
              <a:rPr lang="en-US" sz="2400" b="1" dirty="0">
                <a:solidFill>
                  <a:schemeClr val="accent1"/>
                </a:solidFill>
              </a:rPr>
              <a:t>↑</a:t>
            </a:r>
            <a:endParaRPr lang="en-US" b="1" dirty="0">
              <a:solidFill>
                <a:schemeClr val="accent1"/>
              </a:solidFill>
            </a:endParaRPr>
          </a:p>
          <a:p>
            <a:pPr algn="ctr"/>
            <a:endParaRPr lang="en-US" sz="1400" b="1" dirty="0"/>
          </a:p>
          <a:p>
            <a:r>
              <a:rPr lang="en-US" dirty="0"/>
              <a:t>Federated learning tries to solve both problems</a:t>
            </a:r>
          </a:p>
          <a:p>
            <a:endParaRPr lang="en-US" sz="1200" dirty="0"/>
          </a:p>
          <a:p>
            <a:pPr algn="ctr"/>
            <a:r>
              <a:rPr lang="en-US" b="1" dirty="0"/>
              <a:t>Collaboration </a:t>
            </a:r>
            <a:r>
              <a:rPr lang="en-US" sz="2400" b="1" dirty="0">
                <a:solidFill>
                  <a:schemeClr val="accent1"/>
                </a:solidFill>
              </a:rPr>
              <a:t>+</a:t>
            </a:r>
            <a:r>
              <a:rPr lang="en-US" b="1" dirty="0"/>
              <a:t> Data Privacy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7F704DC-6663-4BB2-A8BE-09D81D428739}"/>
              </a:ext>
            </a:extLst>
          </p:cNvPr>
          <p:cNvSpPr/>
          <p:nvPr/>
        </p:nvSpPr>
        <p:spPr>
          <a:xfrm>
            <a:off x="2205437" y="3831545"/>
            <a:ext cx="895739" cy="16856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fa-IR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53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10/29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Federated Learning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466C2D-FAC0-4DAB-8AAB-2A72AB16E87E}"/>
              </a:ext>
            </a:extLst>
          </p:cNvPr>
          <p:cNvSpPr txBox="1"/>
          <p:nvPr/>
        </p:nvSpPr>
        <p:spPr>
          <a:xfrm>
            <a:off x="1579012" y="583054"/>
            <a:ext cx="9033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Definition of Federated Learning and Federated Averaging</a:t>
            </a:r>
            <a:endParaRPr lang="fa-IR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345D9-9678-413A-856D-71ACCB5BC0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233" t="31489" r="18217" b="17862"/>
          <a:stretch/>
        </p:blipFill>
        <p:spPr>
          <a:xfrm>
            <a:off x="5847040" y="1519151"/>
            <a:ext cx="6106963" cy="38196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8C1C19-36FB-42BC-8E5E-7859129463C6}"/>
                  </a:ext>
                </a:extLst>
              </p:cNvPr>
              <p:cNvSpPr txBox="1"/>
              <p:nvPr/>
            </p:nvSpPr>
            <p:spPr>
              <a:xfrm>
                <a:off x="361951" y="1064183"/>
                <a:ext cx="6785298" cy="547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Each client performs local training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US" dirty="0"/>
                  <a:t>The clients then send their updated models to the server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,…,  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US" dirty="0"/>
                  <a:t>The server aggregates them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1400" dirty="0"/>
              </a:p>
              <a:p>
                <a:pPr marL="342900" indent="-342900">
                  <a:buFont typeface="+mj-lt"/>
                  <a:buAutoNum type="arabicPeriod" startAt="4"/>
                </a:pPr>
                <a:r>
                  <a:rPr lang="en-US" dirty="0"/>
                  <a:t>The resulting global model is distributed again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8C1C19-36FB-42BC-8E5E-785912946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1" y="1064183"/>
                <a:ext cx="6785298" cy="5474960"/>
              </a:xfrm>
              <a:prstGeom prst="rect">
                <a:avLst/>
              </a:prstGeom>
              <a:blipFill>
                <a:blip r:embed="rId4"/>
                <a:stretch>
                  <a:fillRect l="-719" t="-668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104A6D01-56FD-46AD-842F-710E5459C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5128" y="4560536"/>
                <a:ext cx="5938943" cy="13867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r>
                      <a:rPr lang="en-US" altLang="fa-IR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fa-IR" altLang="fa-I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fa-IR" altLang="fa-I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number of participating clients,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fa-IR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0" lang="fa-IR" altLang="fa-IR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fa-IR" altLang="fa-I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 number of training samples at client </a:t>
                </a:r>
                <a14:m>
                  <m:oMath xmlns:m="http://schemas.openxmlformats.org/officeDocument/2006/math">
                    <m:r>
                      <a:rPr lang="fa-IR" altLang="fa-IR" sz="1600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0" lang="fa-IR" altLang="fa-I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r>
                      <a:rPr lang="en-US" altLang="fa-IR" sz="16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0" lang="fa-IR" altLang="fa-I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kumimoji="0" lang="fa-IR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0" lang="en-US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0" lang="fa-IR" altLang="fa-IR" sz="16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fa-IR" sz="16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altLang="fa-IR" sz="16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0" lang="fa-IR" altLang="fa-I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total number of samples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fa-IR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fa-IR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0" lang="en-US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fa-IR" altLang="fa-IR" sz="16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lang="en-US" altLang="fa-IR" sz="1600" dirty="0"/>
                  <a:t>Local Model</a:t>
                </a:r>
                <a:endParaRPr kumimoji="0" lang="fa-IR" altLang="fa-I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fa-IR" altLang="fa-IR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fa-IR" altLang="fa-IR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kumimoji="0" lang="fa-IR" altLang="fa-IR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fa-IR" altLang="fa-I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 global mod</a:t>
                </a:r>
                <a:r>
                  <a:rPr kumimoji="0" lang="fa-IR" altLang="fa-IR" sz="16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endParaRPr kumimoji="0" lang="fa-IR" altLang="fa-I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104A6D01-56FD-46AD-842F-710E5459C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128" y="4560536"/>
                <a:ext cx="5938943" cy="1386726"/>
              </a:xfrm>
              <a:prstGeom prst="rect">
                <a:avLst/>
              </a:prstGeom>
              <a:blipFill>
                <a:blip r:embed="rId5"/>
                <a:stretch>
                  <a:fillRect l="-616" b="-3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70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3112617" y="2875002"/>
            <a:ext cx="59667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cs typeface="B Nazanin" panose="00000400000000000000" pitchFamily="2" charset="-78"/>
              </a:rPr>
              <a:t>Challenges</a:t>
            </a:r>
            <a:endParaRPr lang="fa-IR" sz="6600" b="1" dirty="0">
              <a:solidFill>
                <a:schemeClr val="accent2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8397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12/29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127923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Challenges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EEEB9F-060E-4864-985F-1097096ED2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29" t="35185" r="14867" b="20253"/>
          <a:stretch/>
        </p:blipFill>
        <p:spPr>
          <a:xfrm>
            <a:off x="5808771" y="3628417"/>
            <a:ext cx="6254885" cy="2742515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3FFC5A3A-EF9B-4848-83EF-05C2568CB248}"/>
              </a:ext>
            </a:extLst>
          </p:cNvPr>
          <p:cNvGrpSpPr/>
          <p:nvPr/>
        </p:nvGrpSpPr>
        <p:grpSpPr>
          <a:xfrm>
            <a:off x="338282" y="733180"/>
            <a:ext cx="8482013" cy="4444025"/>
            <a:chOff x="461962" y="872609"/>
            <a:chExt cx="8482013" cy="444402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7775081-932E-4C92-B800-5FABDDEA098B}"/>
                </a:ext>
              </a:extLst>
            </p:cNvPr>
            <p:cNvGrpSpPr/>
            <p:nvPr/>
          </p:nvGrpSpPr>
          <p:grpSpPr>
            <a:xfrm>
              <a:off x="461962" y="872609"/>
              <a:ext cx="8482013" cy="3137216"/>
              <a:chOff x="461962" y="872609"/>
              <a:chExt cx="8482013" cy="3137216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BB8562-AF28-4E58-88E1-55F27583AA96}"/>
                  </a:ext>
                </a:extLst>
              </p:cNvPr>
              <p:cNvSpPr txBox="1"/>
              <p:nvPr/>
            </p:nvSpPr>
            <p:spPr>
              <a:xfrm>
                <a:off x="461963" y="872609"/>
                <a:ext cx="8482010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000" b="1" dirty="0"/>
                  <a:t>Privacy Protection</a:t>
                </a:r>
              </a:p>
              <a:p>
                <a:endParaRPr lang="en-US" sz="800" dirty="0"/>
              </a:p>
              <a:p>
                <a:pPr algn="ctr"/>
                <a:r>
                  <a:rPr lang="en-US" dirty="0"/>
                  <a:t>Privacy    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↔</a:t>
                </a:r>
                <a:r>
                  <a:rPr lang="en-US" sz="2000" b="1" dirty="0">
                    <a:solidFill>
                      <a:schemeClr val="accent2"/>
                    </a:solidFill>
                  </a:rPr>
                  <a:t>    </a:t>
                </a:r>
                <a:r>
                  <a:rPr lang="en-US" dirty="0"/>
                  <a:t>Computational Cost  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2CB03C2-0568-42C9-9D02-DE8EC8690FE5}"/>
                  </a:ext>
                </a:extLst>
              </p:cNvPr>
              <p:cNvGrpSpPr/>
              <p:nvPr/>
            </p:nvGrpSpPr>
            <p:grpSpPr>
              <a:xfrm>
                <a:off x="461963" y="1995130"/>
                <a:ext cx="8482012" cy="892552"/>
                <a:chOff x="3052763" y="3291959"/>
                <a:chExt cx="8482012" cy="89255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6F7822F-EC0A-4C49-BCCB-AD34F5BC1E42}"/>
                    </a:ext>
                  </a:extLst>
                </p:cNvPr>
                <p:cNvSpPr txBox="1"/>
                <p:nvPr/>
              </p:nvSpPr>
              <p:spPr>
                <a:xfrm>
                  <a:off x="3052763" y="3291959"/>
                  <a:ext cx="8482012" cy="892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q"/>
                  </a:pPr>
                  <a:r>
                    <a:rPr lang="en-US" sz="2000" b="1" dirty="0"/>
                    <a:t>Communication Cost</a:t>
                  </a:r>
                </a:p>
                <a:p>
                  <a:endParaRPr lang="en-US" sz="800" dirty="0"/>
                </a:p>
                <a:p>
                  <a:pPr algn="ctr"/>
                  <a:r>
                    <a:rPr lang="en-US" dirty="0"/>
                    <a:t>Communication with Millions of Devices</a:t>
                  </a:r>
                  <a:r>
                    <a:rPr lang="en-US" b="1" dirty="0"/>
                    <a:t>    </a:t>
                  </a:r>
                  <a:r>
                    <a:rPr lang="en-US" sz="2400" b="1" dirty="0">
                      <a:solidFill>
                        <a:schemeClr val="accent2"/>
                      </a:solidFill>
                    </a:rPr>
                    <a:t>↔</a:t>
                  </a:r>
                  <a:r>
                    <a:rPr lang="en-US" dirty="0">
                      <a:solidFill>
                        <a:schemeClr val="accent2"/>
                      </a:solidFill>
                    </a:rPr>
                    <a:t>    </a:t>
                  </a:r>
                  <a:r>
                    <a:rPr lang="en-US" dirty="0"/>
                    <a:t>Communication Efficiency</a:t>
                  </a:r>
                  <a:endParaRPr lang="fa-IR" dirty="0"/>
                </a:p>
              </p:txBody>
            </p:sp>
            <p:sp>
              <p:nvSpPr>
                <p:cNvPr id="51" name="Arrow: Up 50">
                  <a:extLst>
                    <a:ext uri="{FF2B5EF4-FFF2-40B4-BE49-F238E27FC236}">
                      <a16:creationId xmlns:a16="http://schemas.microsoft.com/office/drawing/2014/main" id="{496AA4BA-3CCA-43D4-B229-3EFBDBCEFBA7}"/>
                    </a:ext>
                  </a:extLst>
                </p:cNvPr>
                <p:cNvSpPr/>
                <p:nvPr/>
              </p:nvSpPr>
              <p:spPr>
                <a:xfrm>
                  <a:off x="3519488" y="3787702"/>
                  <a:ext cx="180975" cy="276225"/>
                </a:xfrm>
                <a:prstGeom prst="upArrow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fa-IR"/>
                </a:p>
              </p:txBody>
            </p:sp>
            <p:sp>
              <p:nvSpPr>
                <p:cNvPr id="54" name="Arrow: Up 53">
                  <a:extLst>
                    <a:ext uri="{FF2B5EF4-FFF2-40B4-BE49-F238E27FC236}">
                      <a16:creationId xmlns:a16="http://schemas.microsoft.com/office/drawing/2014/main" id="{D031464B-547F-4626-9D18-61D550EB92F9}"/>
                    </a:ext>
                  </a:extLst>
                </p:cNvPr>
                <p:cNvSpPr/>
                <p:nvPr/>
              </p:nvSpPr>
              <p:spPr>
                <a:xfrm>
                  <a:off x="10882312" y="3787701"/>
                  <a:ext cx="180975" cy="276225"/>
                </a:xfrm>
                <a:prstGeom prst="upArrow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fa-IR"/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5981304-F730-4E1A-A1E3-CA10BED5330D}"/>
                  </a:ext>
                </a:extLst>
              </p:cNvPr>
              <p:cNvSpPr txBox="1"/>
              <p:nvPr/>
            </p:nvSpPr>
            <p:spPr>
              <a:xfrm>
                <a:off x="461962" y="3117273"/>
                <a:ext cx="8482011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000" b="1" dirty="0"/>
                  <a:t>System Heterogeneity</a:t>
                </a:r>
              </a:p>
              <a:p>
                <a:endParaRPr lang="en-US" sz="800" b="1" dirty="0"/>
              </a:p>
              <a:p>
                <a:pPr algn="ctr"/>
                <a:r>
                  <a:rPr lang="en-US" dirty="0"/>
                  <a:t>Different Hardware 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+ </a:t>
                </a:r>
                <a:r>
                  <a:rPr lang="en-US" dirty="0"/>
                  <a:t>Different Connections 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+ </a:t>
                </a:r>
                <a:r>
                  <a:rPr lang="en-US" dirty="0"/>
                  <a:t>Offline Devices</a:t>
                </a:r>
                <a:endParaRPr lang="fa-IR" dirty="0"/>
              </a:p>
            </p:txBody>
          </p:sp>
          <p:sp>
            <p:nvSpPr>
              <p:cNvPr id="57" name="Arrow: Up 56">
                <a:extLst>
                  <a:ext uri="{FF2B5EF4-FFF2-40B4-BE49-F238E27FC236}">
                    <a16:creationId xmlns:a16="http://schemas.microsoft.com/office/drawing/2014/main" id="{246129BF-F449-4FF9-BA2E-E009A51FCB25}"/>
                  </a:ext>
                </a:extLst>
              </p:cNvPr>
              <p:cNvSpPr/>
              <p:nvPr/>
            </p:nvSpPr>
            <p:spPr>
              <a:xfrm>
                <a:off x="2786063" y="1368066"/>
                <a:ext cx="180975" cy="276225"/>
              </a:xfrm>
              <a:prstGeom prst="upArrow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58" name="Arrow: Up 57">
                <a:extLst>
                  <a:ext uri="{FF2B5EF4-FFF2-40B4-BE49-F238E27FC236}">
                    <a16:creationId xmlns:a16="http://schemas.microsoft.com/office/drawing/2014/main" id="{0A41ED14-E91A-4EEF-A207-D9B4B19090D9}"/>
                  </a:ext>
                </a:extLst>
              </p:cNvPr>
              <p:cNvSpPr/>
              <p:nvPr/>
            </p:nvSpPr>
            <p:spPr>
              <a:xfrm>
                <a:off x="6391275" y="1368065"/>
                <a:ext cx="180975" cy="276225"/>
              </a:xfrm>
              <a:prstGeom prst="upArrow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A7D178A-956F-47DA-A243-BAE93D7DF967}"/>
                </a:ext>
              </a:extLst>
            </p:cNvPr>
            <p:cNvSpPr txBox="1"/>
            <p:nvPr/>
          </p:nvSpPr>
          <p:spPr>
            <a:xfrm>
              <a:off x="461962" y="4239416"/>
              <a:ext cx="8477247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b="1" dirty="0"/>
                <a:t>Unreliable Model Upload</a:t>
              </a:r>
            </a:p>
            <a:p>
              <a:endParaRPr lang="en-US" sz="800" b="1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Malicious Attack</a:t>
              </a:r>
              <a:endParaRPr lang="en-US" b="1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Unstable Network</a:t>
              </a:r>
              <a:endParaRPr lang="fa-I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09329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578476" y="2197893"/>
            <a:ext cx="1103504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6600" b="1" dirty="0">
                <a:solidFill>
                  <a:schemeClr val="accent4"/>
                </a:solidFill>
                <a:cs typeface="B Nazanin" panose="00000400000000000000" pitchFamily="2" charset="-78"/>
              </a:rPr>
              <a:t>Article</a:t>
            </a:r>
          </a:p>
          <a:p>
            <a:pPr algn="ctr" rtl="1"/>
            <a:r>
              <a:rPr lang="en-US" sz="4400" b="1" dirty="0">
                <a:solidFill>
                  <a:schemeClr val="accent4"/>
                </a:solidFill>
              </a:rPr>
              <a:t>Communication-Efficient Learning of Deep Networks from Decentralized Data</a:t>
            </a:r>
            <a:endParaRPr lang="fa-IR" sz="4400" b="1" dirty="0">
              <a:solidFill>
                <a:schemeClr val="accent4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32525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14/29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F934277-8DDC-4C04-AEE2-AED5E788B067}"/>
              </a:ext>
            </a:extLst>
          </p:cNvPr>
          <p:cNvSpPr txBox="1"/>
          <p:nvPr/>
        </p:nvSpPr>
        <p:spPr>
          <a:xfrm>
            <a:off x="5294526" y="767834"/>
            <a:ext cx="1643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Hypothesis</a:t>
            </a:r>
            <a:endParaRPr lang="fa-IR" sz="2400" b="1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72497B-AAB4-4955-BCD6-463ED8EFC427}"/>
              </a:ext>
            </a:extLst>
          </p:cNvPr>
          <p:cNvGrpSpPr/>
          <p:nvPr/>
        </p:nvGrpSpPr>
        <p:grpSpPr>
          <a:xfrm>
            <a:off x="3031782" y="1331542"/>
            <a:ext cx="6171184" cy="436827"/>
            <a:chOff x="2987103" y="3224464"/>
            <a:chExt cx="6171184" cy="43682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EF9A4AD-8909-4D4F-9E2B-8154C1F40C82}"/>
                </a:ext>
              </a:extLst>
            </p:cNvPr>
            <p:cNvSpPr txBox="1"/>
            <p:nvPr/>
          </p:nvSpPr>
          <p:spPr>
            <a:xfrm>
              <a:off x="3052763" y="3291959"/>
              <a:ext cx="61055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Computation Locally                                    Communication</a:t>
              </a:r>
              <a:endParaRPr lang="fa-IR" dirty="0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1939174D-081B-4697-9351-1CD1DB65B099}"/>
                </a:ext>
              </a:extLst>
            </p:cNvPr>
            <p:cNvSpPr/>
            <p:nvPr/>
          </p:nvSpPr>
          <p:spPr>
            <a:xfrm>
              <a:off x="5227851" y="3362325"/>
              <a:ext cx="1439649" cy="241871"/>
            </a:xfrm>
            <a:prstGeom prst="right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0741539-CE0D-4F1D-A211-BF78E92353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103" y="3224464"/>
              <a:ext cx="0" cy="379732"/>
            </a:xfrm>
            <a:prstGeom prst="straightConnector1">
              <a:avLst/>
            </a:prstGeom>
            <a:ln w="508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8550500-1734-4C53-9965-0FFF0E4DEF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8615" y="3239134"/>
              <a:ext cx="0" cy="379732"/>
            </a:xfrm>
            <a:prstGeom prst="straightConnector1">
              <a:avLst/>
            </a:prstGeom>
            <a:ln w="50800">
              <a:solidFill>
                <a:schemeClr val="accent4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9AA1A42D-35E4-4A7C-A208-951AD0D58501}"/>
              </a:ext>
            </a:extLst>
          </p:cNvPr>
          <p:cNvSpPr txBox="1"/>
          <p:nvPr/>
        </p:nvSpPr>
        <p:spPr>
          <a:xfrm>
            <a:off x="2336351" y="2696992"/>
            <a:ext cx="1522182" cy="2031325"/>
          </a:xfrm>
          <a:prstGeom prst="rect">
            <a:avLst/>
          </a:prstGeom>
          <a:noFill/>
          <a:ln w="5080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fa-IR" dirty="0"/>
              <a:t>Train </a:t>
            </a:r>
            <a:r>
              <a:rPr lang="en-US" dirty="0"/>
              <a:t>1</a:t>
            </a:r>
            <a:r>
              <a:rPr lang="fa-IR" dirty="0"/>
              <a:t> step</a:t>
            </a:r>
          </a:p>
          <a:p>
            <a:pPr algn="ctr"/>
            <a:r>
              <a:rPr lang="fa-IR" b="1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a-IR" dirty="0"/>
              <a:t>Communicate</a:t>
            </a:r>
          </a:p>
          <a:p>
            <a:pPr algn="ctr"/>
            <a:r>
              <a:rPr lang="fa-IR" b="1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a-IR" dirty="0"/>
              <a:t>Train </a:t>
            </a:r>
            <a:r>
              <a:rPr lang="en-US" dirty="0"/>
              <a:t>1</a:t>
            </a:r>
            <a:r>
              <a:rPr lang="fa-IR" dirty="0"/>
              <a:t> step</a:t>
            </a:r>
          </a:p>
          <a:p>
            <a:pPr algn="ctr"/>
            <a:r>
              <a:rPr lang="fa-IR" b="1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a-IR" dirty="0"/>
              <a:t>Communicate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3C2D07-641D-45AD-8DC9-C545AE99DED6}"/>
              </a:ext>
            </a:extLst>
          </p:cNvPr>
          <p:cNvSpPr txBox="1"/>
          <p:nvPr/>
        </p:nvSpPr>
        <p:spPr>
          <a:xfrm>
            <a:off x="7435858" y="2696991"/>
            <a:ext cx="2219767" cy="2031325"/>
          </a:xfrm>
          <a:prstGeom prst="rect">
            <a:avLst/>
          </a:prstGeom>
          <a:noFill/>
          <a:ln w="508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a-IR" dirty="0"/>
              <a:t>Train many local steps</a:t>
            </a:r>
          </a:p>
          <a:p>
            <a:pPr algn="ctr"/>
            <a:r>
              <a:rPr lang="fa-IR" b="1" dirty="0">
                <a:solidFill>
                  <a:schemeClr val="accent4"/>
                </a:solidFill>
              </a:rPr>
              <a:t>↓</a:t>
            </a:r>
          </a:p>
          <a:p>
            <a:pPr algn="ctr"/>
            <a:r>
              <a:rPr lang="fa-IR" dirty="0"/>
              <a:t>Communicate</a:t>
            </a:r>
          </a:p>
          <a:p>
            <a:pPr algn="ctr"/>
            <a:r>
              <a:rPr lang="fa-IR" b="1" dirty="0">
                <a:solidFill>
                  <a:schemeClr val="accent4"/>
                </a:solidFill>
              </a:rPr>
              <a:t>↓</a:t>
            </a:r>
          </a:p>
          <a:p>
            <a:pPr algn="ctr"/>
            <a:r>
              <a:rPr lang="fa-IR" dirty="0"/>
              <a:t>Train many local steps</a:t>
            </a:r>
          </a:p>
          <a:p>
            <a:pPr algn="ctr"/>
            <a:r>
              <a:rPr lang="fa-IR" b="1" dirty="0">
                <a:solidFill>
                  <a:schemeClr val="accent4"/>
                </a:solidFill>
              </a:rPr>
              <a:t>↓</a:t>
            </a:r>
          </a:p>
          <a:p>
            <a:pPr algn="ctr"/>
            <a:r>
              <a:rPr lang="fa-IR" dirty="0"/>
              <a:t>Communicate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280E533-3449-40E6-A942-C074813B2A91}"/>
              </a:ext>
            </a:extLst>
          </p:cNvPr>
          <p:cNvSpPr/>
          <p:nvPr/>
        </p:nvSpPr>
        <p:spPr>
          <a:xfrm>
            <a:off x="4619625" y="3429000"/>
            <a:ext cx="2092554" cy="369332"/>
          </a:xfrm>
          <a:prstGeom prst="rightArrow">
            <a:avLst/>
          </a:prstGeom>
          <a:gradFill flip="none" rotWithShape="1">
            <a:gsLst>
              <a:gs pos="100000">
                <a:schemeClr val="accent4">
                  <a:satMod val="103000"/>
                  <a:lumMod val="102000"/>
                  <a:tint val="94000"/>
                </a:schemeClr>
              </a:gs>
              <a:gs pos="8000">
                <a:schemeClr val="accent2">
                  <a:lumMod val="7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48713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15/29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0732639-4C90-4B79-B8FB-69FF567B07C3}"/>
              </a:ext>
            </a:extLst>
          </p:cNvPr>
          <p:cNvGrpSpPr/>
          <p:nvPr/>
        </p:nvGrpSpPr>
        <p:grpSpPr>
          <a:xfrm>
            <a:off x="805600" y="1126049"/>
            <a:ext cx="9081350" cy="3923629"/>
            <a:chOff x="1024675" y="844142"/>
            <a:chExt cx="9081350" cy="39236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00BD9F-F0CE-4A86-B339-F46FDCB79F82}"/>
                </a:ext>
              </a:extLst>
            </p:cNvPr>
            <p:cNvSpPr txBox="1"/>
            <p:nvPr/>
          </p:nvSpPr>
          <p:spPr>
            <a:xfrm>
              <a:off x="1024675" y="844142"/>
              <a:ext cx="27455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Contributions</a:t>
              </a:r>
              <a:endParaRPr lang="fa-IR" sz="28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AA2FA7-35D5-4133-B07F-B0A4AD83F872}"/>
                </a:ext>
              </a:extLst>
            </p:cNvPr>
            <p:cNvSpPr txBox="1"/>
            <p:nvPr/>
          </p:nvSpPr>
          <p:spPr>
            <a:xfrm>
              <a:off x="1024675" y="1628450"/>
              <a:ext cx="9081350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Contribution 1</a:t>
              </a:r>
            </a:p>
            <a:p>
              <a:r>
                <a:rPr lang="en-US" dirty="0"/>
                <a:t>Identifying decentralized learning from mobile devices as an important research direction</a:t>
              </a:r>
            </a:p>
            <a:p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Contribution 2</a:t>
              </a:r>
            </a:p>
            <a:p>
              <a:r>
                <a:rPr lang="en-US" dirty="0"/>
                <a:t>Introducing </a:t>
              </a:r>
              <a:r>
                <a:rPr lang="en-US" b="1" dirty="0"/>
                <a:t>Federated Averaging (</a:t>
              </a:r>
              <a:r>
                <a:rPr lang="en-US" b="1" dirty="0" err="1"/>
                <a:t>FedAvg</a:t>
              </a:r>
              <a:r>
                <a:rPr lang="en-US" b="1" dirty="0"/>
                <a:t>)</a:t>
              </a:r>
              <a:endParaRPr lang="en-US" dirty="0"/>
            </a:p>
            <a:p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Contribution 3</a:t>
              </a:r>
            </a:p>
            <a:p>
              <a:r>
                <a:rPr lang="en-US" dirty="0"/>
                <a:t>Showing robustness to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dirty="0"/>
                <a:t>unbalanced data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dirty="0"/>
                <a:t>non-IID data </a:t>
              </a:r>
            </a:p>
            <a:p>
              <a:r>
                <a:rPr lang="en-US" dirty="0"/>
                <a:t>and dramatic reductions in communication rounds 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7517A03-5BFA-47EF-8D36-A38F5469D778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2461040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16/29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C7B26B-0F49-48E9-A7D2-ED14008FC050}"/>
              </a:ext>
            </a:extLst>
          </p:cNvPr>
          <p:cNvSpPr txBox="1"/>
          <p:nvPr/>
        </p:nvSpPr>
        <p:spPr>
          <a:xfrm>
            <a:off x="4304735" y="677543"/>
            <a:ext cx="3576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Mathematical Formulation</a:t>
            </a:r>
            <a:endParaRPr lang="fa-IR" sz="2400" b="1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19FF89-2A4A-418E-A14D-CFFE78E323D2}"/>
              </a:ext>
            </a:extLst>
          </p:cNvPr>
          <p:cNvGrpSpPr/>
          <p:nvPr/>
        </p:nvGrpSpPr>
        <p:grpSpPr>
          <a:xfrm>
            <a:off x="447473" y="1170255"/>
            <a:ext cx="5194570" cy="2093164"/>
            <a:chOff x="671209" y="1233696"/>
            <a:chExt cx="5194570" cy="2093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3C9C98-7066-46BE-BC04-DEBAB1183752}"/>
                </a:ext>
              </a:extLst>
            </p:cNvPr>
            <p:cNvSpPr/>
            <p:nvPr/>
          </p:nvSpPr>
          <p:spPr>
            <a:xfrm>
              <a:off x="671209" y="1233696"/>
              <a:ext cx="5194570" cy="20931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FCEBCC8-1BC9-4FF0-9EA4-D6D8DB0B6511}"/>
                </a:ext>
              </a:extLst>
            </p:cNvPr>
            <p:cNvGrpSpPr/>
            <p:nvPr/>
          </p:nvGrpSpPr>
          <p:grpSpPr>
            <a:xfrm>
              <a:off x="771525" y="1320448"/>
              <a:ext cx="5025594" cy="1887574"/>
              <a:chOff x="771525" y="1320448"/>
              <a:chExt cx="5025594" cy="18875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933E4B1-3BCE-4A4F-B199-11929205C635}"/>
                      </a:ext>
                    </a:extLst>
                  </p:cNvPr>
                  <p:cNvSpPr txBox="1"/>
                  <p:nvPr/>
                </p:nvSpPr>
                <p:spPr>
                  <a:xfrm>
                    <a:off x="771525" y="1551334"/>
                    <a:ext cx="1579086" cy="51187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limLow>
                            <m:limLowPr>
                              <m:ctrlPr>
                                <a:rPr lang="fa-I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a-IR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fa-I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fa-IR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fa-IR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lim>
                          </m:limLow>
                          <m:r>
                            <a:rPr lang="fa-I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a-I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a-I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oMath>
                      </m:oMathPara>
                    </a14:m>
                    <a:endParaRPr lang="fa-IR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933E4B1-3BCE-4A4F-B199-11929205C6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1525" y="1551334"/>
                    <a:ext cx="1579086" cy="51187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72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fa-I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C35F00D0-D865-485B-B325-D44CD961D4ED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025" y="1320448"/>
                    <a:ext cx="2168094" cy="840295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txBody>
                  <a:bodyPr wrap="none" lIns="0" tIns="0" rIns="0" bIns="0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a-I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a-I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fa-IR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a-I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a-IR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a-I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fa-I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a-I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a-IR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a-IR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fa-I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fa-I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a-I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a-I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a-I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a-I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nary>
                        </m:oMath>
                      </m:oMathPara>
                    </a14:m>
                    <a:endParaRPr lang="fa-IR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C35F00D0-D865-485B-B325-D44CD961D4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29025" y="1320448"/>
                    <a:ext cx="2168094" cy="8402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38100">
                    <a:solidFill>
                      <a:schemeClr val="accent4"/>
                    </a:solidFill>
                  </a:ln>
                </p:spPr>
                <p:txBody>
                  <a:bodyPr/>
                  <a:lstStyle/>
                  <a:p>
                    <a:r>
                      <a:rPr lang="fa-I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39D0593-3B66-42B6-B238-5D46E99CA119}"/>
                  </a:ext>
                </a:extLst>
              </p:cNvPr>
              <p:cNvSpPr/>
              <p:nvPr/>
            </p:nvSpPr>
            <p:spPr>
              <a:xfrm>
                <a:off x="1532493" y="1387123"/>
                <a:ext cx="905907" cy="723490"/>
              </a:xfrm>
              <a:prstGeom prst="ellipse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28BEA66-5E0A-40D7-9EE3-F7DF5F88F8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38400" y="1767360"/>
                <a:ext cx="1190625" cy="8272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">
                    <a:extLst>
                      <a:ext uri="{FF2B5EF4-FFF2-40B4-BE49-F238E27FC236}">
                        <a16:creationId xmlns:a16="http://schemas.microsoft.com/office/drawing/2014/main" id="{17A76036-91F8-4E1C-AB93-BAB281B20B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1525" y="2284692"/>
                    <a:ext cx="4150671" cy="92333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Char char="•"/>
                      <a:tabLst/>
                    </a:pPr>
                    <a14:m>
                      <m:oMath xmlns:m="http://schemas.openxmlformats.org/officeDocument/2006/math">
                        <m:r>
                          <a:rPr lang="fa-I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fa-I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kumimoji="0" lang="fa-IR" altLang="fa-I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rPr>
                      <a:t>= neural network parameters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Char char="•"/>
                      <a:tabLst/>
                    </a:pPr>
                    <a14:m>
                      <m:oMath xmlns:m="http://schemas.openxmlformats.org/officeDocument/2006/math">
                        <m:r>
                          <a:rPr kumimoji="0" lang="en-US" altLang="fa-I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fa-I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kumimoji="0" lang="fa-IR" altLang="fa-I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rPr>
                      <a:t> = number of training example  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Char char="•"/>
                      <a:tabLst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a-I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a-I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fa-I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a14:m>
                    <a:r>
                      <a:rPr kumimoji="0" lang="fa-IR" altLang="fa-I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rPr>
                      <a:t> = loss for example i </a:t>
                    </a:r>
                  </a:p>
                </p:txBody>
              </p:sp>
            </mc:Choice>
            <mc:Fallback xmlns="">
              <p:sp>
                <p:nvSpPr>
                  <p:cNvPr id="14" name="Rectangle 1">
                    <a:extLst>
                      <a:ext uri="{FF2B5EF4-FFF2-40B4-BE49-F238E27FC236}">
                        <a16:creationId xmlns:a16="http://schemas.microsoft.com/office/drawing/2014/main" id="{17A76036-91F8-4E1C-AB93-BAB281B20B4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71525" y="2284692"/>
                    <a:ext cx="4150671" cy="92333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22" t="-2632" b="-986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fa-I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2AF3A5-E0C2-4412-A523-826C375B6978}"/>
                  </a:ext>
                </a:extLst>
              </p:cNvPr>
              <p:cNvSpPr txBox="1"/>
              <p:nvPr/>
            </p:nvSpPr>
            <p:spPr>
              <a:xfrm>
                <a:off x="447474" y="3466298"/>
                <a:ext cx="3521412" cy="369332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Dividing the dataset across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clients</a:t>
                </a:r>
                <a:endParaRPr lang="fa-I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2AF3A5-E0C2-4412-A523-826C375B6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74" y="3466298"/>
                <a:ext cx="3521412" cy="369332"/>
              </a:xfrm>
              <a:prstGeom prst="rect">
                <a:avLst/>
              </a:prstGeom>
              <a:blipFill>
                <a:blip r:embed="rId6"/>
                <a:stretch>
                  <a:fillRect l="-856" t="-4545" r="-1027" b="-19697"/>
                </a:stretch>
              </a:blipFill>
              <a:ln w="381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D3AD5D48-8EA3-40F5-8037-513191F11E18}"/>
              </a:ext>
            </a:extLst>
          </p:cNvPr>
          <p:cNvGrpSpPr/>
          <p:nvPr/>
        </p:nvGrpSpPr>
        <p:grpSpPr>
          <a:xfrm>
            <a:off x="6284068" y="3433799"/>
            <a:ext cx="1325940" cy="388788"/>
            <a:chOff x="4616020" y="3481287"/>
            <a:chExt cx="1325940" cy="3887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0AB96B3-457A-4A22-A6AB-CCEE36202E11}"/>
                    </a:ext>
                  </a:extLst>
                </p:cNvPr>
                <p:cNvSpPr txBox="1"/>
                <p:nvPr/>
              </p:nvSpPr>
              <p:spPr>
                <a:xfrm>
                  <a:off x="4616020" y="3481287"/>
                  <a:ext cx="1325940" cy="369332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a-I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fa-I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fa-IR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a-I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a-I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fa-I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fa-IR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0AB96B3-457A-4A22-A6AB-CCEE36202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6020" y="3481287"/>
                  <a:ext cx="132594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304" r="-7373" b="-37705"/>
                  </a:stretch>
                </a:blipFill>
              </p:spPr>
              <p:txBody>
                <a:bodyPr/>
                <a:lstStyle/>
                <a:p>
                  <a:r>
                    <a:rPr lang="fa-I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42D1E9-274C-4A22-BB20-AF653F0352DE}"/>
                </a:ext>
              </a:extLst>
            </p:cNvPr>
            <p:cNvSpPr/>
            <p:nvPr/>
          </p:nvSpPr>
          <p:spPr>
            <a:xfrm>
              <a:off x="5466944" y="3500743"/>
              <a:ext cx="340468" cy="369332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C690124-2559-4502-BE9B-8B7D58B89141}"/>
              </a:ext>
            </a:extLst>
          </p:cNvPr>
          <p:cNvSpPr txBox="1"/>
          <p:nvPr/>
        </p:nvSpPr>
        <p:spPr>
          <a:xfrm>
            <a:off x="8092197" y="2830762"/>
            <a:ext cx="3405897" cy="369332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set of data points stored at client k</a:t>
            </a:r>
            <a:endParaRPr lang="fa-IR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457C35-08A9-4D69-949C-037B1E3D58AC}"/>
              </a:ext>
            </a:extLst>
          </p:cNvPr>
          <p:cNvCxnSpPr>
            <a:cxnSpLocks/>
            <a:stCxn id="21" idx="0"/>
            <a:endCxn id="28" idx="1"/>
          </p:cNvCxnSpPr>
          <p:nvPr/>
        </p:nvCxnSpPr>
        <p:spPr>
          <a:xfrm flipV="1">
            <a:off x="7305226" y="3015428"/>
            <a:ext cx="786971" cy="437827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6D607DA-60FE-4A87-8B50-5F1F46EF095E}"/>
              </a:ext>
            </a:extLst>
          </p:cNvPr>
          <p:cNvSpPr txBox="1"/>
          <p:nvPr/>
        </p:nvSpPr>
        <p:spPr>
          <a:xfrm>
            <a:off x="6692022" y="2184431"/>
            <a:ext cx="3103123" cy="36933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number of examples at client k</a:t>
            </a:r>
            <a:endParaRPr lang="fa-IR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9D1209-70CE-4A71-A3A8-7891C5A97FD4}"/>
              </a:ext>
            </a:extLst>
          </p:cNvPr>
          <p:cNvSpPr/>
          <p:nvPr/>
        </p:nvSpPr>
        <p:spPr>
          <a:xfrm>
            <a:off x="6301698" y="3466754"/>
            <a:ext cx="390324" cy="355834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AF64AC-6B9F-44BF-9AC6-8438E4767B16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6496860" y="2565682"/>
            <a:ext cx="193396" cy="90107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2B11AD7-17D3-4274-8262-E11D69E27FFB}"/>
              </a:ext>
            </a:extLst>
          </p:cNvPr>
          <p:cNvCxnSpPr>
            <a:cxnSpLocks/>
            <a:stCxn id="23" idx="3"/>
            <a:endCxn id="38" idx="2"/>
          </p:cNvCxnSpPr>
          <p:nvPr/>
        </p:nvCxnSpPr>
        <p:spPr>
          <a:xfrm flipV="1">
            <a:off x="3968886" y="3644671"/>
            <a:ext cx="2332812" cy="6293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467B81DE-F719-41EF-AC79-D3AB2FC6582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52517" t="35503" r="34256" b="56030"/>
          <a:stretch/>
        </p:blipFill>
        <p:spPr>
          <a:xfrm>
            <a:off x="3336588" y="4032216"/>
            <a:ext cx="2132187" cy="767758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02C5AE09-49C1-44A8-958F-8272658D3EBA}"/>
              </a:ext>
            </a:extLst>
          </p:cNvPr>
          <p:cNvSpPr/>
          <p:nvPr/>
        </p:nvSpPr>
        <p:spPr>
          <a:xfrm>
            <a:off x="3337197" y="4131674"/>
            <a:ext cx="660873" cy="44998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9CBBE9-D820-4F7C-AD31-68BD80539E25}"/>
              </a:ext>
            </a:extLst>
          </p:cNvPr>
          <p:cNvSpPr txBox="1"/>
          <p:nvPr/>
        </p:nvSpPr>
        <p:spPr>
          <a:xfrm>
            <a:off x="447473" y="4167462"/>
            <a:ext cx="1575880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Local objective</a:t>
            </a:r>
            <a:endParaRPr lang="fa-IR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92C5C60-BD39-4E8F-8268-672AA52B9FDF}"/>
              </a:ext>
            </a:extLst>
          </p:cNvPr>
          <p:cNvCxnSpPr>
            <a:cxnSpLocks/>
            <a:stCxn id="44" idx="2"/>
            <a:endCxn id="49" idx="3"/>
          </p:cNvCxnSpPr>
          <p:nvPr/>
        </p:nvCxnSpPr>
        <p:spPr>
          <a:xfrm flipH="1" flipV="1">
            <a:off x="2023353" y="4352128"/>
            <a:ext cx="1313844" cy="4538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5A7F82B-F3E5-423F-A24A-4D2B869395CA}"/>
              </a:ext>
            </a:extLst>
          </p:cNvPr>
          <p:cNvSpPr txBox="1"/>
          <p:nvPr/>
        </p:nvSpPr>
        <p:spPr>
          <a:xfrm>
            <a:off x="453736" y="5228720"/>
            <a:ext cx="1767191" cy="369332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Global objective</a:t>
            </a:r>
            <a:endParaRPr lang="fa-IR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0BEAD8F-6921-42D0-916F-B9443FA5FB5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52659" t="49970" r="34114" b="41563"/>
          <a:stretch/>
        </p:blipFill>
        <p:spPr>
          <a:xfrm>
            <a:off x="3238641" y="5029058"/>
            <a:ext cx="2132187" cy="767758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30BC92-F2D5-45BD-A269-347CB2C64E92}"/>
              </a:ext>
            </a:extLst>
          </p:cNvPr>
          <p:cNvCxnSpPr>
            <a:cxnSpLocks/>
            <a:stCxn id="56" idx="2"/>
            <a:endCxn id="54" idx="3"/>
          </p:cNvCxnSpPr>
          <p:nvPr/>
        </p:nvCxnSpPr>
        <p:spPr>
          <a:xfrm flipH="1" flipV="1">
            <a:off x="2220927" y="5413386"/>
            <a:ext cx="1041487" cy="14127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F71BAC6A-35D9-40CA-B4CE-724FFFBDF8AA}"/>
              </a:ext>
            </a:extLst>
          </p:cNvPr>
          <p:cNvSpPr/>
          <p:nvPr/>
        </p:nvSpPr>
        <p:spPr>
          <a:xfrm>
            <a:off x="3262414" y="5171570"/>
            <a:ext cx="563597" cy="511885"/>
          </a:xfrm>
          <a:prstGeom prst="ellipse">
            <a:avLst/>
          </a:prstGeom>
          <a:noFill/>
          <a:ln w="317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A568F4-E7FE-4963-9C6C-5336EF827B72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1293098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17/29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8F7129-4F1A-48EC-99C9-6542F897D034}"/>
              </a:ext>
            </a:extLst>
          </p:cNvPr>
          <p:cNvSpPr txBox="1"/>
          <p:nvPr/>
        </p:nvSpPr>
        <p:spPr>
          <a:xfrm>
            <a:off x="4687052" y="740277"/>
            <a:ext cx="2812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IID  vs  Non-IID Data</a:t>
            </a:r>
            <a:endParaRPr lang="fa-IR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A48327-F8D8-4D2A-BCB6-691DDB257A4A}"/>
              </a:ext>
            </a:extLst>
          </p:cNvPr>
          <p:cNvGrpSpPr/>
          <p:nvPr/>
        </p:nvGrpSpPr>
        <p:grpSpPr>
          <a:xfrm>
            <a:off x="350675" y="1399812"/>
            <a:ext cx="8326600" cy="369332"/>
            <a:chOff x="350675" y="1200366"/>
            <a:chExt cx="8326600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4A016E-2A7B-43FA-BE2F-1FCE1E55E6FC}"/>
                </a:ext>
              </a:extLst>
            </p:cNvPr>
            <p:cNvSpPr txBox="1"/>
            <p:nvPr/>
          </p:nvSpPr>
          <p:spPr>
            <a:xfrm>
              <a:off x="350675" y="1200366"/>
              <a:ext cx="8326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IID 	local data is approximately representative of the global distribution</a:t>
              </a:r>
              <a:endParaRPr lang="fa-IR" dirty="0"/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1DD562EE-2B76-472E-B11A-ED262E45777D}"/>
                </a:ext>
              </a:extLst>
            </p:cNvPr>
            <p:cNvSpPr/>
            <p:nvPr/>
          </p:nvSpPr>
          <p:spPr>
            <a:xfrm>
              <a:off x="781050" y="1314044"/>
              <a:ext cx="514350" cy="142873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000F79-5C4E-468B-A29F-418A0AB117CF}"/>
              </a:ext>
            </a:extLst>
          </p:cNvPr>
          <p:cNvGrpSpPr/>
          <p:nvPr/>
        </p:nvGrpSpPr>
        <p:grpSpPr>
          <a:xfrm>
            <a:off x="322100" y="2354161"/>
            <a:ext cx="7595935" cy="403555"/>
            <a:chOff x="350675" y="1587931"/>
            <a:chExt cx="7595935" cy="4035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A570A0-A1B7-4CD7-B296-39E2A430117B}"/>
                </a:ext>
              </a:extLst>
            </p:cNvPr>
            <p:cNvSpPr txBox="1"/>
            <p:nvPr/>
          </p:nvSpPr>
          <p:spPr>
            <a:xfrm>
              <a:off x="350675" y="1588190"/>
              <a:ext cx="61055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IID client have approximately the same proportions</a:t>
              </a:r>
              <a:endParaRPr lang="fa-IR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102A87-9F88-44A1-ACCF-FA2E7484E5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 l="55053" t="25233" r="36250" b="70950"/>
            <a:stretch/>
          </p:blipFill>
          <p:spPr>
            <a:xfrm>
              <a:off x="6312362" y="1587931"/>
              <a:ext cx="1634248" cy="403555"/>
            </a:xfrm>
            <a:prstGeom prst="rect">
              <a:avLst/>
            </a:prstGeom>
          </p:spPr>
        </p:pic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A6F13718-15BC-4085-86D3-4D695BF79132}"/>
                </a:ext>
              </a:extLst>
            </p:cNvPr>
            <p:cNvSpPr/>
            <p:nvPr/>
          </p:nvSpPr>
          <p:spPr>
            <a:xfrm>
              <a:off x="5335381" y="1724340"/>
              <a:ext cx="837597" cy="14969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FE12736-7CA3-4923-97C7-E6961377ED2E}"/>
              </a:ext>
            </a:extLst>
          </p:cNvPr>
          <p:cNvGrpSpPr/>
          <p:nvPr/>
        </p:nvGrpSpPr>
        <p:grpSpPr>
          <a:xfrm>
            <a:off x="350675" y="3383287"/>
            <a:ext cx="7382350" cy="2100570"/>
            <a:chOff x="350675" y="2648101"/>
            <a:chExt cx="7382350" cy="210057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F513E7C-CEED-41B3-AF75-38E9D8E32F73}"/>
                </a:ext>
              </a:extLst>
            </p:cNvPr>
            <p:cNvGrpSpPr/>
            <p:nvPr/>
          </p:nvGrpSpPr>
          <p:grpSpPr>
            <a:xfrm>
              <a:off x="350675" y="2648101"/>
              <a:ext cx="3483176" cy="415336"/>
              <a:chOff x="350675" y="1970180"/>
              <a:chExt cx="3483176" cy="415336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A93E93-32EC-4380-A330-0D005EEC7BAE}"/>
                  </a:ext>
                </a:extLst>
              </p:cNvPr>
              <p:cNvSpPr txBox="1"/>
              <p:nvPr/>
            </p:nvSpPr>
            <p:spPr>
              <a:xfrm>
                <a:off x="350675" y="1970180"/>
                <a:ext cx="9286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Non-IID</a:t>
                </a:r>
                <a:endParaRPr lang="fa-IR" dirty="0"/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418CBAFF-F916-4211-91DF-D9C1ED60A2FA}"/>
                  </a:ext>
                </a:extLst>
              </p:cNvPr>
              <p:cNvSpPr/>
              <p:nvPr/>
            </p:nvSpPr>
            <p:spPr>
              <a:xfrm>
                <a:off x="1270916" y="2089526"/>
                <a:ext cx="837597" cy="14969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05C7492E-DEB1-482A-9582-AA5CBD5A8D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rcRect l="55053" t="25233" r="36250" b="70950"/>
              <a:stretch/>
            </p:blipFill>
            <p:spPr>
              <a:xfrm>
                <a:off x="2199603" y="1981961"/>
                <a:ext cx="1634248" cy="403555"/>
              </a:xfrm>
              <a:prstGeom prst="rect">
                <a:avLst/>
              </a:prstGeom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1DF805C-4B8D-47FC-A9E8-2004329B98C1}"/>
                  </a:ext>
                </a:extLst>
              </p:cNvPr>
              <p:cNvCxnSpPr/>
              <p:nvPr/>
            </p:nvCxnSpPr>
            <p:spPr>
              <a:xfrm flipH="1">
                <a:off x="3016727" y="2089526"/>
                <a:ext cx="88423" cy="149690"/>
              </a:xfrm>
              <a:prstGeom prst="line">
                <a:avLst/>
              </a:prstGeom>
              <a:ln w="317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BA3B939-B997-44E3-8F80-282695B4B86D}"/>
                </a:ext>
              </a:extLst>
            </p:cNvPr>
            <p:cNvSpPr/>
            <p:nvPr/>
          </p:nvSpPr>
          <p:spPr>
            <a:xfrm>
              <a:off x="369725" y="2659882"/>
              <a:ext cx="837597" cy="369332"/>
            </a:xfrm>
            <a:prstGeom prst="roundRect">
              <a:avLst/>
            </a:pr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439F19D-4703-4F8C-91E5-250709D8B38A}"/>
                </a:ext>
              </a:extLst>
            </p:cNvPr>
            <p:cNvCxnSpPr>
              <a:cxnSpLocks/>
              <a:stCxn id="24" idx="2"/>
              <a:endCxn id="34" idx="1"/>
            </p:cNvCxnSpPr>
            <p:nvPr/>
          </p:nvCxnSpPr>
          <p:spPr>
            <a:xfrm rot="16200000" flipH="1">
              <a:off x="827316" y="2990421"/>
              <a:ext cx="1242404" cy="1319989"/>
            </a:xfrm>
            <a:prstGeom prst="bentConnector2">
              <a:avLst/>
            </a:prstGeom>
            <a:ln w="508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CCD98C4-C3BA-46CA-9D58-0471B0A8AE1D}"/>
                </a:ext>
              </a:extLst>
            </p:cNvPr>
            <p:cNvSpPr txBox="1"/>
            <p:nvPr/>
          </p:nvSpPr>
          <p:spPr>
            <a:xfrm>
              <a:off x="2108513" y="3794564"/>
              <a:ext cx="5624512" cy="954107"/>
            </a:xfrm>
            <a:prstGeom prst="rect">
              <a:avLst/>
            </a:prstGeom>
            <a:noFill/>
            <a:ln w="50800">
              <a:solidFill>
                <a:schemeClr val="accent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Why is this difficult?</a:t>
              </a:r>
            </a:p>
            <a:p>
              <a:r>
                <a:rPr lang="en-US" dirty="0"/>
                <a:t>client can optimize perfectly for its own data while moving the model in a direction that is not globally optimal</a:t>
              </a:r>
              <a:endParaRPr lang="fa-IR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9324E84-B7A6-4B7D-8A9A-BD7F0E5C293D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2102311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18/29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3DCE30-8329-4A79-A021-3BEF04EC80DC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2AE0F-4475-4F73-965B-E9FCA3DA4AE4}"/>
              </a:ext>
            </a:extLst>
          </p:cNvPr>
          <p:cNvSpPr txBox="1"/>
          <p:nvPr/>
        </p:nvSpPr>
        <p:spPr>
          <a:xfrm>
            <a:off x="3912394" y="982415"/>
            <a:ext cx="4367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Communication vs Computation</a:t>
            </a:r>
            <a:endParaRPr lang="fa-IR" sz="24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C615EE-5030-4560-80FA-5AEE71259B39}"/>
              </a:ext>
            </a:extLst>
          </p:cNvPr>
          <p:cNvGrpSpPr/>
          <p:nvPr/>
        </p:nvGrpSpPr>
        <p:grpSpPr>
          <a:xfrm>
            <a:off x="542563" y="1912923"/>
            <a:ext cx="8706212" cy="400110"/>
            <a:chOff x="542563" y="1402096"/>
            <a:chExt cx="8706212" cy="4001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A2E101-088A-40D5-A46E-2F70B0B859AB}"/>
                </a:ext>
              </a:extLst>
            </p:cNvPr>
            <p:cNvSpPr txBox="1"/>
            <p:nvPr/>
          </p:nvSpPr>
          <p:spPr>
            <a:xfrm>
              <a:off x="542563" y="1402096"/>
              <a:ext cx="870621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Goal</a:t>
              </a:r>
              <a:r>
                <a:rPr lang="en-US" dirty="0"/>
                <a:t>                Use more local computation    </a:t>
              </a:r>
              <a:r>
                <a:rPr lang="en-US" sz="2000" b="1" dirty="0">
                  <a:solidFill>
                    <a:schemeClr val="accent4"/>
                  </a:solidFill>
                </a:rPr>
                <a:t>→</a:t>
              </a:r>
              <a:r>
                <a:rPr lang="en-US" dirty="0"/>
                <a:t>    Reduce communication rounds</a:t>
              </a:r>
              <a:endParaRPr lang="fa-IR" dirty="0"/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CA94386D-9D39-4E4E-914C-18787FDBD479}"/>
                </a:ext>
              </a:extLst>
            </p:cNvPr>
            <p:cNvSpPr/>
            <p:nvPr/>
          </p:nvSpPr>
          <p:spPr>
            <a:xfrm>
              <a:off x="1276349" y="1543050"/>
              <a:ext cx="542925" cy="16500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F1457C4-4C08-4B71-BD9D-845D8C3D1631}"/>
              </a:ext>
            </a:extLst>
          </p:cNvPr>
          <p:cNvSpPr txBox="1"/>
          <p:nvPr/>
        </p:nvSpPr>
        <p:spPr>
          <a:xfrm>
            <a:off x="542563" y="3075455"/>
            <a:ext cx="78057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Two ways to increase computation</a:t>
            </a:r>
          </a:p>
          <a:p>
            <a:endParaRPr lang="en-US" sz="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More parallelism</a:t>
            </a:r>
          </a:p>
          <a:p>
            <a:r>
              <a:rPr lang="en-US" dirty="0"/>
              <a:t>      Use more clients in each round.</a:t>
            </a:r>
          </a:p>
          <a:p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More local computation</a:t>
            </a:r>
          </a:p>
          <a:p>
            <a:r>
              <a:rPr lang="en-US" dirty="0"/>
              <a:t>      Each participating client performs more SGD updates before communicating.</a:t>
            </a:r>
          </a:p>
        </p:txBody>
      </p:sp>
    </p:spTree>
    <p:extLst>
      <p:ext uri="{BB962C8B-B14F-4D97-AF65-F5344CB8AC3E}">
        <p14:creationId xmlns:p14="http://schemas.microsoft.com/office/powerpoint/2010/main" val="1025250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19/29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3DCE30-8329-4A79-A021-3BEF04EC80DC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AC37F-CFA7-4FC2-A12E-00FC09A0D2E9}"/>
              </a:ext>
            </a:extLst>
          </p:cNvPr>
          <p:cNvSpPr txBox="1"/>
          <p:nvPr/>
        </p:nvSpPr>
        <p:spPr>
          <a:xfrm>
            <a:off x="4812506" y="707113"/>
            <a:ext cx="2566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FedAvg</a:t>
            </a:r>
            <a:r>
              <a:rPr lang="en-US" sz="2400" b="1" dirty="0"/>
              <a:t> Workflow</a:t>
            </a:r>
            <a:endParaRPr lang="fa-IR" sz="2400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CE4795-6F45-44F1-9C94-41B32E79C4C1}"/>
              </a:ext>
            </a:extLst>
          </p:cNvPr>
          <p:cNvGrpSpPr/>
          <p:nvPr/>
        </p:nvGrpSpPr>
        <p:grpSpPr>
          <a:xfrm>
            <a:off x="751172" y="1255645"/>
            <a:ext cx="6974581" cy="1065520"/>
            <a:chOff x="308178" y="1056366"/>
            <a:chExt cx="6974581" cy="10655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A0ED4A-0800-4925-8370-BE293ADCAA70}"/>
                </a:ext>
              </a:extLst>
            </p:cNvPr>
            <p:cNvSpPr txBox="1"/>
            <p:nvPr/>
          </p:nvSpPr>
          <p:spPr>
            <a:xfrm>
              <a:off x="308178" y="1125681"/>
              <a:ext cx="61055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Step 1 </a:t>
              </a:r>
              <a:r>
                <a:rPr lang="en-US" dirty="0"/>
                <a:t>— Client selection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ECD5333-EA0C-40AE-8151-170C39C83E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53516" t="54752" r="35372" b="40760"/>
            <a:stretch/>
          </p:blipFill>
          <p:spPr>
            <a:xfrm>
              <a:off x="3483431" y="1056366"/>
              <a:ext cx="2032151" cy="46166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97AF2F-B7C6-4614-8231-43D7827543F2}"/>
                </a:ext>
              </a:extLst>
            </p:cNvPr>
            <p:cNvSpPr txBox="1"/>
            <p:nvPr/>
          </p:nvSpPr>
          <p:spPr>
            <a:xfrm>
              <a:off x="2932180" y="1752554"/>
              <a:ext cx="1758021" cy="369332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selected fraction</a:t>
              </a:r>
              <a:endParaRPr lang="fa-IR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E2220E4-3F8D-4C37-B797-C88DE70FADEB}"/>
                </a:ext>
              </a:extLst>
            </p:cNvPr>
            <p:cNvSpPr/>
            <p:nvPr/>
          </p:nvSpPr>
          <p:spPr>
            <a:xfrm>
              <a:off x="4699929" y="1159814"/>
              <a:ext cx="241722" cy="234167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3C819B4-A37F-45B9-B144-D826240C1381}"/>
                </a:ext>
              </a:extLst>
            </p:cNvPr>
            <p:cNvCxnSpPr>
              <a:cxnSpLocks/>
              <a:stCxn id="13" idx="3"/>
              <a:endCxn id="16" idx="0"/>
            </p:cNvCxnSpPr>
            <p:nvPr/>
          </p:nvCxnSpPr>
          <p:spPr>
            <a:xfrm flipH="1">
              <a:off x="3811191" y="1359688"/>
              <a:ext cx="924137" cy="392866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C899980-44C2-44D1-AD1C-0AEB59A0D689}"/>
                </a:ext>
              </a:extLst>
            </p:cNvPr>
            <p:cNvSpPr/>
            <p:nvPr/>
          </p:nvSpPr>
          <p:spPr>
            <a:xfrm>
              <a:off x="4926900" y="1128376"/>
              <a:ext cx="241722" cy="296685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3E0EDD-655F-4271-A379-072F3E66E1E9}"/>
                </a:ext>
              </a:extLst>
            </p:cNvPr>
            <p:cNvSpPr txBox="1"/>
            <p:nvPr/>
          </p:nvSpPr>
          <p:spPr>
            <a:xfrm>
              <a:off x="5168622" y="1747965"/>
              <a:ext cx="2114137" cy="369332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Number of all clients</a:t>
              </a:r>
              <a:endParaRPr lang="fa-IR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F4E3F5A-6D6B-459A-8ADC-F1D7F60E5648}"/>
                </a:ext>
              </a:extLst>
            </p:cNvPr>
            <p:cNvCxnSpPr>
              <a:cxnSpLocks/>
              <a:stCxn id="25" idx="5"/>
              <a:endCxn id="27" idx="0"/>
            </p:cNvCxnSpPr>
            <p:nvPr/>
          </p:nvCxnSpPr>
          <p:spPr>
            <a:xfrm>
              <a:off x="5133223" y="1381612"/>
              <a:ext cx="1092468" cy="36635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D26680-9480-4626-944B-1CA8AFFF3F5E}"/>
              </a:ext>
            </a:extLst>
          </p:cNvPr>
          <p:cNvGrpSpPr/>
          <p:nvPr/>
        </p:nvGrpSpPr>
        <p:grpSpPr>
          <a:xfrm>
            <a:off x="751172" y="2561196"/>
            <a:ext cx="8061055" cy="408904"/>
            <a:chOff x="304732" y="2152742"/>
            <a:chExt cx="8061055" cy="40890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C70D4D-9B82-4DAF-9147-5B833C4D1198}"/>
                </a:ext>
              </a:extLst>
            </p:cNvPr>
            <p:cNvSpPr txBox="1"/>
            <p:nvPr/>
          </p:nvSpPr>
          <p:spPr>
            <a:xfrm>
              <a:off x="304732" y="2161536"/>
              <a:ext cx="610897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Step 2 </a:t>
              </a:r>
              <a:r>
                <a:rPr lang="en-US" dirty="0"/>
                <a:t>— Model broadcasting  </a:t>
              </a:r>
              <a:endParaRPr lang="fa-IR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231ECB4-5D8B-4237-B302-7CE4996091E3}"/>
                </a:ext>
              </a:extLst>
            </p:cNvPr>
            <p:cNvCxnSpPr/>
            <p:nvPr/>
          </p:nvCxnSpPr>
          <p:spPr>
            <a:xfrm>
              <a:off x="3405607" y="2396324"/>
              <a:ext cx="884288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8B86204-6C40-4D54-878D-F09AB2C54F26}"/>
                    </a:ext>
                  </a:extLst>
                </p:cNvPr>
                <p:cNvSpPr txBox="1"/>
                <p:nvPr/>
              </p:nvSpPr>
              <p:spPr>
                <a:xfrm>
                  <a:off x="4424356" y="2152742"/>
                  <a:ext cx="3941431" cy="3929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server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sends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 to every selected client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8B86204-6C40-4D54-878D-F09AB2C54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4356" y="2152742"/>
                  <a:ext cx="3941431" cy="392993"/>
                </a:xfrm>
                <a:prstGeom prst="rect">
                  <a:avLst/>
                </a:prstGeom>
                <a:blipFill>
                  <a:blip r:embed="rId5"/>
                  <a:stretch>
                    <a:fillRect l="-1236" t="-1538" r="-155" b="-23077"/>
                  </a:stretch>
                </a:blipFill>
              </p:spPr>
              <p:txBody>
                <a:bodyPr/>
                <a:lstStyle/>
                <a:p>
                  <a:r>
                    <a:rPr lang="fa-I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01D8F4-DF09-446F-BF09-D22CDDDC7764}"/>
              </a:ext>
            </a:extLst>
          </p:cNvPr>
          <p:cNvGrpSpPr/>
          <p:nvPr/>
        </p:nvGrpSpPr>
        <p:grpSpPr>
          <a:xfrm>
            <a:off x="751172" y="3332992"/>
            <a:ext cx="6520096" cy="405625"/>
            <a:chOff x="304732" y="2554067"/>
            <a:chExt cx="6520096" cy="40562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B4F7AA8-9E49-4162-9B14-EE94B0181FFF}"/>
                </a:ext>
              </a:extLst>
            </p:cNvPr>
            <p:cNvSpPr txBox="1"/>
            <p:nvPr/>
          </p:nvSpPr>
          <p:spPr>
            <a:xfrm>
              <a:off x="304732" y="2559582"/>
              <a:ext cx="610897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Step 4 </a:t>
              </a:r>
              <a:r>
                <a:rPr lang="en-US" dirty="0"/>
                <a:t>— Local models are returned </a:t>
              </a:r>
              <a:endParaRPr lang="fa-IR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C552656-F70B-4685-BE98-7FE9CC78D6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6202" y="2779093"/>
              <a:ext cx="2199855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49EBC55-7F4E-4EAA-ACCA-0A50C4EFEF98}"/>
                    </a:ext>
                  </a:extLst>
                </p:cNvPr>
                <p:cNvSpPr txBox="1"/>
                <p:nvPr/>
              </p:nvSpPr>
              <p:spPr>
                <a:xfrm>
                  <a:off x="6225690" y="2554067"/>
                  <a:ext cx="599138" cy="3209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a-I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a-I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fa-I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a-IR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a-IR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a-I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oMath>
                    </m:oMathPara>
                  </a14:m>
                  <a:endParaRPr lang="fa-IR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49EBC55-7F4E-4EAA-ACCA-0A50C4EFE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5690" y="2554067"/>
                  <a:ext cx="599138" cy="320985"/>
                </a:xfrm>
                <a:prstGeom prst="rect">
                  <a:avLst/>
                </a:prstGeom>
                <a:blipFill>
                  <a:blip r:embed="rId6"/>
                  <a:stretch>
                    <a:fillRect l="-5102" r="-3061" b="-21154"/>
                  </a:stretch>
                </a:blipFill>
              </p:spPr>
              <p:txBody>
                <a:bodyPr/>
                <a:lstStyle/>
                <a:p>
                  <a:r>
                    <a:rPr lang="fa-I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8F7DA9-BDBF-470F-BA8A-CBDBA696E576}"/>
              </a:ext>
            </a:extLst>
          </p:cNvPr>
          <p:cNvGrpSpPr/>
          <p:nvPr/>
        </p:nvGrpSpPr>
        <p:grpSpPr>
          <a:xfrm>
            <a:off x="751172" y="4111599"/>
            <a:ext cx="6108970" cy="1659096"/>
            <a:chOff x="351122" y="3997299"/>
            <a:chExt cx="6108970" cy="1659096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33736AB-E664-4A8E-AD26-BC28ABF165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3152" t="34993" r="34734" b="58063"/>
            <a:stretch/>
          </p:blipFill>
          <p:spPr>
            <a:xfrm>
              <a:off x="3814078" y="3997299"/>
              <a:ext cx="2281921" cy="735844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E0228FA-EA53-48BE-AEB4-A0539655CA54}"/>
                </a:ext>
              </a:extLst>
            </p:cNvPr>
            <p:cNvGrpSpPr/>
            <p:nvPr/>
          </p:nvGrpSpPr>
          <p:grpSpPr>
            <a:xfrm>
              <a:off x="351122" y="4018918"/>
              <a:ext cx="6108970" cy="1637477"/>
              <a:chOff x="304732" y="2953175"/>
              <a:chExt cx="6108970" cy="1637477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15BCDB-9CA9-467E-8AB4-634E4B27D7E1}"/>
                  </a:ext>
                </a:extLst>
              </p:cNvPr>
              <p:cNvSpPr txBox="1"/>
              <p:nvPr/>
            </p:nvSpPr>
            <p:spPr>
              <a:xfrm>
                <a:off x="304732" y="2953175"/>
                <a:ext cx="61089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Step 5</a:t>
                </a:r>
                <a:r>
                  <a:rPr lang="en-US" dirty="0"/>
                  <a:t> — Weighted averaging</a:t>
                </a:r>
                <a:endParaRPr lang="fa-IR" dirty="0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C4FF6E0-C0B5-42D8-9A33-F3D5E57087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6557" y="3191330"/>
                <a:ext cx="333933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4A50EE19-446E-4EEE-BFC9-9D5E7B3511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55376" t="48204" r="36938" b="44852"/>
              <a:stretch/>
            </p:blipFill>
            <p:spPr>
              <a:xfrm>
                <a:off x="3847751" y="3854808"/>
                <a:ext cx="1447800" cy="73584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36844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20/29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3DCE30-8329-4A79-A021-3BEF04EC80DC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BC0818-AF8D-4644-BFD8-5CBBE001CA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963" t="23688" r="39282" b="21419"/>
          <a:stretch/>
        </p:blipFill>
        <p:spPr>
          <a:xfrm>
            <a:off x="787242" y="826538"/>
            <a:ext cx="5162838" cy="50201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C0E429-D499-404A-89BE-45C4051FD673}"/>
                  </a:ext>
                </a:extLst>
              </p:cNvPr>
              <p:cNvSpPr txBox="1"/>
              <p:nvPr/>
            </p:nvSpPr>
            <p:spPr>
              <a:xfrm>
                <a:off x="6195303" y="2003619"/>
                <a:ext cx="5565437" cy="2516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 — Client fraction </a:t>
                </a:r>
                <a:r>
                  <a:rPr lang="en-US" dirty="0"/>
                  <a:t>(percentage of clients participate in each round)</a:t>
                </a:r>
              </a:p>
              <a:p>
                <a:endParaRPr lang="en-US" sz="1000" dirty="0"/>
              </a:p>
              <a:p>
                <a:r>
                  <a:rPr lang="en-US" b="1" dirty="0"/>
                  <a:t>E — Local epochs </a:t>
                </a:r>
                <a:r>
                  <a:rPr lang="en-US" dirty="0"/>
                  <a:t>(number of complete passes over the client's local dataset)</a:t>
                </a:r>
              </a:p>
              <a:p>
                <a:endParaRPr lang="en-US" sz="1000" dirty="0"/>
              </a:p>
              <a:p>
                <a:r>
                  <a:rPr lang="en-US" b="1" dirty="0"/>
                  <a:t>B — Local minibatch size </a:t>
                </a:r>
                <a:r>
                  <a:rPr lang="en-US" dirty="0"/>
                  <a:t>(Instead of training on the complete local dataset at once, divide it into minibatches)</a:t>
                </a:r>
              </a:p>
              <a:p>
                <a:endParaRPr lang="en-US" sz="1000" dirty="0"/>
              </a:p>
              <a:p>
                <a14:m>
                  <m:oMath xmlns:m="http://schemas.openxmlformats.org/officeDocument/2006/math">
                    <m:r>
                      <a:rPr lang="el-GR" sz="2000" b="1" i="1" dirty="0" smtClean="0">
                        <a:latin typeface="Cambria Math" panose="02040503050406030204" pitchFamily="18" charset="0"/>
                      </a:rPr>
                      <m:t>𝜼</m:t>
                    </m:r>
                  </m:oMath>
                </a14:m>
                <a:r>
                  <a:rPr lang="el-GR" b="1" dirty="0"/>
                  <a:t> — </a:t>
                </a:r>
                <a:r>
                  <a:rPr lang="en-US" b="1" dirty="0"/>
                  <a:t>Learning rate </a:t>
                </a:r>
                <a:r>
                  <a:rPr lang="en-US" dirty="0"/>
                  <a:t>(controls the step size of local SGD)</a:t>
                </a:r>
                <a:endParaRPr lang="fa-I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C0E429-D499-404A-89BE-45C4051FD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303" y="2003619"/>
                <a:ext cx="5565437" cy="2516651"/>
              </a:xfrm>
              <a:prstGeom prst="rect">
                <a:avLst/>
              </a:prstGeom>
              <a:blipFill>
                <a:blip r:embed="rId4"/>
                <a:stretch>
                  <a:fillRect l="-876" t="-1453" r="-876" b="-2906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207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21/29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3DCE30-8329-4A79-A021-3BEF04EC80DC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575CF-0C27-48F7-924B-69AAF58B64C6}"/>
              </a:ext>
            </a:extLst>
          </p:cNvPr>
          <p:cNvSpPr txBox="1"/>
          <p:nvPr/>
        </p:nvSpPr>
        <p:spPr>
          <a:xfrm>
            <a:off x="4242881" y="742637"/>
            <a:ext cx="3706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Effect of Local Computation</a:t>
            </a:r>
            <a:endParaRPr lang="fa-IR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31B66-F618-484A-8144-53CC55DD2D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90" t="57447" r="37686" b="35821"/>
          <a:stretch/>
        </p:blipFill>
        <p:spPr>
          <a:xfrm>
            <a:off x="5673924" y="1202535"/>
            <a:ext cx="1103147" cy="6712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33F5A5-880C-4F6D-AC9E-E930190B9FD1}"/>
              </a:ext>
            </a:extLst>
          </p:cNvPr>
          <p:cNvSpPr txBox="1"/>
          <p:nvPr/>
        </p:nvSpPr>
        <p:spPr>
          <a:xfrm>
            <a:off x="176465" y="1343186"/>
            <a:ext cx="4781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Number of local updates per client per round</a:t>
            </a:r>
            <a:endParaRPr lang="fa-I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8B97CB-0969-4D24-829B-08CA343781A6}"/>
              </a:ext>
            </a:extLst>
          </p:cNvPr>
          <p:cNvCxnSpPr/>
          <p:nvPr/>
        </p:nvCxnSpPr>
        <p:spPr>
          <a:xfrm>
            <a:off x="4839534" y="1566644"/>
            <a:ext cx="69066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">
            <a:extLst>
              <a:ext uri="{FF2B5EF4-FFF2-40B4-BE49-F238E27FC236}">
                <a16:creationId xmlns:a16="http://schemas.microsoft.com/office/drawing/2014/main" id="{4A4545A4-2143-422D-B768-25081F9D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16" y="1873744"/>
            <a:ext cx="42333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= local epochs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= total number of examples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 = number of clients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fa-I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= minibatch size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B86E7D-8E4B-4BF9-9131-977157E6BC76}"/>
              </a:ext>
            </a:extLst>
          </p:cNvPr>
          <p:cNvSpPr txBox="1"/>
          <p:nvPr/>
        </p:nvSpPr>
        <p:spPr>
          <a:xfrm>
            <a:off x="176465" y="3185568"/>
            <a:ext cx="6025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More local computation  </a:t>
            </a:r>
            <a:r>
              <a:rPr lang="en-US" sz="2400" dirty="0"/>
              <a:t>⇒</a:t>
            </a:r>
            <a:r>
              <a:rPr lang="en-US" dirty="0"/>
              <a:t>  Fewer communication rounds</a:t>
            </a:r>
            <a:endParaRPr lang="fa-IR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DEEB8A2-2D97-4C8E-A222-11A45644DF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117" t="36354" r="9140" b="42270"/>
          <a:stretch/>
        </p:blipFill>
        <p:spPr>
          <a:xfrm>
            <a:off x="6116057" y="1842560"/>
            <a:ext cx="5912604" cy="239030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972A22-9EC0-4595-A8A7-13DF72DFCFB9}"/>
              </a:ext>
            </a:extLst>
          </p:cNvPr>
          <p:cNvSpPr txBox="1"/>
          <p:nvPr/>
        </p:nvSpPr>
        <p:spPr>
          <a:xfrm>
            <a:off x="1773820" y="3831465"/>
            <a:ext cx="2642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E↑  ⇒  communication↓</a:t>
            </a:r>
            <a:endParaRPr lang="fa-I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47E4E-D333-4E5B-81D3-A0711EC44061}"/>
              </a:ext>
            </a:extLst>
          </p:cNvPr>
          <p:cNvSpPr txBox="1"/>
          <p:nvPr/>
        </p:nvSpPr>
        <p:spPr>
          <a:xfrm>
            <a:off x="1674040" y="4286673"/>
            <a:ext cx="284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E↑↑  ⇒  possible instability</a:t>
            </a:r>
            <a:endParaRPr lang="fa-IR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4BC96FB-6CAD-4330-B485-55A6B696AF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901" t="57479" r="9356" b="26588"/>
          <a:stretch/>
        </p:blipFill>
        <p:spPr>
          <a:xfrm>
            <a:off x="6096000" y="4230708"/>
            <a:ext cx="5912604" cy="178164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02867F3-6247-4AC0-9589-288CB5AA3932}"/>
              </a:ext>
            </a:extLst>
          </p:cNvPr>
          <p:cNvSpPr txBox="1"/>
          <p:nvPr/>
        </p:nvSpPr>
        <p:spPr>
          <a:xfrm>
            <a:off x="176464" y="4784829"/>
            <a:ext cx="5353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Very large numbers of local epochs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plateauing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divergence</a:t>
            </a:r>
          </a:p>
        </p:txBody>
      </p:sp>
    </p:spTree>
    <p:extLst>
      <p:ext uri="{BB962C8B-B14F-4D97-AF65-F5344CB8AC3E}">
        <p14:creationId xmlns:p14="http://schemas.microsoft.com/office/powerpoint/2010/main" val="40537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22/29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3DCE30-8329-4A79-A021-3BEF04EC80DC}"/>
              </a:ext>
            </a:extLst>
          </p:cNvPr>
          <p:cNvSpPr txBox="1"/>
          <p:nvPr/>
        </p:nvSpPr>
        <p:spPr>
          <a:xfrm>
            <a:off x="308178" y="6090166"/>
            <a:ext cx="115756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303030"/>
                </a:solidFill>
                <a:effectLst/>
                <a:latin typeface="-apple-system"/>
              </a:rPr>
              <a:t>Brendan McMahan </a:t>
            </a:r>
            <a:r>
              <a:rPr lang="en-US" sz="14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et al.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“</a:t>
            </a:r>
            <a:r>
              <a:rPr lang="en-US" sz="1400" i="0" dirty="0">
                <a:solidFill>
                  <a:srgbClr val="000000"/>
                </a:solidFill>
                <a:effectLst/>
                <a:latin typeface="Lucida Grande"/>
              </a:rPr>
              <a:t>Communication-Efficient Learning of Deep Networks from Decentralized Data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arXiv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2023. </a:t>
            </a:r>
            <a:r>
              <a:rPr lang="en-US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doi</a:t>
            </a:r>
            <a:r>
              <a:rPr lang="en-US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 </a:t>
            </a:r>
            <a:r>
              <a:rPr lang="en-US" sz="1400" u="none" strike="noStrike" dirty="0">
                <a:effectLst/>
              </a:rPr>
              <a:t>10.48550/</a:t>
            </a:r>
            <a:r>
              <a:rPr lang="en-US" sz="1400" u="none" strike="noStrike" dirty="0" err="1">
                <a:effectLst/>
              </a:rPr>
              <a:t>arXiv.1602.05629</a:t>
            </a: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.</a:t>
            </a:r>
            <a:endParaRPr lang="fa-I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1A409-9D2A-42C1-AAC6-7DB28DC972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27" t="23121" r="41420" b="13759"/>
          <a:stretch/>
        </p:blipFill>
        <p:spPr>
          <a:xfrm>
            <a:off x="6846897" y="688063"/>
            <a:ext cx="5275128" cy="52736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0E54A7-2532-435B-8C90-C58578A72E13}"/>
              </a:ext>
            </a:extLst>
          </p:cNvPr>
          <p:cNvSpPr txBox="1"/>
          <p:nvPr/>
        </p:nvSpPr>
        <p:spPr>
          <a:xfrm>
            <a:off x="165368" y="936120"/>
            <a:ext cx="4924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23× Communication Reduction Result</a:t>
            </a:r>
            <a:endParaRPr lang="fa-IR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95D0F-7634-4D32-B67D-0994DFD7EB27}"/>
              </a:ext>
            </a:extLst>
          </p:cNvPr>
          <p:cNvSpPr txBox="1"/>
          <p:nvPr/>
        </p:nvSpPr>
        <p:spPr>
          <a:xfrm>
            <a:off x="165368" y="1800006"/>
            <a:ext cx="668152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FedSGD</a:t>
            </a:r>
            <a:endParaRPr lang="en-US" sz="2000" b="1" dirty="0"/>
          </a:p>
          <a:p>
            <a:r>
              <a:rPr lang="en-US" dirty="0"/>
              <a:t>Required 820 communication rounds to achieve 10.5% test accuracy.</a:t>
            </a:r>
          </a:p>
          <a:p>
            <a:endParaRPr lang="en-US" dirty="0"/>
          </a:p>
          <a:p>
            <a:r>
              <a:rPr lang="en-US" sz="2000" b="1" dirty="0" err="1"/>
              <a:t>FedAvg</a:t>
            </a:r>
            <a:endParaRPr lang="en-US" sz="2000" b="1" dirty="0"/>
          </a:p>
          <a:p>
            <a:r>
              <a:rPr lang="en-US" dirty="0"/>
              <a:t>Required only 35 communication rounds to achieve the same 10.5% test accuracy.</a:t>
            </a:r>
          </a:p>
          <a:p>
            <a:r>
              <a:rPr lang="en-US" dirty="0"/>
              <a:t> </a:t>
            </a:r>
          </a:p>
          <a:p>
            <a:pPr algn="ctr"/>
            <a:r>
              <a:rPr lang="en-US" dirty="0"/>
              <a:t>820 / 35 ≈ 23.4  </a:t>
            </a:r>
          </a:p>
          <a:p>
            <a:pPr algn="ctr"/>
            <a:endParaRPr lang="en-US" dirty="0"/>
          </a:p>
          <a:p>
            <a:r>
              <a:rPr lang="en-US" dirty="0"/>
              <a:t>approximately 23× fewer communication rounds</a:t>
            </a:r>
          </a:p>
        </p:txBody>
      </p:sp>
    </p:spTree>
    <p:extLst>
      <p:ext uri="{BB962C8B-B14F-4D97-AF65-F5344CB8AC3E}">
        <p14:creationId xmlns:p14="http://schemas.microsoft.com/office/powerpoint/2010/main" val="2047571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23/29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5FDB2B91-CDF4-4AA2-89DF-0E1840D11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433914"/>
              </p:ext>
            </p:extLst>
          </p:nvPr>
        </p:nvGraphicFramePr>
        <p:xfrm>
          <a:off x="791319" y="2050433"/>
          <a:ext cx="5304681" cy="1492570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70435">
                  <a:extLst>
                    <a:ext uri="{9D8B030D-6E8A-4147-A177-3AD203B41FA5}">
                      <a16:colId xmlns:a16="http://schemas.microsoft.com/office/drawing/2014/main" val="181906187"/>
                    </a:ext>
                  </a:extLst>
                </a:gridCol>
                <a:gridCol w="1994171">
                  <a:extLst>
                    <a:ext uri="{9D8B030D-6E8A-4147-A177-3AD203B41FA5}">
                      <a16:colId xmlns:a16="http://schemas.microsoft.com/office/drawing/2014/main" val="3234017460"/>
                    </a:ext>
                  </a:extLst>
                </a:gridCol>
                <a:gridCol w="1540075">
                  <a:extLst>
                    <a:ext uri="{9D8B030D-6E8A-4147-A177-3AD203B41FA5}">
                      <a16:colId xmlns:a16="http://schemas.microsoft.com/office/drawing/2014/main" val="1362388786"/>
                    </a:ext>
                  </a:extLst>
                </a:gridCol>
              </a:tblGrid>
              <a:tr h="4273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</a:rPr>
                        <a:t>MNIST</a:t>
                      </a:r>
                      <a:endParaRPr lang="fa-I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</a:rPr>
                        <a:t>CIFAR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endParaRPr lang="fa-I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/>
                      <a:endParaRPr lang="fa-I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015046"/>
                  </a:ext>
                </a:extLst>
              </a:tr>
              <a:tr h="63783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98.87 %</a:t>
                      </a:r>
                      <a:endParaRPr lang="fa-I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68.70 %</a:t>
                      </a:r>
                      <a:endParaRPr lang="fa-I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IID</a:t>
                      </a:r>
                      <a:endParaRPr lang="fa-I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737376"/>
                  </a:ext>
                </a:extLst>
              </a:tr>
              <a:tr h="427368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98.05 %</a:t>
                      </a:r>
                      <a:endParaRPr lang="fa-I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68.11 %</a:t>
                      </a:r>
                      <a:endParaRPr lang="fa-I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Non-IID</a:t>
                      </a:r>
                      <a:endParaRPr lang="fa-I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36842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9B4B8E-CCB5-4A78-879C-9870E5BDBEA9}"/>
                  </a:ext>
                </a:extLst>
              </p:cNvPr>
              <p:cNvSpPr txBox="1"/>
              <p:nvPr/>
            </p:nvSpPr>
            <p:spPr>
              <a:xfrm>
                <a:off x="542563" y="4776444"/>
                <a:ext cx="865742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Model CNN, Dataset </a:t>
                </a:r>
                <a:r>
                  <a:rPr lang="en-US" dirty="0" err="1"/>
                  <a:t>CIFAR</a:t>
                </a:r>
                <a:r>
                  <a:rPr lang="en-US" dirty="0"/>
                  <a:t> or </a:t>
                </a:r>
                <a:r>
                  <a:rPr lang="en-US" dirty="0" err="1"/>
                  <a:t>MNIST</a:t>
                </a:r>
                <a:r>
                  <a:rPr lang="en-US" dirty="0"/>
                  <a:t>, epochs 100 and 300, </a:t>
                </a:r>
                <a14:m>
                  <m:oMath xmlns:m="http://schemas.openxmlformats.org/officeDocument/2006/math">
                    <m:r>
                      <a:rPr lang="el-GR" sz="1800" b="0" i="1" dirty="0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 0.01, local-ep 5, local bs 32 </a:t>
                </a:r>
                <a:endParaRPr lang="fa-I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9B4B8E-CCB5-4A78-879C-9870E5BDB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63" y="4776444"/>
                <a:ext cx="8657421" cy="369332"/>
              </a:xfrm>
              <a:prstGeom prst="rect">
                <a:avLst/>
              </a:prstGeom>
              <a:blipFill>
                <a:blip r:embed="rId3"/>
                <a:stretch>
                  <a:fillRect l="-563" t="-10000" b="-26667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F88E82E-7A35-4BFB-A2BF-CEEEB35DCF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1" t="7132" r="22668"/>
          <a:stretch/>
        </p:blipFill>
        <p:spPr>
          <a:xfrm>
            <a:off x="7477901" y="1507597"/>
            <a:ext cx="3765488" cy="29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2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2823133" y="2367171"/>
            <a:ext cx="65457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6"/>
                </a:solidFill>
                <a:cs typeface="B Nazanin" panose="00000400000000000000" pitchFamily="2" charset="-78"/>
              </a:rPr>
              <a:t>Future works and Conclusion</a:t>
            </a:r>
            <a:endParaRPr lang="fa-IR" sz="6600" b="1" dirty="0">
              <a:solidFill>
                <a:schemeClr val="accent6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7916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25/29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4430066" y="124987"/>
            <a:ext cx="333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Future works and Conclusion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3732AB-DC55-4D05-B807-C1A704632959}"/>
              </a:ext>
            </a:extLst>
          </p:cNvPr>
          <p:cNvSpPr txBox="1"/>
          <p:nvPr/>
        </p:nvSpPr>
        <p:spPr>
          <a:xfrm>
            <a:off x="1314450" y="1789310"/>
            <a:ext cx="589633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Strengths</a:t>
            </a:r>
          </a:p>
          <a:p>
            <a:endParaRPr lang="en-US" sz="12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Simplicity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Communication efficiency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Non-IID robustness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Model diversity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Practical motivation</a:t>
            </a:r>
            <a:endParaRPr lang="fa-IR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8743C-4C4E-4596-A62F-0C7D262DC439}"/>
              </a:ext>
            </a:extLst>
          </p:cNvPr>
          <p:cNvSpPr txBox="1"/>
          <p:nvPr/>
        </p:nvSpPr>
        <p:spPr>
          <a:xfrm>
            <a:off x="7416675" y="1789310"/>
            <a:ext cx="346087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Limitations</a:t>
            </a:r>
          </a:p>
          <a:p>
            <a:endParaRPr lang="en-US" sz="12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Privacy is not guaranteed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Client heterogeneity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Synchronous operation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Non-IID remains difficult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Hyperparameter selection</a:t>
            </a:r>
            <a:endParaRPr lang="fa-IR" sz="2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11A459-F1FE-49B0-8DE3-5EBA503E10B4}"/>
              </a:ext>
            </a:extLst>
          </p:cNvPr>
          <p:cNvCxnSpPr>
            <a:cxnSpLocks/>
          </p:cNvCxnSpPr>
          <p:nvPr/>
        </p:nvCxnSpPr>
        <p:spPr>
          <a:xfrm>
            <a:off x="6048375" y="1426368"/>
            <a:ext cx="0" cy="397430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59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26/29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2AE13F-623C-4F50-8DF8-0770CEAB6690}"/>
              </a:ext>
            </a:extLst>
          </p:cNvPr>
          <p:cNvSpPr txBox="1"/>
          <p:nvPr/>
        </p:nvSpPr>
        <p:spPr>
          <a:xfrm>
            <a:off x="4841081" y="707248"/>
            <a:ext cx="2509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Future Directions</a:t>
            </a:r>
            <a:endParaRPr lang="fa-IR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89A27-C53D-4383-A1CB-CE86F8778924}"/>
              </a:ext>
            </a:extLst>
          </p:cNvPr>
          <p:cNvSpPr txBox="1"/>
          <p:nvPr/>
        </p:nvSpPr>
        <p:spPr>
          <a:xfrm>
            <a:off x="834393" y="1148600"/>
            <a:ext cx="61055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Privacy</a:t>
            </a:r>
          </a:p>
          <a:p>
            <a:r>
              <a:rPr lang="en-US" dirty="0"/>
              <a:t>     make the training process mathematically private</a:t>
            </a:r>
          </a:p>
          <a:p>
            <a:r>
              <a:rPr lang="en-US" b="1" dirty="0"/>
              <a:t>2. Security</a:t>
            </a:r>
          </a:p>
          <a:p>
            <a:r>
              <a:rPr lang="en-US" dirty="0"/>
              <a:t>    defend against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malicious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poisoned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inversion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inference attacks</a:t>
            </a:r>
          </a:p>
          <a:p>
            <a:r>
              <a:rPr lang="en-US" b="1" dirty="0"/>
              <a:t>3. Communication</a:t>
            </a:r>
          </a:p>
          <a:p>
            <a:r>
              <a:rPr lang="en-US" dirty="0"/>
              <a:t>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uplink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downlink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rounds</a:t>
            </a:r>
            <a:endParaRPr lang="en-US" b="1" dirty="0"/>
          </a:p>
          <a:p>
            <a:r>
              <a:rPr lang="en-US" b="1" dirty="0"/>
              <a:t>4. Heterogeneity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device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network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local datasets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F3515-AC07-449B-9BF9-3722A1AA36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12" t="24180" r="27793" b="33475"/>
          <a:stretch/>
        </p:blipFill>
        <p:spPr>
          <a:xfrm>
            <a:off x="5305979" y="2153195"/>
            <a:ext cx="6180925" cy="3159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FB17BC-6450-4810-B8AA-3E74E6777A60}"/>
              </a:ext>
            </a:extLst>
          </p:cNvPr>
          <p:cNvSpPr txBox="1"/>
          <p:nvPr/>
        </p:nvSpPr>
        <p:spPr>
          <a:xfrm>
            <a:off x="4430066" y="124987"/>
            <a:ext cx="333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Future works and Conclusion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96731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27/29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4573883" y="110268"/>
            <a:ext cx="3044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References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0D63B6-A919-4890-9451-F26AF073814B}"/>
              </a:ext>
            </a:extLst>
          </p:cNvPr>
          <p:cNvSpPr txBox="1"/>
          <p:nvPr/>
        </p:nvSpPr>
        <p:spPr>
          <a:xfrm>
            <a:off x="1024675" y="1553892"/>
            <a:ext cx="9734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S. </a:t>
            </a:r>
            <a:r>
              <a:rPr lang="en-US" b="0" i="0" dirty="0" err="1">
                <a:effectLst/>
              </a:rPr>
              <a:t>Niknam</a:t>
            </a:r>
            <a:r>
              <a:rPr lang="en-US" b="0" i="0" dirty="0">
                <a:effectLst/>
              </a:rPr>
              <a:t>, H. S. Dhillon and J. H. Reed, "Federated Learning for Wireless Communications: Motivation, Opportunities, and Challenges," in </a:t>
            </a:r>
            <a:r>
              <a:rPr lang="en-US" b="0" i="1" dirty="0">
                <a:effectLst/>
              </a:rPr>
              <a:t>IEEE Communications Magazine</a:t>
            </a:r>
            <a:r>
              <a:rPr lang="en-US" b="0" i="0" dirty="0">
                <a:effectLst/>
              </a:rPr>
              <a:t>, vol. 58, no. 6, pp. 46-51, June 2020, </a:t>
            </a:r>
            <a:r>
              <a:rPr lang="en-US" b="0" i="0" dirty="0" err="1">
                <a:effectLst/>
              </a:rPr>
              <a:t>doi</a:t>
            </a:r>
            <a:r>
              <a:rPr lang="en-US" b="0" i="0" dirty="0">
                <a:effectLst/>
              </a:rPr>
              <a:t>: 10.1109/</a:t>
            </a:r>
            <a:r>
              <a:rPr lang="en-US" b="0" i="0" dirty="0" err="1">
                <a:effectLst/>
              </a:rPr>
              <a:t>MCOM.001.1900461</a:t>
            </a:r>
            <a:r>
              <a:rPr lang="en-US" b="0" i="0" dirty="0">
                <a:effectLst/>
              </a:rPr>
              <a:t>.</a:t>
            </a:r>
          </a:p>
          <a:p>
            <a:pPr algn="just"/>
            <a:endParaRPr lang="en-US" b="0" i="0" dirty="0">
              <a:effectLst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Chen Zhang, Yu </a:t>
            </a:r>
            <a:r>
              <a:rPr lang="en-US" dirty="0" err="1"/>
              <a:t>Xie</a:t>
            </a:r>
            <a:r>
              <a:rPr lang="en-US" dirty="0"/>
              <a:t>, Hang Bai, Bin Yu, </a:t>
            </a:r>
            <a:r>
              <a:rPr lang="en-US" dirty="0" err="1"/>
              <a:t>Weihong</a:t>
            </a:r>
            <a:r>
              <a:rPr lang="en-US" dirty="0"/>
              <a:t> Li, Yuan Gao, ‘’A survey on federated,’’ in </a:t>
            </a:r>
            <a:r>
              <a:rPr lang="en-US" dirty="0" err="1"/>
              <a:t>sciencedirect</a:t>
            </a:r>
            <a:r>
              <a:rPr lang="en-US" dirty="0"/>
              <a:t>, Volume 216, 2021, ISSN 0950-7051, </a:t>
            </a:r>
            <a:r>
              <a:rPr lang="en-US" dirty="0" err="1"/>
              <a:t>doi</a:t>
            </a:r>
            <a:r>
              <a:rPr lang="en-US" dirty="0"/>
              <a:t>: 10.1016/</a:t>
            </a:r>
            <a:r>
              <a:rPr lang="en-US" dirty="0" err="1"/>
              <a:t>j.knosys.2021.106775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0" i="0" strike="noStrike" dirty="0">
                <a:effectLst/>
              </a:rPr>
              <a:t>Peter </a:t>
            </a:r>
            <a:r>
              <a:rPr lang="en-US" b="0" i="0" strike="noStrike" dirty="0" err="1">
                <a:effectLst/>
              </a:rPr>
              <a:t>Kairouz</a:t>
            </a:r>
            <a:r>
              <a:rPr lang="en-US" b="0" i="0" dirty="0">
                <a:effectLst/>
              </a:rPr>
              <a:t>, et all., ‘’ Advances and Open Problems in Federated Learning, ‘’ </a:t>
            </a:r>
            <a:r>
              <a:rPr lang="en-US" b="0" i="0" dirty="0" err="1">
                <a:effectLst/>
              </a:rPr>
              <a:t>arXiv</a:t>
            </a:r>
            <a:r>
              <a:rPr lang="en-US" b="0" i="0" dirty="0">
                <a:effectLst/>
              </a:rPr>
              <a:t>, 2021, </a:t>
            </a:r>
            <a:r>
              <a:rPr lang="en-US" b="0" i="0" dirty="0" err="1">
                <a:effectLst/>
              </a:rPr>
              <a:t>doi</a:t>
            </a:r>
            <a:r>
              <a:rPr lang="en-US" b="0" i="0" dirty="0">
                <a:effectLst/>
              </a:rPr>
              <a:t>: 10.48550/</a:t>
            </a:r>
            <a:r>
              <a:rPr lang="en-US" b="0" i="0" dirty="0" err="1">
                <a:effectLst/>
              </a:rPr>
              <a:t>arXiv.1912.04977</a:t>
            </a:r>
            <a:r>
              <a:rPr lang="en-US" b="0" i="0" dirty="0">
                <a:effectLst/>
              </a:rPr>
              <a:t>.</a:t>
            </a:r>
          </a:p>
          <a:p>
            <a:pPr algn="just"/>
            <a:endParaRPr lang="en-US" b="0" i="0" dirty="0">
              <a:effectLst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effectLst/>
              </a:rPr>
              <a:t>Brendan McMahan </a:t>
            </a:r>
            <a:r>
              <a:rPr lang="en-US" dirty="0">
                <a:effectLst/>
                <a:ea typeface="Calibri" panose="020F0502020204030204" pitchFamily="34" charset="0"/>
              </a:rPr>
              <a:t>et al., “</a:t>
            </a:r>
            <a:r>
              <a:rPr lang="en-US" i="0" dirty="0">
                <a:effectLst/>
              </a:rPr>
              <a:t>Communication-Efficient Learning of Deep Networks from Decentralized Data</a:t>
            </a:r>
            <a:r>
              <a:rPr lang="en-US" dirty="0">
                <a:effectLst/>
                <a:ea typeface="Calibri" panose="020F0502020204030204" pitchFamily="34" charset="0"/>
              </a:rPr>
              <a:t>” </a:t>
            </a:r>
            <a:r>
              <a:rPr lang="en-US" dirty="0" err="1">
                <a:effectLst/>
                <a:ea typeface="Calibri" panose="020F0502020204030204" pitchFamily="34" charset="0"/>
              </a:rPr>
              <a:t>arXiv</a:t>
            </a:r>
            <a:r>
              <a:rPr lang="en-US" dirty="0">
                <a:effectLst/>
                <a:ea typeface="Calibri" panose="020F0502020204030204" pitchFamily="34" charset="0"/>
              </a:rPr>
              <a:t>, 2023, </a:t>
            </a:r>
            <a:r>
              <a:rPr lang="en-US" dirty="0" err="1">
                <a:effectLst/>
                <a:ea typeface="Calibri" panose="020F0502020204030204" pitchFamily="34" charset="0"/>
              </a:rPr>
              <a:t>doi</a:t>
            </a:r>
            <a:r>
              <a:rPr lang="en-US" dirty="0">
                <a:effectLst/>
                <a:ea typeface="Calibri" panose="020F0502020204030204" pitchFamily="34" charset="0"/>
              </a:rPr>
              <a:t>: </a:t>
            </a:r>
            <a:r>
              <a:rPr lang="en-US" u="none" strike="noStrike" dirty="0">
                <a:effectLst/>
              </a:rPr>
              <a:t>10.48550/</a:t>
            </a:r>
            <a:r>
              <a:rPr lang="en-US" u="none" strike="noStrike" dirty="0" err="1">
                <a:effectLst/>
              </a:rPr>
              <a:t>arXiv.1602.05629</a:t>
            </a:r>
            <a:r>
              <a:rPr lang="en-US" dirty="0">
                <a:effectLst/>
                <a:ea typeface="Calibri" panose="020F0502020204030204" pitchFamily="34" charset="0"/>
              </a:rPr>
              <a:t>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593807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28/29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760067" y="116139"/>
            <a:ext cx="671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Quiz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1905000" y="6484459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2060"/>
                </a:solidFill>
                <a:effectLst/>
                <a:latin typeface="NimbusRomNo9L-Regu"/>
              </a:rPr>
              <a:t>Federated Learning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fa-IR" sz="14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030B90-A3EB-4980-8B9E-A9902873F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4" y="1095375"/>
            <a:ext cx="46672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81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35FF11-2C99-CE54-8FB0-85C6875591F9}"/>
              </a:ext>
            </a:extLst>
          </p:cNvPr>
          <p:cNvGrpSpPr/>
          <p:nvPr/>
        </p:nvGrpSpPr>
        <p:grpSpPr>
          <a:xfrm>
            <a:off x="688461" y="890587"/>
            <a:ext cx="5588514" cy="5076825"/>
            <a:chOff x="2321751" y="2594796"/>
            <a:chExt cx="4380463" cy="41179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62E286-5450-9E87-CD69-E66A1868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1751" y="4033705"/>
              <a:ext cx="544337" cy="138311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8B4B17-1AAF-8A9A-7A55-B75595664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600720" y="3973353"/>
              <a:ext cx="327537" cy="41226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22AA39-AACB-3A50-CFA2-A48F92050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888204" y="4122968"/>
              <a:ext cx="814010" cy="9808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6D0E1D-681F-DBD4-8EDB-9227DDC54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28393" y="2594796"/>
              <a:ext cx="906212" cy="90101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417E62-F5AE-3C5C-242F-1D10B64DE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18" t="37209" r="32404" b="14427"/>
            <a:stretch/>
          </p:blipFill>
          <p:spPr>
            <a:xfrm>
              <a:off x="2883505" y="3352800"/>
              <a:ext cx="2942530" cy="274492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861384-D83B-E1F9-4150-B1BFC286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9970" y="6110748"/>
              <a:ext cx="609600" cy="60196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2749B4-0030-CA77-D0CB-0B77D7826A2D}"/>
              </a:ext>
            </a:extLst>
          </p:cNvPr>
          <p:cNvGrpSpPr/>
          <p:nvPr/>
        </p:nvGrpSpPr>
        <p:grpSpPr>
          <a:xfrm>
            <a:off x="6885994" y="2143125"/>
            <a:ext cx="4451400" cy="2571750"/>
            <a:chOff x="6668278" y="2247900"/>
            <a:chExt cx="4451400" cy="257175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CF32949-7C6F-85F8-6C2E-3CCBEE7A0606}"/>
                </a:ext>
              </a:extLst>
            </p:cNvPr>
            <p:cNvSpPr/>
            <p:nvPr/>
          </p:nvSpPr>
          <p:spPr>
            <a:xfrm>
              <a:off x="6991350" y="2247900"/>
              <a:ext cx="4128328" cy="2571750"/>
            </a:xfrm>
            <a:prstGeom prst="roundRect">
              <a:avLst/>
            </a:prstGeom>
            <a:noFill/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F4BD98-47E3-3627-0176-DD1FC5DE99F9}"/>
                </a:ext>
              </a:extLst>
            </p:cNvPr>
            <p:cNvSpPr txBox="1"/>
            <p:nvPr/>
          </p:nvSpPr>
          <p:spPr>
            <a:xfrm>
              <a:off x="6668278" y="2916993"/>
              <a:ext cx="4343839" cy="132343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400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Constantia" panose="02030602050306030303" pitchFamily="18" charset="0"/>
                  <a:cs typeface="+mj-cs"/>
                </a:rPr>
                <a:t>Thank you for your attention</a:t>
              </a:r>
              <a:endParaRPr lang="fa-IR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nstantia" panose="02030602050306030303" pitchFamily="18" charset="0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59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1434</Words>
  <Application>Microsoft Office PowerPoint</Application>
  <PresentationFormat>Widescreen</PresentationFormat>
  <Paragraphs>350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-apple-system</vt:lpstr>
      <vt:lpstr>Arial</vt:lpstr>
      <vt:lpstr>Calibri</vt:lpstr>
      <vt:lpstr>Calibri Light</vt:lpstr>
      <vt:lpstr>Cambria Math</vt:lpstr>
      <vt:lpstr>Constantia</vt:lpstr>
      <vt:lpstr>Courier New</vt:lpstr>
      <vt:lpstr>Georgia</vt:lpstr>
      <vt:lpstr>Lucida Grande</vt:lpstr>
      <vt:lpstr>NimbusRomNo9L-Regu</vt:lpstr>
      <vt:lpstr>Wingdings</vt:lpstr>
      <vt:lpstr>Office Theme</vt:lpstr>
      <vt:lpstr>TP558 - Tópicos avançados em Machine Learning  Federated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TP558 - Tópicos avançados em Machine Learning Federated Learning</dc:title>
  <dc:creator>User</dc:creator>
  <cp:lastModifiedBy>User</cp:lastModifiedBy>
  <cp:revision>154</cp:revision>
  <dcterms:created xsi:type="dcterms:W3CDTF">2026-08-27T19:44:46Z</dcterms:created>
  <dcterms:modified xsi:type="dcterms:W3CDTF">2026-08-31T20:36:10Z</dcterms:modified>
</cp:coreProperties>
</file>