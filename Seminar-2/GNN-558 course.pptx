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259" r:id="rId3"/>
    <p:sldId id="260" r:id="rId4"/>
    <p:sldId id="294" r:id="rId5"/>
    <p:sldId id="332" r:id="rId6"/>
    <p:sldId id="352" r:id="rId7"/>
    <p:sldId id="333" r:id="rId8"/>
    <p:sldId id="328" r:id="rId9"/>
    <p:sldId id="336" r:id="rId10"/>
    <p:sldId id="335" r:id="rId11"/>
    <p:sldId id="334" r:id="rId12"/>
    <p:sldId id="353" r:id="rId13"/>
    <p:sldId id="354" r:id="rId14"/>
    <p:sldId id="355" r:id="rId15"/>
    <p:sldId id="356" r:id="rId16"/>
    <p:sldId id="301" r:id="rId17"/>
    <p:sldId id="329" r:id="rId18"/>
    <p:sldId id="357" r:id="rId19"/>
    <p:sldId id="358" r:id="rId20"/>
    <p:sldId id="359" r:id="rId21"/>
    <p:sldId id="305" r:id="rId22"/>
    <p:sldId id="330" r:id="rId23"/>
    <p:sldId id="360" r:id="rId24"/>
    <p:sldId id="361" r:id="rId25"/>
    <p:sldId id="372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10" r:id="rId37"/>
    <p:sldId id="346" r:id="rId38"/>
    <p:sldId id="348" r:id="rId39"/>
    <p:sldId id="349" r:id="rId40"/>
    <p:sldId id="327" r:id="rId41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A33D"/>
    <a:srgbClr val="0B2545"/>
    <a:srgbClr val="D6A300"/>
    <a:srgbClr val="AC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PCGNN (proposed GNN)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fa-I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K=10</c:v>
                </c:pt>
                <c:pt idx="1">
                  <c:v>K=20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F-4022-BE35-AC9DB0AB6E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fa-I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K=10</c:v>
                </c:pt>
                <c:pt idx="1">
                  <c:v>K=20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4000</c:v>
                </c:pt>
                <c:pt idx="1">
                  <c:v>64000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F-4022-BE35-AC9DB0AB6E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fa-I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0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Training samples (log scale)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fa-I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Power</c:v>
                </c:pt>
              </c:strCache>
            </c:strRef>
          </c:tx>
          <c:spPr>
            <a:solidFill>
              <a:srgbClr val="9AA7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fa-I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K=6</c:v>
                </c:pt>
                <c:pt idx="1">
                  <c:v>K=8</c:v>
                </c:pt>
                <c:pt idx="2">
                  <c:v>K=10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46.3</c:v>
                </c:pt>
                <c:pt idx="1">
                  <c:v>35.799999999999997</c:v>
                </c:pt>
                <c:pt idx="2">
                  <c:v>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A-4638-9E7F-1661E41E23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fa-I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K=6</c:v>
                </c:pt>
                <c:pt idx="1">
                  <c:v>K=8</c:v>
                </c:pt>
                <c:pt idx="2">
                  <c:v>K=10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84.4</c:v>
                </c:pt>
                <c:pt idx="1">
                  <c:v>74.8</c:v>
                </c:pt>
                <c:pt idx="2">
                  <c:v>70.5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BA-4638-9E7F-1661E41E23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CF-PCGNN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fa-I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K=6</c:v>
                </c:pt>
                <c:pt idx="1">
                  <c:v>K=8</c:v>
                </c:pt>
                <c:pt idx="2">
                  <c:v>K=10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95.1</c:v>
                </c:pt>
                <c:pt idx="1">
                  <c:v>93.1</c:v>
                </c:pt>
                <c:pt idx="2">
                  <c:v>91.4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BA-4638-9E7F-1661E41E23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fa-I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fa-I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fa-I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951C7C-A2FA-427E-97BD-343ECF258B32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AC9A69A0-07FC-4F82-AB6B-A0C40671D6B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619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51D0-8DAB-4B76-9B45-D612D57A1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3091F-4675-4B73-ACD8-378A712AC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EDFA-674C-43ED-B5C2-B2E3EA19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93DE-C1F6-410A-BD9D-7DAA7430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A9A2-1B2C-41CE-A5D3-2820793D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9346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F800-2C5F-4751-98A9-8314F9D3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BE00-1ADD-41ED-A608-2532A9F9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102C3-FA60-455E-8445-0CF481F3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C0E9-2DD1-4DBD-97F2-2EAF8E7F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360B-7840-4F7B-9ACA-EE19674E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04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2541-0A3F-4350-AACB-0F7C1D37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426A2-62D5-4C7E-A8A8-6CC753865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63E2B-589F-422B-A87C-C4517BB4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44F9-24D2-4FC9-8A92-06EDD201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9F40-FBF1-47B4-8C4F-636B6C62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139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9B79-E10F-4B78-AB7E-50284DD0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959D9-5BA6-4BF2-976F-923204F8E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27AD8-1421-4A98-8EE7-B39D5118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9DA3C-F6F2-49EC-8268-20E088BA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B0C89-58B0-4C07-9E9B-52FAC008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6C4EE-78C7-4E4E-8FAC-CE2C964F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811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26C3-1BBA-4472-8D24-B7947897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2C210-9517-4552-82DE-2FCFF93F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CEF99-D798-48CC-9B6C-864A17865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5B4C8-EA6F-4BD1-B692-FAEF56528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79162-FF2B-450A-BB9B-B634025D2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09BEA-E43C-4371-9D3E-FDEA4A21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05382-0480-4256-9341-708A69CD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84FF4-4D79-4CBC-9985-E6B9086F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2250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5A21-B88A-4141-BD14-51D2D907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E5195-4541-456C-A2D1-9E1B19D2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062CF-8609-4C2B-86B9-DE794889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C390B-7A5F-464D-BCC9-92A33102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510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58851-5A96-4908-A82B-5B8A11F8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6C04B-39C4-4993-BCAB-1FD949EC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D40E2-D27C-417F-AF5C-60FC761D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9692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AB3B-7B0F-441F-9EFC-74CAD32C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8EA2-6D18-4B05-8821-4298A15C3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9739-7A08-4954-A27E-6C804076A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766E2-51F7-4B5E-8403-346F26F7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CD8CE-6DDA-483E-B21D-FCCD9521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13E88-4959-4C49-B2A4-5453279E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9041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B5AF-DCA8-45F9-907A-B1682D75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7A7FA-6214-4971-9EFD-507F277AA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766C6-A227-4B26-9CA8-5AE318B6D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0F084-A098-44C5-B098-C4CA31EE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85CCB-390C-4FFC-B6DA-65A226B5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8A3B2-5782-4CE5-BF99-19BD0F45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283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1655-F1F0-4867-B5D6-8BB1507B9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32E70-F049-43E4-BFE9-8A76AE32A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5F4F-8C37-42A7-B043-BA4CF224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D674C-E3B2-4CE1-ABEB-24F050D0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7F120-CAE9-4BA4-A288-889C9C4C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9421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D21D5-4DE2-4200-B895-F8770C7A5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6A8F6-60CB-4C90-B78E-343B72464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664D8-D048-4A49-9E01-3BB41FEB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B48CE-DF50-4785-85E3-18A547B7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407D-FA94-48BC-88E7-DDE62645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4972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C639-F443-4BF3-BD98-9E359787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653E-AC9A-44E7-B043-E14BB396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89AC6-DF52-410D-940C-03344ED68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0BF41-0E46-4B99-8679-8B80CE169B2B}" type="datetimeFigureOut">
              <a:rPr lang="fa-IR" smtClean="0"/>
              <a:t>09/04/1448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A690-603A-49B9-ABA6-8CF37EE70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917B5-A481-4BBE-9F83-D6DC54B80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0159C-918A-4D55-A275-6DB3C640C1A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0855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03284"/>
            <a:ext cx="9144000" cy="2690156"/>
          </a:xfrm>
        </p:spPr>
        <p:txBody>
          <a:bodyPr>
            <a:normAutofit/>
          </a:bodyPr>
          <a:lstStyle/>
          <a:p>
            <a:r>
              <a:rPr lang="pt-BR" sz="4800" dirty="0"/>
              <a:t>TP558 - Tópicos avançados em Machine Learning</a:t>
            </a:r>
            <a:br>
              <a:rPr lang="pt-BR" sz="4800" dirty="0"/>
            </a:br>
            <a:br>
              <a:rPr lang="pt-BR" sz="900" dirty="0"/>
            </a:br>
            <a:r>
              <a:rPr lang="en-US" sz="6600" b="1" dirty="0"/>
              <a:t>Graph Neural Networks</a:t>
            </a:r>
            <a:endParaRPr lang="pt-BR" sz="66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8241323" y="5859723"/>
            <a:ext cx="3657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Hanieh Memarian</a:t>
            </a:r>
          </a:p>
          <a:p>
            <a:r>
              <a:rPr lang="pt-BR" sz="2000" dirty="0"/>
              <a:t>hanieh.memarian@dtel.inatel.br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93076" y="5890500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4" y="347213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0C1EBE7-53C6-C04D-72F0-F50AE93BB874}"/>
              </a:ext>
            </a:extLst>
          </p:cNvPr>
          <p:cNvSpPr txBox="1"/>
          <p:nvPr/>
        </p:nvSpPr>
        <p:spPr>
          <a:xfrm>
            <a:off x="5369679" y="21262"/>
            <a:ext cx="145264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Outline</a:t>
            </a:r>
            <a:endParaRPr lang="fa-IR" sz="2800" b="1" dirty="0">
              <a:solidFill>
                <a:srgbClr val="002060"/>
              </a:solidFill>
              <a:cs typeface="B Zar" panose="00000400000000000000" pitchFamily="2" charset="-78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320D5E-8548-F252-6A27-F6DFE9414B78}"/>
              </a:ext>
            </a:extLst>
          </p:cNvPr>
          <p:cNvCxnSpPr>
            <a:cxnSpLocks/>
          </p:cNvCxnSpPr>
          <p:nvPr/>
        </p:nvCxnSpPr>
        <p:spPr>
          <a:xfrm>
            <a:off x="0" y="564392"/>
            <a:ext cx="12192000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9E64970-C9D6-428C-858A-1D668BE9A297}"/>
              </a:ext>
            </a:extLst>
          </p:cNvPr>
          <p:cNvGrpSpPr/>
          <p:nvPr/>
        </p:nvGrpSpPr>
        <p:grpSpPr>
          <a:xfrm>
            <a:off x="854031" y="1812052"/>
            <a:ext cx="10483938" cy="3878039"/>
            <a:chOff x="736784" y="2518266"/>
            <a:chExt cx="10483938" cy="387803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EC853F-68FD-402C-85C9-E663DEC9E3CE}"/>
                </a:ext>
              </a:extLst>
            </p:cNvPr>
            <p:cNvGrpSpPr/>
            <p:nvPr/>
          </p:nvGrpSpPr>
          <p:grpSpPr>
            <a:xfrm>
              <a:off x="736784" y="2518266"/>
              <a:ext cx="8412799" cy="3878039"/>
              <a:chOff x="1865788" y="1893309"/>
              <a:chExt cx="8412799" cy="387803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A25B914-CBE9-4C2F-6E76-816DE5A9327C}"/>
                  </a:ext>
                </a:extLst>
              </p:cNvPr>
              <p:cNvSpPr/>
              <p:nvPr/>
            </p:nvSpPr>
            <p:spPr>
              <a:xfrm>
                <a:off x="1865788" y="2450950"/>
                <a:ext cx="1944217" cy="2016224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 rtl="1">
                  <a:lnSpc>
                    <a:spcPts val="1800"/>
                  </a:lnSpc>
                  <a:spcAft>
                    <a:spcPts val="1800"/>
                  </a:spcAft>
                </a:pPr>
                <a:endParaRPr lang="da-DK" sz="1400" dirty="0">
                  <a:solidFill>
                    <a:schemeClr val="tx1"/>
                  </a:solidFill>
                  <a:cs typeface="B Nazanin" panose="00000400000000000000" pitchFamily="2" charset="-78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F92B30-B60D-977A-1A01-3957CC2A7BED}"/>
                  </a:ext>
                </a:extLst>
              </p:cNvPr>
              <p:cNvSpPr/>
              <p:nvPr/>
            </p:nvSpPr>
            <p:spPr>
              <a:xfrm>
                <a:off x="3971628" y="2450950"/>
                <a:ext cx="1944217" cy="1625988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  <a:spcAft>
                    <a:spcPts val="1800"/>
                  </a:spcAft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2E70C5-81AF-B26F-5376-AA548AD2347C}"/>
                  </a:ext>
                </a:extLst>
              </p:cNvPr>
              <p:cNvSpPr/>
              <p:nvPr/>
            </p:nvSpPr>
            <p:spPr>
              <a:xfrm>
                <a:off x="6027049" y="2450949"/>
                <a:ext cx="1944217" cy="1300789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  <a:spcAft>
                    <a:spcPts val="1800"/>
                  </a:spcAft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2D0210-640F-F715-1694-E3319915415E}"/>
                  </a:ext>
                </a:extLst>
              </p:cNvPr>
              <p:cNvSpPr/>
              <p:nvPr/>
            </p:nvSpPr>
            <p:spPr>
              <a:xfrm>
                <a:off x="8132889" y="2450949"/>
                <a:ext cx="1944217" cy="993839"/>
              </a:xfrm>
              <a:prstGeom prst="rect">
                <a:avLst/>
              </a:prstGeom>
              <a:solidFill>
                <a:schemeClr val="bg1">
                  <a:lumMod val="9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just">
                  <a:lnSpc>
                    <a:spcPts val="1800"/>
                  </a:lnSpc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B137054-3C63-9ADD-D426-94A9B12EBE50}"/>
                  </a:ext>
                </a:extLst>
              </p:cNvPr>
              <p:cNvSpPr/>
              <p:nvPr/>
            </p:nvSpPr>
            <p:spPr>
              <a:xfrm>
                <a:off x="4190963" y="3384900"/>
                <a:ext cx="2016224" cy="201622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3FCCBF-FC8B-C598-4757-E831AACCBA99}"/>
                  </a:ext>
                </a:extLst>
              </p:cNvPr>
              <p:cNvSpPr/>
              <p:nvPr/>
            </p:nvSpPr>
            <p:spPr>
              <a:xfrm>
                <a:off x="6262442" y="3002529"/>
                <a:ext cx="1971777" cy="20162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731940A-0ADB-618D-078F-D5A01E6AA68F}"/>
                  </a:ext>
                </a:extLst>
              </p:cNvPr>
              <p:cNvSpPr/>
              <p:nvPr/>
            </p:nvSpPr>
            <p:spPr>
              <a:xfrm>
                <a:off x="8306810" y="2647198"/>
                <a:ext cx="1971777" cy="201622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4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9270020-BFD5-D597-EA56-06391B14047A}"/>
                  </a:ext>
                </a:extLst>
              </p:cNvPr>
              <p:cNvSpPr/>
              <p:nvPr/>
            </p:nvSpPr>
            <p:spPr>
              <a:xfrm>
                <a:off x="1865788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7C4F8B-FAF1-700B-58FE-F71A6F5DE5E5}"/>
                  </a:ext>
                </a:extLst>
              </p:cNvPr>
              <p:cNvSpPr/>
              <p:nvPr/>
            </p:nvSpPr>
            <p:spPr>
              <a:xfrm>
                <a:off x="3971628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E50C339-307F-7A14-8742-6CF869DCEF8E}"/>
                  </a:ext>
                </a:extLst>
              </p:cNvPr>
              <p:cNvSpPr/>
              <p:nvPr/>
            </p:nvSpPr>
            <p:spPr>
              <a:xfrm>
                <a:off x="6027049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3142BF-BF6E-F78C-764E-21EACF1AC429}"/>
                  </a:ext>
                </a:extLst>
              </p:cNvPr>
              <p:cNvSpPr/>
              <p:nvPr/>
            </p:nvSpPr>
            <p:spPr>
              <a:xfrm>
                <a:off x="8132889" y="1939354"/>
                <a:ext cx="1944217" cy="4237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cap="all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A8C1E16-5022-3240-312D-A978690BAEE1}"/>
                  </a:ext>
                </a:extLst>
              </p:cNvPr>
              <p:cNvSpPr/>
              <p:nvPr/>
            </p:nvSpPr>
            <p:spPr>
              <a:xfrm>
                <a:off x="1918875" y="2490681"/>
                <a:ext cx="138565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r" rtl="1"/>
                <a:endParaRPr lang="fa-IR" sz="1600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42F09-C88B-E054-9526-16014B5B2630}"/>
                  </a:ext>
                </a:extLst>
              </p:cNvPr>
              <p:cNvSpPr/>
              <p:nvPr/>
            </p:nvSpPr>
            <p:spPr>
              <a:xfrm>
                <a:off x="4024715" y="2490681"/>
                <a:ext cx="1838043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What is graph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What is </a:t>
                </a:r>
                <a:r>
                  <a:rPr lang="en-US" sz="1400" dirty="0" err="1"/>
                  <a:t>GNN</a:t>
                </a:r>
                <a:endParaRPr lang="en-US" sz="1400" dirty="0"/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Why is </a:t>
                </a:r>
                <a:r>
                  <a:rPr lang="en-US" sz="1400" dirty="0" err="1"/>
                  <a:t>GNN</a:t>
                </a:r>
                <a:r>
                  <a:rPr lang="en-US" sz="1400" dirty="0"/>
                  <a:t> Useful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Development Idea of </a:t>
                </a:r>
                <a:r>
                  <a:rPr lang="en-US" sz="1400" dirty="0" err="1"/>
                  <a:t>GNN</a:t>
                </a:r>
                <a:endParaRPr lang="en-US" sz="1400" dirty="0"/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Definition of </a:t>
                </a:r>
                <a:r>
                  <a:rPr lang="en-US" sz="1400" dirty="0" err="1"/>
                  <a:t>GNN</a:t>
                </a:r>
                <a:endParaRPr lang="en-US" sz="14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ECF2A1-8037-8714-03A8-421FEDB49F88}"/>
                  </a:ext>
                </a:extLst>
              </p:cNvPr>
              <p:cNvSpPr/>
              <p:nvPr/>
            </p:nvSpPr>
            <p:spPr>
              <a:xfrm>
                <a:off x="5987056" y="2441812"/>
                <a:ext cx="2078389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Over-smoothing with depth 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The scalability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Heterogeneity, dynamicity, robustness 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Theory rarely guides design</a:t>
                </a:r>
                <a:endParaRPr lang="fa-IR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E8FF71-FCDA-21FE-29F5-53A1A7E9EC6A}"/>
                  </a:ext>
                </a:extLst>
              </p:cNvPr>
              <p:cNvSpPr/>
              <p:nvPr/>
            </p:nvSpPr>
            <p:spPr>
              <a:xfrm>
                <a:off x="2272041" y="1996342"/>
                <a:ext cx="111537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rtl="1"/>
                <a:r>
                  <a:rPr lang="en-US" sz="1400" b="1" dirty="0">
                    <a:cs typeface="B Nazanin" panose="00000400000000000000" pitchFamily="2" charset="-78"/>
                  </a:rPr>
                  <a:t>Introduction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8210C6-D234-70CF-82B8-EEDAAB6C5EB9}"/>
                  </a:ext>
                </a:extLst>
              </p:cNvPr>
              <p:cNvSpPr/>
              <p:nvPr/>
            </p:nvSpPr>
            <p:spPr>
              <a:xfrm>
                <a:off x="4101323" y="1893309"/>
                <a:ext cx="17427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/>
                  <a:t>Definition &amp; </a:t>
                </a:r>
                <a:r>
                  <a:rPr lang="en-US" sz="1400" b="1" dirty="0" err="1"/>
                  <a:t>Develo</a:t>
                </a:r>
                <a:r>
                  <a:rPr lang="en-US" sz="1400" b="1" dirty="0"/>
                  <a:t>- </a:t>
                </a:r>
                <a:r>
                  <a:rPr lang="en-US" sz="1400" b="1" dirty="0" err="1"/>
                  <a:t>pment</a:t>
                </a:r>
                <a:r>
                  <a:rPr lang="en-US" sz="1400" b="1" dirty="0"/>
                  <a:t> of </a:t>
                </a:r>
                <a:r>
                  <a:rPr lang="en-US" sz="1400" b="1" dirty="0" err="1"/>
                  <a:t>GNN</a:t>
                </a:r>
                <a:endParaRPr lang="en-US" sz="1400" b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268C1F-C4F4-96AA-C788-BBB0749422F0}"/>
                  </a:ext>
                </a:extLst>
              </p:cNvPr>
              <p:cNvSpPr/>
              <p:nvPr/>
            </p:nvSpPr>
            <p:spPr>
              <a:xfrm>
                <a:off x="6051230" y="1996342"/>
                <a:ext cx="194421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cs typeface="B Nazanin" panose="00000400000000000000" pitchFamily="2" charset="-78"/>
                  </a:rPr>
                  <a:t>Challenges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01D35D2-1E37-4B8D-6183-2BFE1250A827}"/>
                  </a:ext>
                </a:extLst>
              </p:cNvPr>
              <p:cNvSpPr/>
              <p:nvPr/>
            </p:nvSpPr>
            <p:spPr>
              <a:xfrm>
                <a:off x="8788662" y="1996341"/>
                <a:ext cx="67518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 dirty="0">
                    <a:cs typeface="B Nazanin" panose="00000400000000000000" pitchFamily="2" charset="-78"/>
                  </a:rPr>
                  <a:t>Article</a:t>
                </a:r>
                <a:endParaRPr lang="fa-IR" sz="1400" b="1" dirty="0">
                  <a:cs typeface="B Nazanin" panose="00000400000000000000" pitchFamily="2" charset="-78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4FA3EC-6380-5E52-202E-BD5C4E7B29BC}"/>
                  </a:ext>
                </a:extLst>
              </p:cNvPr>
              <p:cNvSpPr/>
              <p:nvPr/>
            </p:nvSpPr>
            <p:spPr>
              <a:xfrm>
                <a:off x="2119138" y="3755124"/>
                <a:ext cx="2016224" cy="201622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  <a:scene3d>
                <a:camera prst="isometricOffAxis1Top">
                  <a:rot lat="17389689" lon="18628493" rev="2880000"/>
                </a:camera>
                <a:lightRig rig="threePt" dir="t"/>
              </a:scene3d>
              <a:sp3d extrusionH="381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600" b="1" dirty="0">
                    <a:solidFill>
                      <a:schemeClr val="bg1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A4AB81C-DEF6-4D05-1202-45D386C5F989}"/>
                  </a:ext>
                </a:extLst>
              </p:cNvPr>
              <p:cNvSpPr/>
              <p:nvPr/>
            </p:nvSpPr>
            <p:spPr>
              <a:xfrm>
                <a:off x="1918874" y="2504950"/>
                <a:ext cx="1838043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Background 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Basic problem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Where </a:t>
                </a:r>
                <a:r>
                  <a:rPr lang="en-US" sz="1400" dirty="0" err="1"/>
                  <a:t>GNNS</a:t>
                </a:r>
                <a:r>
                  <a:rPr lang="en-US" sz="1400" dirty="0"/>
                  <a:t> are used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1820EFE-1AD7-489B-BFD7-FB2387D849D9}"/>
                  </a:ext>
                </a:extLst>
              </p:cNvPr>
              <p:cNvSpPr/>
              <p:nvPr/>
            </p:nvSpPr>
            <p:spPr>
              <a:xfrm>
                <a:off x="8177414" y="2499488"/>
                <a:ext cx="189969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i="0" dirty="0">
                    <a:solidFill>
                      <a:srgbClr val="000000"/>
                    </a:solidFill>
                    <a:effectLst/>
                  </a:rPr>
                  <a:t>Algorithm</a:t>
                </a:r>
                <a:r>
                  <a:rPr lang="en-US" sz="1400" dirty="0"/>
                  <a:t> </a:t>
                </a:r>
              </a:p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Simulation Results</a:t>
                </a:r>
                <a:endParaRPr lang="fa-IR" sz="14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  <a:p>
                <a:pPr algn="l"/>
                <a:endParaRPr lang="fa-IR" sz="14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C4FB52-97A0-4CEA-9769-414FF7434727}"/>
                </a:ext>
              </a:extLst>
            </p:cNvPr>
            <p:cNvSpPr/>
            <p:nvPr/>
          </p:nvSpPr>
          <p:spPr>
            <a:xfrm>
              <a:off x="9248945" y="2900695"/>
              <a:ext cx="1971777" cy="201622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scene3d>
              <a:camera prst="isometricOffAxis1Top">
                <a:rot lat="17389689" lon="18628493" rev="2880000"/>
              </a:camera>
              <a:lightRig rig="threePt" dir="t"/>
            </a:scene3d>
            <a:sp3d extrusionH="381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48352E-1E2D-4F4B-8ED4-D00DE4AD5A8A}"/>
                </a:ext>
              </a:extLst>
            </p:cNvPr>
            <p:cNvSpPr/>
            <p:nvPr/>
          </p:nvSpPr>
          <p:spPr>
            <a:xfrm>
              <a:off x="9030731" y="3085431"/>
              <a:ext cx="1944217" cy="561106"/>
            </a:xfrm>
            <a:prstGeom prst="rect">
              <a:avLst/>
            </a:prstGeom>
            <a:solidFill>
              <a:schemeClr val="bg1">
                <a:lumMod val="9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ts val="1800"/>
                </a:lnSpc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A96C58-A171-4429-B214-EB9CF9B421AC}"/>
                </a:ext>
              </a:extLst>
            </p:cNvPr>
            <p:cNvSpPr/>
            <p:nvPr/>
          </p:nvSpPr>
          <p:spPr>
            <a:xfrm>
              <a:off x="9030731" y="2573836"/>
              <a:ext cx="1944217" cy="4237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cap="all" dirty="0">
                <a:solidFill>
                  <a:schemeClr val="accent5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3CF6620-53D4-466C-B79B-1657914DDE07}"/>
                </a:ext>
              </a:extLst>
            </p:cNvPr>
            <p:cNvSpPr/>
            <p:nvPr/>
          </p:nvSpPr>
          <p:spPr>
            <a:xfrm>
              <a:off x="9144783" y="2524077"/>
              <a:ext cx="168953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cs typeface="B Nazanin" panose="00000400000000000000" pitchFamily="2" charset="-78"/>
                </a:rPr>
                <a:t>Future work &amp; Conclusion</a:t>
              </a:r>
              <a:endParaRPr lang="fa-IR" sz="1400" b="1" dirty="0">
                <a:cs typeface="B Nazanin" panose="00000400000000000000" pitchFamily="2" charset="-78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89F2DB6-6C85-40CD-8163-ECCD9CBEC167}"/>
              </a:ext>
            </a:extLst>
          </p:cNvPr>
          <p:cNvSpPr/>
          <p:nvPr/>
        </p:nvSpPr>
        <p:spPr>
          <a:xfrm>
            <a:off x="9222623" y="2403292"/>
            <a:ext cx="1899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Conclusion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400" dirty="0"/>
              <a:t>Future Directions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076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3112617" y="2875002"/>
            <a:ext cx="59667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cs typeface="B Nazanin" panose="00000400000000000000" pitchFamily="2" charset="-78"/>
              </a:rPr>
              <a:t>Introduction</a:t>
            </a:r>
            <a:endParaRPr lang="fa-IR" sz="6600" b="1" dirty="0">
              <a:solidFill>
                <a:schemeClr val="accent1">
                  <a:lumMod val="50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631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4/40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328113" y="100856"/>
            <a:ext cx="1535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Introduction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577358-F5AE-494B-A495-5DC98F1BBD06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53915"/>
            <a:ext cx="911099" cy="2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D660A22A-7293-4D96-862B-F2A94FDC69AF}"/>
              </a:ext>
            </a:extLst>
          </p:cNvPr>
          <p:cNvSpPr/>
          <p:nvPr/>
        </p:nvSpPr>
        <p:spPr>
          <a:xfrm>
            <a:off x="548640" y="80852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real-world data is not a grid</a:t>
            </a:r>
            <a:endParaRPr lang="en-US" sz="30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3F3D19B6-4BE1-471E-88CC-2A2506EF7C53}"/>
              </a:ext>
            </a:extLst>
          </p:cNvPr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08F699D-D63B-4A66-B191-138E5A35667E}"/>
              </a:ext>
            </a:extLst>
          </p:cNvPr>
          <p:cNvSpPr/>
          <p:nvPr/>
        </p:nvSpPr>
        <p:spPr>
          <a:xfrm>
            <a:off x="8229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 data (images, text)</a:t>
            </a:r>
            <a:endParaRPr lang="en-US" sz="16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AEAE303E-31AD-48EC-AE3D-22BF1A4ECB09}"/>
              </a:ext>
            </a:extLst>
          </p:cNvPr>
          <p:cNvSpPr/>
          <p:nvPr/>
        </p:nvSpPr>
        <p:spPr>
          <a:xfrm>
            <a:off x="914400" y="2468880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876CA8EE-E70F-4625-85AE-CB2052E1B17B}"/>
              </a:ext>
            </a:extLst>
          </p:cNvPr>
          <p:cNvSpPr/>
          <p:nvPr/>
        </p:nvSpPr>
        <p:spPr>
          <a:xfrm>
            <a:off x="1691640" y="2468880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8A10FFD5-252B-41C2-8CF3-5BD475308291}"/>
              </a:ext>
            </a:extLst>
          </p:cNvPr>
          <p:cNvSpPr/>
          <p:nvPr/>
        </p:nvSpPr>
        <p:spPr>
          <a:xfrm>
            <a:off x="2468880" y="2468880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FD6A7FBF-0369-4CEA-8E9B-CEEA423BB8E5}"/>
              </a:ext>
            </a:extLst>
          </p:cNvPr>
          <p:cNvSpPr/>
          <p:nvPr/>
        </p:nvSpPr>
        <p:spPr>
          <a:xfrm>
            <a:off x="3246120" y="2468880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1E2A7FCF-E9A6-43A3-BC09-763326AB41CC}"/>
              </a:ext>
            </a:extLst>
          </p:cNvPr>
          <p:cNvSpPr/>
          <p:nvPr/>
        </p:nvSpPr>
        <p:spPr>
          <a:xfrm>
            <a:off x="4023360" y="2468880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AC363F12-AF38-4DC6-B8E7-9C7630F259D3}"/>
              </a:ext>
            </a:extLst>
          </p:cNvPr>
          <p:cNvSpPr/>
          <p:nvPr/>
        </p:nvSpPr>
        <p:spPr>
          <a:xfrm>
            <a:off x="914400" y="3127248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BA74D2EA-A5A5-4FA1-A6D9-C42D70A90D12}"/>
              </a:ext>
            </a:extLst>
          </p:cNvPr>
          <p:cNvSpPr/>
          <p:nvPr/>
        </p:nvSpPr>
        <p:spPr>
          <a:xfrm>
            <a:off x="1691640" y="3127248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FAB5F457-A5F4-46F4-8D8D-2E2710CF6990}"/>
              </a:ext>
            </a:extLst>
          </p:cNvPr>
          <p:cNvSpPr/>
          <p:nvPr/>
        </p:nvSpPr>
        <p:spPr>
          <a:xfrm>
            <a:off x="2468880" y="3127248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6A246A15-BA62-4FB6-A44D-74DEE26955C8}"/>
              </a:ext>
            </a:extLst>
          </p:cNvPr>
          <p:cNvSpPr/>
          <p:nvPr/>
        </p:nvSpPr>
        <p:spPr>
          <a:xfrm>
            <a:off x="3246120" y="3127248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61B9E575-C42A-4260-8037-CB6A98C75800}"/>
              </a:ext>
            </a:extLst>
          </p:cNvPr>
          <p:cNvSpPr/>
          <p:nvPr/>
        </p:nvSpPr>
        <p:spPr>
          <a:xfrm>
            <a:off x="4023360" y="3127248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E9E2C8A1-1F45-46CC-906C-5FF8A0FD08F1}"/>
              </a:ext>
            </a:extLst>
          </p:cNvPr>
          <p:cNvSpPr/>
          <p:nvPr/>
        </p:nvSpPr>
        <p:spPr>
          <a:xfrm>
            <a:off x="914400" y="3785616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91492412-A626-4B2F-A964-61EC375832DC}"/>
              </a:ext>
            </a:extLst>
          </p:cNvPr>
          <p:cNvSpPr/>
          <p:nvPr/>
        </p:nvSpPr>
        <p:spPr>
          <a:xfrm>
            <a:off x="1691640" y="3785616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7436BA6E-94DE-489B-B54A-33D6960B30B0}"/>
              </a:ext>
            </a:extLst>
          </p:cNvPr>
          <p:cNvSpPr/>
          <p:nvPr/>
        </p:nvSpPr>
        <p:spPr>
          <a:xfrm>
            <a:off x="2468880" y="3785616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8D569E9-684E-4AAB-8F34-93D158EDF823}"/>
              </a:ext>
            </a:extLst>
          </p:cNvPr>
          <p:cNvSpPr/>
          <p:nvPr/>
        </p:nvSpPr>
        <p:spPr>
          <a:xfrm>
            <a:off x="3246120" y="3785616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F31E5FA0-CC75-4916-8360-DC1E81A71DF3}"/>
              </a:ext>
            </a:extLst>
          </p:cNvPr>
          <p:cNvSpPr/>
          <p:nvPr/>
        </p:nvSpPr>
        <p:spPr>
          <a:xfrm>
            <a:off x="4023360" y="3785616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5A5225E1-C618-4749-8F0A-919DE91D1338}"/>
              </a:ext>
            </a:extLst>
          </p:cNvPr>
          <p:cNvSpPr/>
          <p:nvPr/>
        </p:nvSpPr>
        <p:spPr>
          <a:xfrm>
            <a:off x="914400" y="4443984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50EC29F8-E6E3-424C-B894-DBD0C41E44D7}"/>
              </a:ext>
            </a:extLst>
          </p:cNvPr>
          <p:cNvSpPr/>
          <p:nvPr/>
        </p:nvSpPr>
        <p:spPr>
          <a:xfrm>
            <a:off x="1691640" y="4443984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BEE83BB9-DFEE-4CED-BE11-27C56018B933}"/>
              </a:ext>
            </a:extLst>
          </p:cNvPr>
          <p:cNvSpPr/>
          <p:nvPr/>
        </p:nvSpPr>
        <p:spPr>
          <a:xfrm>
            <a:off x="2468880" y="4443984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23B6AD08-78F3-40FE-B653-3823A4C32376}"/>
              </a:ext>
            </a:extLst>
          </p:cNvPr>
          <p:cNvSpPr/>
          <p:nvPr/>
        </p:nvSpPr>
        <p:spPr>
          <a:xfrm>
            <a:off x="3246120" y="4443984"/>
            <a:ext cx="685800" cy="566928"/>
          </a:xfrm>
          <a:prstGeom prst="rect">
            <a:avLst/>
          </a:prstGeom>
          <a:solidFill>
            <a:srgbClr val="CFE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195CA2FC-E763-4988-9E58-F93DD87D819F}"/>
              </a:ext>
            </a:extLst>
          </p:cNvPr>
          <p:cNvSpPr/>
          <p:nvPr/>
        </p:nvSpPr>
        <p:spPr>
          <a:xfrm>
            <a:off x="4023360" y="4443984"/>
            <a:ext cx="685800" cy="566928"/>
          </a:xfrm>
          <a:prstGeom prst="rect">
            <a:avLst/>
          </a:prstGeom>
          <a:solidFill>
            <a:srgbClr val="9FC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DEA8879F-22AB-476B-A98A-A5495BC6AF1B}"/>
              </a:ext>
            </a:extLst>
          </p:cNvPr>
          <p:cNvSpPr/>
          <p:nvPr/>
        </p:nvSpPr>
        <p:spPr>
          <a:xfrm>
            <a:off x="784701" y="5211145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neighborhoods, ordered pixels/tokens — CNNs and RNNs exploit shift-invariance and local connectivity.</a:t>
            </a:r>
            <a:endParaRPr lang="en-US" sz="1600" dirty="0">
              <a:solidFill>
                <a:srgbClr val="0B2545"/>
              </a:solidFill>
            </a:endParaRPr>
          </a:p>
        </p:txBody>
      </p:sp>
      <p:sp>
        <p:nvSpPr>
          <p:cNvPr id="52" name="Shape 25">
            <a:extLst>
              <a:ext uri="{FF2B5EF4-FFF2-40B4-BE49-F238E27FC236}">
                <a16:creationId xmlns:a16="http://schemas.microsoft.com/office/drawing/2014/main" id="{FF93D177-0E82-4D8F-BF67-C9F6039EABFD}"/>
              </a:ext>
            </a:extLst>
          </p:cNvPr>
          <p:cNvSpPr/>
          <p:nvPr/>
        </p:nvSpPr>
        <p:spPr>
          <a:xfrm>
            <a:off x="6080760" y="1710301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0B2545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4FDADAFD-6FFB-4C73-8F06-B8EDCFE97DFE}"/>
              </a:ext>
            </a:extLst>
          </p:cNvPr>
          <p:cNvSpPr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Non-Euclidean data (graphs)</a:t>
            </a:r>
            <a:endParaRPr lang="en-US" sz="1600" dirty="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C12B0F3D-6A9E-4545-B88E-78F39FAABA54}"/>
              </a:ext>
            </a:extLst>
          </p:cNvPr>
          <p:cNvSpPr/>
          <p:nvPr/>
        </p:nvSpPr>
        <p:spPr>
          <a:xfrm>
            <a:off x="8942832" y="2489168"/>
            <a:ext cx="0" cy="930402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B58D933E-AC5D-4DDC-BA4D-6DFFE1F76A13}"/>
              </a:ext>
            </a:extLst>
          </p:cNvPr>
          <p:cNvSpPr/>
          <p:nvPr/>
        </p:nvSpPr>
        <p:spPr>
          <a:xfrm>
            <a:off x="8942832" y="2489168"/>
            <a:ext cx="1081278" cy="829818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75508029-BB3F-4D4E-A58D-F055273857A3}"/>
              </a:ext>
            </a:extLst>
          </p:cNvPr>
          <p:cNvSpPr/>
          <p:nvPr/>
        </p:nvSpPr>
        <p:spPr>
          <a:xfrm>
            <a:off x="7836408" y="3419570"/>
            <a:ext cx="2187702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41F0BD39-F7C5-4EB7-87EB-3D4B0A3BED0E}"/>
              </a:ext>
            </a:extLst>
          </p:cNvPr>
          <p:cNvSpPr/>
          <p:nvPr/>
        </p:nvSpPr>
        <p:spPr>
          <a:xfrm>
            <a:off x="7836408" y="3419570"/>
            <a:ext cx="502920" cy="1332738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2F8EEE5C-9906-4892-BC92-58AD1527804F}"/>
              </a:ext>
            </a:extLst>
          </p:cNvPr>
          <p:cNvSpPr/>
          <p:nvPr/>
        </p:nvSpPr>
        <p:spPr>
          <a:xfrm>
            <a:off x="10024110" y="3318986"/>
            <a:ext cx="0" cy="135788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7DBFE91B-F162-4FAD-91D9-1E736C6171F9}"/>
              </a:ext>
            </a:extLst>
          </p:cNvPr>
          <p:cNvSpPr/>
          <p:nvPr/>
        </p:nvSpPr>
        <p:spPr>
          <a:xfrm>
            <a:off x="8339328" y="4752308"/>
            <a:ext cx="1257300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971FECF2-93ED-422E-875F-06294CD98ADD}"/>
              </a:ext>
            </a:extLst>
          </p:cNvPr>
          <p:cNvSpPr/>
          <p:nvPr/>
        </p:nvSpPr>
        <p:spPr>
          <a:xfrm>
            <a:off x="8942832" y="2489168"/>
            <a:ext cx="0" cy="125730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FB15409B-E788-4473-AB96-6F1CB9C9C944}"/>
              </a:ext>
            </a:extLst>
          </p:cNvPr>
          <p:cNvSpPr/>
          <p:nvPr/>
        </p:nvSpPr>
        <p:spPr>
          <a:xfrm>
            <a:off x="8892540" y="3746468"/>
            <a:ext cx="0" cy="100584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E6AB8E16-F29B-419A-9631-4D848777B6CD}"/>
              </a:ext>
            </a:extLst>
          </p:cNvPr>
          <p:cNvSpPr/>
          <p:nvPr/>
        </p:nvSpPr>
        <p:spPr>
          <a:xfrm>
            <a:off x="8892540" y="3746468"/>
            <a:ext cx="704088" cy="930402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67" name="Shape 36">
            <a:extLst>
              <a:ext uri="{FF2B5EF4-FFF2-40B4-BE49-F238E27FC236}">
                <a16:creationId xmlns:a16="http://schemas.microsoft.com/office/drawing/2014/main" id="{444D3C84-E319-4B16-97A7-059901437A37}"/>
              </a:ext>
            </a:extLst>
          </p:cNvPr>
          <p:cNvSpPr/>
          <p:nvPr/>
        </p:nvSpPr>
        <p:spPr>
          <a:xfrm>
            <a:off x="8842248" y="2388584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37">
            <a:extLst>
              <a:ext uri="{FF2B5EF4-FFF2-40B4-BE49-F238E27FC236}">
                <a16:creationId xmlns:a16="http://schemas.microsoft.com/office/drawing/2014/main" id="{1D9BEC57-4255-4803-816F-5C771DD0DF62}"/>
              </a:ext>
            </a:extLst>
          </p:cNvPr>
          <p:cNvSpPr/>
          <p:nvPr/>
        </p:nvSpPr>
        <p:spPr>
          <a:xfrm>
            <a:off x="7735824" y="3318986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38">
            <a:extLst>
              <a:ext uri="{FF2B5EF4-FFF2-40B4-BE49-F238E27FC236}">
                <a16:creationId xmlns:a16="http://schemas.microsoft.com/office/drawing/2014/main" id="{60D2F82B-76A9-428C-B2C9-3BC2FBA1C28D}"/>
              </a:ext>
            </a:extLst>
          </p:cNvPr>
          <p:cNvSpPr/>
          <p:nvPr/>
        </p:nvSpPr>
        <p:spPr>
          <a:xfrm>
            <a:off x="9923526" y="3218402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39">
            <a:extLst>
              <a:ext uri="{FF2B5EF4-FFF2-40B4-BE49-F238E27FC236}">
                <a16:creationId xmlns:a16="http://schemas.microsoft.com/office/drawing/2014/main" id="{99F4B7F1-7B4A-476E-9A82-B23348D3EA83}"/>
              </a:ext>
            </a:extLst>
          </p:cNvPr>
          <p:cNvSpPr/>
          <p:nvPr/>
        </p:nvSpPr>
        <p:spPr>
          <a:xfrm>
            <a:off x="8238744" y="4651724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Shape 40">
            <a:extLst>
              <a:ext uri="{FF2B5EF4-FFF2-40B4-BE49-F238E27FC236}">
                <a16:creationId xmlns:a16="http://schemas.microsoft.com/office/drawing/2014/main" id="{1FB23D5E-DA60-415D-BEAE-DDC0C5F8062F}"/>
              </a:ext>
            </a:extLst>
          </p:cNvPr>
          <p:cNvSpPr/>
          <p:nvPr/>
        </p:nvSpPr>
        <p:spPr>
          <a:xfrm>
            <a:off x="9496044" y="4576286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hape 41">
            <a:extLst>
              <a:ext uri="{FF2B5EF4-FFF2-40B4-BE49-F238E27FC236}">
                <a16:creationId xmlns:a16="http://schemas.microsoft.com/office/drawing/2014/main" id="{88FEBD1A-BF94-45A1-8000-42CD9AAFBB1C}"/>
              </a:ext>
            </a:extLst>
          </p:cNvPr>
          <p:cNvSpPr/>
          <p:nvPr/>
        </p:nvSpPr>
        <p:spPr>
          <a:xfrm>
            <a:off x="8791956" y="3645884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42">
            <a:extLst>
              <a:ext uri="{FF2B5EF4-FFF2-40B4-BE49-F238E27FC236}">
                <a16:creationId xmlns:a16="http://schemas.microsoft.com/office/drawing/2014/main" id="{106CB90E-13B2-4C8F-B9E6-8A3042E99070}"/>
              </a:ext>
            </a:extLst>
          </p:cNvPr>
          <p:cNvSpPr/>
          <p:nvPr/>
        </p:nvSpPr>
        <p:spPr>
          <a:xfrm>
            <a:off x="6355080" y="5192483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Variable-size, unordered neighborhoods: molecules, social networks, citation graphs, sensor and wireless networks.</a:t>
            </a:r>
            <a:endParaRPr lang="en-US" sz="1600" dirty="0"/>
          </a:p>
        </p:txBody>
      </p:sp>
      <p:sp>
        <p:nvSpPr>
          <p:cNvPr id="74" name="Text 43">
            <a:extLst>
              <a:ext uri="{FF2B5EF4-FFF2-40B4-BE49-F238E27FC236}">
                <a16:creationId xmlns:a16="http://schemas.microsoft.com/office/drawing/2014/main" id="{4BEC753A-D10E-4545-A167-FB45C23B3CDA}"/>
              </a:ext>
            </a:extLst>
          </p:cNvPr>
          <p:cNvSpPr/>
          <p:nvPr/>
        </p:nvSpPr>
        <p:spPr>
          <a:xfrm>
            <a:off x="548640" y="608174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20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5/40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99280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Introduction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53915"/>
            <a:ext cx="911099" cy="2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F887CADE-AC1A-475D-AD9D-18EE162A1B96}"/>
              </a:ext>
            </a:extLst>
          </p:cNvPr>
          <p:cNvSpPr/>
          <p:nvPr/>
        </p:nvSpPr>
        <p:spPr>
          <a:xfrm>
            <a:off x="516000" y="782561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 neural networks fall short on graphs</a:t>
            </a:r>
            <a:endParaRPr lang="en-US" sz="30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888357F-B222-46BB-823E-3DB4275A07D4}"/>
              </a:ext>
            </a:extLst>
          </p:cNvPr>
          <p:cNvSpPr/>
          <p:nvPr/>
        </p:nvSpPr>
        <p:spPr>
          <a:xfrm>
            <a:off x="548640" y="1487805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3623D7FD-286C-4EC4-96E5-34616563CD1E}"/>
              </a:ext>
            </a:extLst>
          </p:cNvPr>
          <p:cNvSpPr/>
          <p:nvPr/>
        </p:nvSpPr>
        <p:spPr>
          <a:xfrm>
            <a:off x="777240" y="173469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EEE813C-84B6-4A90-89BB-C0F2F3A9DBA9}"/>
              </a:ext>
            </a:extLst>
          </p:cNvPr>
          <p:cNvSpPr/>
          <p:nvPr/>
        </p:nvSpPr>
        <p:spPr>
          <a:xfrm>
            <a:off x="777240" y="17346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6BF7290-A57E-4A21-B3BE-878630082CE3}"/>
              </a:ext>
            </a:extLst>
          </p:cNvPr>
          <p:cNvSpPr/>
          <p:nvPr/>
        </p:nvSpPr>
        <p:spPr>
          <a:xfrm>
            <a:off x="1508760" y="1579245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fixed node ordering</a:t>
            </a:r>
            <a:endParaRPr lang="en-US" sz="145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E29E7775-75A4-401F-80C9-C7D3AB7427B3}"/>
              </a:ext>
            </a:extLst>
          </p:cNvPr>
          <p:cNvSpPr/>
          <p:nvPr/>
        </p:nvSpPr>
        <p:spPr>
          <a:xfrm>
            <a:off x="4892040" y="1579245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has no canonical order for its nodes — CNN filters and RNN sequences assume one.</a:t>
            </a:r>
            <a:endParaRPr lang="en-US" sz="125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31683D4-C08B-44FC-BD66-24080B12893F}"/>
              </a:ext>
            </a:extLst>
          </p:cNvPr>
          <p:cNvSpPr/>
          <p:nvPr/>
        </p:nvSpPr>
        <p:spPr>
          <a:xfrm>
            <a:off x="548640" y="2585085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600A9FC8-CF7D-472C-9841-D64DC98A1144}"/>
              </a:ext>
            </a:extLst>
          </p:cNvPr>
          <p:cNvSpPr/>
          <p:nvPr/>
        </p:nvSpPr>
        <p:spPr>
          <a:xfrm>
            <a:off x="777240" y="283197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77406C4-01AE-4075-8F28-EFC77F2F3BEC}"/>
              </a:ext>
            </a:extLst>
          </p:cNvPr>
          <p:cNvSpPr/>
          <p:nvPr/>
        </p:nvSpPr>
        <p:spPr>
          <a:xfrm>
            <a:off x="777240" y="28319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A4770F02-135E-49E5-83F7-0183851F5FC7}"/>
              </a:ext>
            </a:extLst>
          </p:cNvPr>
          <p:cNvSpPr/>
          <p:nvPr/>
        </p:nvSpPr>
        <p:spPr>
          <a:xfrm>
            <a:off x="1508760" y="2676525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neighborhood size</a:t>
            </a:r>
            <a:endParaRPr lang="en-US" sz="145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488CD0D-3BCD-4DD0-B213-F762EC0EE8CB}"/>
              </a:ext>
            </a:extLst>
          </p:cNvPr>
          <p:cNvSpPr/>
          <p:nvPr/>
        </p:nvSpPr>
        <p:spPr>
          <a:xfrm>
            <a:off x="4892040" y="2676525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can have a different number of neighbors; convolution kernels expect a fixed receptive field.</a:t>
            </a:r>
            <a:endParaRPr lang="en-US" sz="1250" dirty="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8AD74F4C-AB41-4BC9-AD4C-4CD379CD5735}"/>
              </a:ext>
            </a:extLst>
          </p:cNvPr>
          <p:cNvSpPr/>
          <p:nvPr/>
        </p:nvSpPr>
        <p:spPr>
          <a:xfrm>
            <a:off x="548640" y="3682365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3686E953-33E4-4FFE-A976-B69CB8193534}"/>
              </a:ext>
            </a:extLst>
          </p:cNvPr>
          <p:cNvSpPr/>
          <p:nvPr/>
        </p:nvSpPr>
        <p:spPr>
          <a:xfrm>
            <a:off x="777240" y="392925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85E17726-7593-423B-855D-69C034E47AB5}"/>
              </a:ext>
            </a:extLst>
          </p:cNvPr>
          <p:cNvSpPr/>
          <p:nvPr/>
        </p:nvSpPr>
        <p:spPr>
          <a:xfrm>
            <a:off x="777240" y="3929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9FCA1C13-BE94-4AC9-8666-9E8EABC5AC1A}"/>
              </a:ext>
            </a:extLst>
          </p:cNvPr>
          <p:cNvSpPr/>
          <p:nvPr/>
        </p:nvSpPr>
        <p:spPr>
          <a:xfrm>
            <a:off x="1508760" y="3773805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independence assumption</a:t>
            </a:r>
            <a:endParaRPr lang="en-US" sz="145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A1EA40E-1C1C-4ED5-A58A-F5B56259401E}"/>
              </a:ext>
            </a:extLst>
          </p:cNvPr>
          <p:cNvSpPr/>
          <p:nvPr/>
        </p:nvSpPr>
        <p:spPr>
          <a:xfrm>
            <a:off x="4892040" y="3773805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assumes i.i.d. samples; graph nodes are explicitly linked by edges of many types.</a:t>
            </a:r>
            <a:endParaRPr lang="en-US" sz="1250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D3233701-C65A-429A-87E4-9B08928365D5}"/>
              </a:ext>
            </a:extLst>
          </p:cNvPr>
          <p:cNvSpPr/>
          <p:nvPr/>
        </p:nvSpPr>
        <p:spPr>
          <a:xfrm>
            <a:off x="548640" y="4779645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F6A46ECE-057F-49E2-AA36-9B3BE2D52B6D}"/>
              </a:ext>
            </a:extLst>
          </p:cNvPr>
          <p:cNvSpPr/>
          <p:nvPr/>
        </p:nvSpPr>
        <p:spPr>
          <a:xfrm>
            <a:off x="777240" y="502653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A344BA34-3C05-4191-AE77-331CDC2A0308}"/>
              </a:ext>
            </a:extLst>
          </p:cNvPr>
          <p:cNvSpPr/>
          <p:nvPr/>
        </p:nvSpPr>
        <p:spPr>
          <a:xfrm>
            <a:off x="777240" y="50265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BF69AB85-86BD-44A1-8D82-6A91833971C1}"/>
              </a:ext>
            </a:extLst>
          </p:cNvPr>
          <p:cNvSpPr/>
          <p:nvPr/>
        </p:nvSpPr>
        <p:spPr>
          <a:xfrm>
            <a:off x="1508760" y="4871085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carries information</a:t>
            </a:r>
            <a:endParaRPr lang="en-US" sz="145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983E25B3-DDD6-486B-8525-3FE92600AAF5}"/>
              </a:ext>
            </a:extLst>
          </p:cNvPr>
          <p:cNvSpPr/>
          <p:nvPr/>
        </p:nvSpPr>
        <p:spPr>
          <a:xfrm>
            <a:off x="4892040" y="4871085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a graph into a feature vector during preprocessing discards topology that is often the signal itself.</a:t>
            </a:r>
            <a:endParaRPr lang="en-US" sz="1250" dirty="0"/>
          </a:p>
        </p:txBody>
      </p:sp>
      <p:sp>
        <p:nvSpPr>
          <p:cNvPr id="61" name="Text 43">
            <a:extLst>
              <a:ext uri="{FF2B5EF4-FFF2-40B4-BE49-F238E27FC236}">
                <a16:creationId xmlns:a16="http://schemas.microsoft.com/office/drawing/2014/main" id="{A6F58A25-3F1D-42A9-8F0E-CFE4D42555B1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9EA4EF-B791-4F71-8CE8-A5A7FC0874A0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25062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6/40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99280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Introduction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53915"/>
            <a:ext cx="911099" cy="27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 43">
            <a:extLst>
              <a:ext uri="{FF2B5EF4-FFF2-40B4-BE49-F238E27FC236}">
                <a16:creationId xmlns:a16="http://schemas.microsoft.com/office/drawing/2014/main" id="{A6F58A25-3F1D-42A9-8F0E-CFE4D42555B1}"/>
              </a:ext>
            </a:extLst>
          </p:cNvPr>
          <p:cNvSpPr/>
          <p:nvPr/>
        </p:nvSpPr>
        <p:spPr>
          <a:xfrm>
            <a:off x="548640" y="6024599"/>
            <a:ext cx="11137392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AE27210-F2CD-4BC2-84C1-F52A3FA9199C}"/>
              </a:ext>
            </a:extLst>
          </p:cNvPr>
          <p:cNvSpPr/>
          <p:nvPr/>
        </p:nvSpPr>
        <p:spPr>
          <a:xfrm>
            <a:off x="548640" y="801243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GNNs already power a wide range of domains</a:t>
            </a:r>
            <a:endParaRPr lang="en-US" sz="30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D8A9146F-C9D1-4DD6-B946-0258A9B5A510}"/>
              </a:ext>
            </a:extLst>
          </p:cNvPr>
          <p:cNvSpPr/>
          <p:nvPr/>
        </p:nvSpPr>
        <p:spPr>
          <a:xfrm>
            <a:off x="548640" y="1666875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40EEE707-B961-4D5C-9944-0ECEA70BB621}"/>
              </a:ext>
            </a:extLst>
          </p:cNvPr>
          <p:cNvSpPr/>
          <p:nvPr/>
        </p:nvSpPr>
        <p:spPr>
          <a:xfrm>
            <a:off x="713232" y="1831467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C99EA02-178F-4A27-A2E6-01F218CFA2EB}"/>
              </a:ext>
            </a:extLst>
          </p:cNvPr>
          <p:cNvSpPr/>
          <p:nvPr/>
        </p:nvSpPr>
        <p:spPr>
          <a:xfrm>
            <a:off x="713232" y="2288667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Chemistry &amp; Biology</a:t>
            </a:r>
            <a:endParaRPr lang="en-US" sz="13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EABC223C-A64F-4F88-BBF4-06DFC02FBF5B}"/>
              </a:ext>
            </a:extLst>
          </p:cNvPr>
          <p:cNvSpPr/>
          <p:nvPr/>
        </p:nvSpPr>
        <p:spPr>
          <a:xfrm>
            <a:off x="713232" y="2764155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fingerprints, drug discovery, protein interface prediction</a:t>
            </a:r>
            <a:endParaRPr lang="en-US" sz="10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CD639F25-82BF-4A3D-9012-C46FD92D95F2}"/>
              </a:ext>
            </a:extLst>
          </p:cNvPr>
          <p:cNvSpPr/>
          <p:nvPr/>
        </p:nvSpPr>
        <p:spPr>
          <a:xfrm>
            <a:off x="3355848" y="1666875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DD913D17-332D-4C4A-9304-C44146B74956}"/>
              </a:ext>
            </a:extLst>
          </p:cNvPr>
          <p:cNvSpPr/>
          <p:nvPr/>
        </p:nvSpPr>
        <p:spPr>
          <a:xfrm>
            <a:off x="3520440" y="1831467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0F79D1FC-69BC-4FF9-A3EF-2EF4CEA24960}"/>
              </a:ext>
            </a:extLst>
          </p:cNvPr>
          <p:cNvSpPr/>
          <p:nvPr/>
        </p:nvSpPr>
        <p:spPr>
          <a:xfrm>
            <a:off x="3520440" y="2288667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</a:t>
            </a:r>
            <a:endParaRPr lang="en-US" sz="13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6510C59C-B8A7-4B29-A501-79F54662B9BE}"/>
              </a:ext>
            </a:extLst>
          </p:cNvPr>
          <p:cNvSpPr/>
          <p:nvPr/>
        </p:nvSpPr>
        <p:spPr>
          <a:xfrm>
            <a:off x="3520440" y="2764155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&amp; robotic systems, interaction/relational reasoning</a:t>
            </a:r>
            <a:endParaRPr lang="en-US" sz="1000" dirty="0"/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D0C1E9A7-FA8F-4171-8B4C-013002C84D23}"/>
              </a:ext>
            </a:extLst>
          </p:cNvPr>
          <p:cNvSpPr/>
          <p:nvPr/>
        </p:nvSpPr>
        <p:spPr>
          <a:xfrm>
            <a:off x="6163056" y="1666875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4676F93F-CCF4-45C9-8351-16EBA9872D56}"/>
              </a:ext>
            </a:extLst>
          </p:cNvPr>
          <p:cNvSpPr/>
          <p:nvPr/>
        </p:nvSpPr>
        <p:spPr>
          <a:xfrm>
            <a:off x="6327648" y="1831467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BA618D34-6945-45AF-AF8F-9A693F23A2B2}"/>
              </a:ext>
            </a:extLst>
          </p:cNvPr>
          <p:cNvSpPr/>
          <p:nvPr/>
        </p:nvSpPr>
        <p:spPr>
          <a:xfrm>
            <a:off x="6327648" y="2288667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Graphs</a:t>
            </a:r>
            <a:endParaRPr lang="en-US" sz="130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B8893736-6EE9-4719-ABFD-A685436FAE36}"/>
              </a:ext>
            </a:extLst>
          </p:cNvPr>
          <p:cNvSpPr/>
          <p:nvPr/>
        </p:nvSpPr>
        <p:spPr>
          <a:xfrm>
            <a:off x="6327648" y="2764155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embedding, link prediction, KG alignment</a:t>
            </a:r>
            <a:endParaRPr lang="en-US" sz="1000" dirty="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D7084890-BCD7-460C-B0FD-6AB554354A37}"/>
              </a:ext>
            </a:extLst>
          </p:cNvPr>
          <p:cNvSpPr/>
          <p:nvPr/>
        </p:nvSpPr>
        <p:spPr>
          <a:xfrm>
            <a:off x="8970264" y="1666875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B3BB009A-0BC0-44DF-B830-0D0498F6220F}"/>
              </a:ext>
            </a:extLst>
          </p:cNvPr>
          <p:cNvSpPr/>
          <p:nvPr/>
        </p:nvSpPr>
        <p:spPr>
          <a:xfrm>
            <a:off x="9134856" y="1831467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096E5300-F9F9-4AA0-943E-7123C16B692D}"/>
              </a:ext>
            </a:extLst>
          </p:cNvPr>
          <p:cNvSpPr/>
          <p:nvPr/>
        </p:nvSpPr>
        <p:spPr>
          <a:xfrm>
            <a:off x="9134856" y="2288667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AC93A5D8-CB3A-4037-897D-4671F7A5DAAD}"/>
              </a:ext>
            </a:extLst>
          </p:cNvPr>
          <p:cNvSpPr/>
          <p:nvPr/>
        </p:nvSpPr>
        <p:spPr>
          <a:xfrm>
            <a:off x="9134856" y="2764155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graphs, point clouds, few-shot &amp; zero-shot recognition</a:t>
            </a:r>
            <a:endParaRPr lang="en-US" sz="1000" dirty="0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BAF82AFC-83E8-47CA-A8DF-2ADBCBC48C26}"/>
              </a:ext>
            </a:extLst>
          </p:cNvPr>
          <p:cNvSpPr/>
          <p:nvPr/>
        </p:nvSpPr>
        <p:spPr>
          <a:xfrm>
            <a:off x="548640" y="3797427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C8023A42-E16F-409D-A574-E0DA20B599D0}"/>
              </a:ext>
            </a:extLst>
          </p:cNvPr>
          <p:cNvSpPr/>
          <p:nvPr/>
        </p:nvSpPr>
        <p:spPr>
          <a:xfrm>
            <a:off x="713232" y="3962019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306D153E-8402-4ACD-BA7B-DB0B85F47CE3}"/>
              </a:ext>
            </a:extLst>
          </p:cNvPr>
          <p:cNvSpPr/>
          <p:nvPr/>
        </p:nvSpPr>
        <p:spPr>
          <a:xfrm>
            <a:off x="713232" y="4419219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&amp; NLP</a:t>
            </a:r>
            <a:endParaRPr lang="en-US" sz="1300" dirty="0"/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39D07DC6-F280-492E-83D1-6BE5CB5D8D0E}"/>
              </a:ext>
            </a:extLst>
          </p:cNvPr>
          <p:cNvSpPr/>
          <p:nvPr/>
        </p:nvSpPr>
        <p:spPr>
          <a:xfrm>
            <a:off x="713232" y="4894707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classification, relation &amp; event extraction, NMT</a:t>
            </a:r>
            <a:endParaRPr lang="en-US" sz="1000" dirty="0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A11D3E7E-FE93-4B14-AD24-9A11A53390AA}"/>
              </a:ext>
            </a:extLst>
          </p:cNvPr>
          <p:cNvSpPr/>
          <p:nvPr/>
        </p:nvSpPr>
        <p:spPr>
          <a:xfrm>
            <a:off x="3355848" y="3797427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25AB8DB3-7774-47C0-805B-7B79DF150185}"/>
              </a:ext>
            </a:extLst>
          </p:cNvPr>
          <p:cNvSpPr/>
          <p:nvPr/>
        </p:nvSpPr>
        <p:spPr>
          <a:xfrm>
            <a:off x="3520440" y="3962019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2A704936-1C0D-46A4-AE84-BAD44581ACC3}"/>
              </a:ext>
            </a:extLst>
          </p:cNvPr>
          <p:cNvSpPr/>
          <p:nvPr/>
        </p:nvSpPr>
        <p:spPr>
          <a:xfrm>
            <a:off x="3520440" y="4419219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B1090877-98A4-4B31-9E8D-83B73E9B03A0}"/>
              </a:ext>
            </a:extLst>
          </p:cNvPr>
          <p:cNvSpPr/>
          <p:nvPr/>
        </p:nvSpPr>
        <p:spPr>
          <a:xfrm>
            <a:off x="3520440" y="4894707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graphs, social recommendation (PinSAGE, GC-MC)</a:t>
            </a:r>
            <a:endParaRPr lang="en-US" sz="1000" dirty="0"/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2880C74F-A937-446E-B86B-656542A9910B}"/>
              </a:ext>
            </a:extLst>
          </p:cNvPr>
          <p:cNvSpPr/>
          <p:nvPr/>
        </p:nvSpPr>
        <p:spPr>
          <a:xfrm>
            <a:off x="6163056" y="3797427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36634976-B945-42C3-90C4-A1DAE5F13265}"/>
              </a:ext>
            </a:extLst>
          </p:cNvPr>
          <p:cNvSpPr/>
          <p:nvPr/>
        </p:nvSpPr>
        <p:spPr>
          <a:xfrm>
            <a:off x="6327648" y="3962019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BCAC2C47-561C-4B66-BD4B-82FA00AD7D59}"/>
              </a:ext>
            </a:extLst>
          </p:cNvPr>
          <p:cNvSpPr/>
          <p:nvPr/>
        </p:nvSpPr>
        <p:spPr>
          <a:xfrm>
            <a:off x="6327648" y="4419219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Networks</a:t>
            </a:r>
            <a:endParaRPr lang="en-US" sz="1300" dirty="0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3CF51FA8-8E07-48FC-B5EB-07CDE9B37790}"/>
              </a:ext>
            </a:extLst>
          </p:cNvPr>
          <p:cNvSpPr/>
          <p:nvPr/>
        </p:nvSpPr>
        <p:spPr>
          <a:xfrm>
            <a:off x="6327648" y="4894707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forecasting of flow, speed, demand</a:t>
            </a:r>
            <a:endParaRPr lang="en-US" sz="1000" dirty="0"/>
          </a:p>
        </p:txBody>
      </p:sp>
      <p:sp>
        <p:nvSpPr>
          <p:cNvPr id="79" name="Shape 30">
            <a:extLst>
              <a:ext uri="{FF2B5EF4-FFF2-40B4-BE49-F238E27FC236}">
                <a16:creationId xmlns:a16="http://schemas.microsoft.com/office/drawing/2014/main" id="{D1ABB363-1E65-48ED-9CB4-0359632AFC64}"/>
              </a:ext>
            </a:extLst>
          </p:cNvPr>
          <p:cNvSpPr/>
          <p:nvPr/>
        </p:nvSpPr>
        <p:spPr>
          <a:xfrm>
            <a:off x="8970264" y="3797427"/>
            <a:ext cx="2715768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80" name="Shape 31">
            <a:extLst>
              <a:ext uri="{FF2B5EF4-FFF2-40B4-BE49-F238E27FC236}">
                <a16:creationId xmlns:a16="http://schemas.microsoft.com/office/drawing/2014/main" id="{52CC8471-A539-43A7-97B2-90BA4B0B75CD}"/>
              </a:ext>
            </a:extLst>
          </p:cNvPr>
          <p:cNvSpPr/>
          <p:nvPr/>
        </p:nvSpPr>
        <p:spPr>
          <a:xfrm>
            <a:off x="9134856" y="3962019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27B5A663-A24F-45A2-AA60-2DF5D0ED0E62}"/>
              </a:ext>
            </a:extLst>
          </p:cNvPr>
          <p:cNvSpPr/>
          <p:nvPr/>
        </p:nvSpPr>
        <p:spPr>
          <a:xfrm>
            <a:off x="9134856" y="4419219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Networks</a:t>
            </a:r>
            <a:endParaRPr lang="en-US" sz="1300" dirty="0"/>
          </a:p>
        </p:txBody>
      </p:sp>
      <p:sp>
        <p:nvSpPr>
          <p:cNvPr id="82" name="Text 33">
            <a:extLst>
              <a:ext uri="{FF2B5EF4-FFF2-40B4-BE49-F238E27FC236}">
                <a16:creationId xmlns:a16="http://schemas.microsoft.com/office/drawing/2014/main" id="{90692D38-3523-4683-839C-144D847D98B9}"/>
              </a:ext>
            </a:extLst>
          </p:cNvPr>
          <p:cNvSpPr/>
          <p:nvPr/>
        </p:nvSpPr>
        <p:spPr>
          <a:xfrm>
            <a:off x="9134856" y="4894707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management, beamforming, network modeling — today’s case study</a:t>
            </a:r>
            <a:endParaRPr 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98FFDC-E457-4F42-9059-607DB48E77A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84178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1043942" y="2367171"/>
            <a:ext cx="101041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Definition and Development</a:t>
            </a:r>
          </a:p>
          <a:p>
            <a:pPr algn="ctr"/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of </a:t>
            </a:r>
            <a:r>
              <a:rPr lang="en-US" sz="6600" b="1" dirty="0" err="1">
                <a:solidFill>
                  <a:schemeClr val="accent5">
                    <a:lumMod val="75000"/>
                  </a:schemeClr>
                </a:solidFill>
              </a:rPr>
              <a:t>GNN</a:t>
            </a:r>
            <a:endParaRPr lang="en-US" sz="66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45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8/40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92063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A2358E-67CF-4242-898F-AD8C0B444032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B154B772-9F62-4AC5-9CA8-FD79FFF56FAC}"/>
              </a:ext>
            </a:extLst>
          </p:cNvPr>
          <p:cNvSpPr/>
          <p:nvPr/>
        </p:nvSpPr>
        <p:spPr>
          <a:xfrm>
            <a:off x="548640" y="78899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notation: graphs, nodes, and neighborhoods</a:t>
            </a:r>
            <a:endParaRPr lang="en-US" sz="30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657047F7-31C2-4FA5-864D-697A00982C82}"/>
              </a:ext>
            </a:extLst>
          </p:cNvPr>
          <p:cNvSpPr/>
          <p:nvPr/>
        </p:nvSpPr>
        <p:spPr>
          <a:xfrm>
            <a:off x="548640" y="1540482"/>
            <a:ext cx="61264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fa-IR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8441CD07-53AD-4123-94D9-6E6B7B9C92E1}"/>
              </a:ext>
            </a:extLst>
          </p:cNvPr>
          <p:cNvSpPr/>
          <p:nvPr/>
        </p:nvSpPr>
        <p:spPr>
          <a:xfrm>
            <a:off x="1714500" y="1940532"/>
            <a:ext cx="0" cy="592074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5D479F6B-E6D0-47D0-BFFF-1CA63F630FFA}"/>
              </a:ext>
            </a:extLst>
          </p:cNvPr>
          <p:cNvSpPr/>
          <p:nvPr/>
        </p:nvSpPr>
        <p:spPr>
          <a:xfrm>
            <a:off x="1714500" y="1940532"/>
            <a:ext cx="720090" cy="52806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435469B-14F4-4E41-BB5D-DA7280B850A0}"/>
              </a:ext>
            </a:extLst>
          </p:cNvPr>
          <p:cNvSpPr/>
          <p:nvPr/>
        </p:nvSpPr>
        <p:spPr>
          <a:xfrm>
            <a:off x="1042416" y="2532606"/>
            <a:ext cx="1392174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4EBEA5A3-F22E-4B87-A3F1-5DE151F54BBB}"/>
              </a:ext>
            </a:extLst>
          </p:cNvPr>
          <p:cNvSpPr/>
          <p:nvPr/>
        </p:nvSpPr>
        <p:spPr>
          <a:xfrm>
            <a:off x="1042416" y="2532606"/>
            <a:ext cx="320040" cy="84810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49EBD845-6541-48D5-B219-C0141552D52C}"/>
              </a:ext>
            </a:extLst>
          </p:cNvPr>
          <p:cNvSpPr/>
          <p:nvPr/>
        </p:nvSpPr>
        <p:spPr>
          <a:xfrm flipH="1">
            <a:off x="2434588" y="2468597"/>
            <a:ext cx="1" cy="820675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C20E845C-840D-4C85-8A6D-CFB194DBC643}"/>
              </a:ext>
            </a:extLst>
          </p:cNvPr>
          <p:cNvSpPr/>
          <p:nvPr/>
        </p:nvSpPr>
        <p:spPr>
          <a:xfrm>
            <a:off x="1362456" y="3380712"/>
            <a:ext cx="800100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E802EAF0-5342-4CD9-943E-7B590912676F}"/>
              </a:ext>
            </a:extLst>
          </p:cNvPr>
          <p:cNvSpPr/>
          <p:nvPr/>
        </p:nvSpPr>
        <p:spPr>
          <a:xfrm>
            <a:off x="1714500" y="1940532"/>
            <a:ext cx="0" cy="80010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DDF7ECC2-23A3-4CC5-9721-EC119C93C554}"/>
              </a:ext>
            </a:extLst>
          </p:cNvPr>
          <p:cNvSpPr/>
          <p:nvPr/>
        </p:nvSpPr>
        <p:spPr>
          <a:xfrm>
            <a:off x="1714500" y="2740632"/>
            <a:ext cx="0" cy="64008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5C4E3DC3-843B-44FC-9B02-0D67AE0A7EE3}"/>
              </a:ext>
            </a:extLst>
          </p:cNvPr>
          <p:cNvSpPr/>
          <p:nvPr/>
        </p:nvSpPr>
        <p:spPr>
          <a:xfrm>
            <a:off x="1714500" y="2740632"/>
            <a:ext cx="448056" cy="592074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84687E95-F69F-4544-AA0F-56FBB722B770}"/>
              </a:ext>
            </a:extLst>
          </p:cNvPr>
          <p:cNvSpPr/>
          <p:nvPr/>
        </p:nvSpPr>
        <p:spPr>
          <a:xfrm>
            <a:off x="1623060" y="1849092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61C3294B-6193-44C5-AE82-A68C5206F0E2}"/>
              </a:ext>
            </a:extLst>
          </p:cNvPr>
          <p:cNvSpPr/>
          <p:nvPr/>
        </p:nvSpPr>
        <p:spPr>
          <a:xfrm>
            <a:off x="950976" y="2441166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9E871692-F43B-4120-9052-E5379B5652D4}"/>
              </a:ext>
            </a:extLst>
          </p:cNvPr>
          <p:cNvSpPr/>
          <p:nvPr/>
        </p:nvSpPr>
        <p:spPr>
          <a:xfrm>
            <a:off x="2343150" y="2377158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7D64AA6E-08DF-41A8-B629-50CFFA5BE0A8}"/>
              </a:ext>
            </a:extLst>
          </p:cNvPr>
          <p:cNvSpPr/>
          <p:nvPr/>
        </p:nvSpPr>
        <p:spPr>
          <a:xfrm>
            <a:off x="1271016" y="3289272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48CC85C1-2726-43AA-BC80-D5E6E8C532D8}"/>
              </a:ext>
            </a:extLst>
          </p:cNvPr>
          <p:cNvSpPr/>
          <p:nvPr/>
        </p:nvSpPr>
        <p:spPr>
          <a:xfrm>
            <a:off x="2071116" y="3241266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8F7D01AB-7E15-42D9-9432-6214A08ED464}"/>
              </a:ext>
            </a:extLst>
          </p:cNvPr>
          <p:cNvSpPr/>
          <p:nvPr/>
        </p:nvSpPr>
        <p:spPr>
          <a:xfrm>
            <a:off x="1623060" y="2649192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BBF25BA3-0197-42F7-82FD-778637230744}"/>
              </a:ext>
            </a:extLst>
          </p:cNvPr>
          <p:cNvSpPr/>
          <p:nvPr/>
        </p:nvSpPr>
        <p:spPr>
          <a:xfrm>
            <a:off x="2834640" y="199768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 ●</a:t>
            </a:r>
            <a:endParaRPr lang="en-US" sz="125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66105028-3083-4179-B0D6-63AB1E94FD1C}"/>
              </a:ext>
            </a:extLst>
          </p:cNvPr>
          <p:cNvSpPr/>
          <p:nvPr/>
        </p:nvSpPr>
        <p:spPr>
          <a:xfrm>
            <a:off x="2834640" y="240916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 —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0">
                <a:extLst>
                  <a:ext uri="{FF2B5EF4-FFF2-40B4-BE49-F238E27FC236}">
                    <a16:creationId xmlns:a16="http://schemas.microsoft.com/office/drawing/2014/main" id="{50B080E6-2079-44CD-911A-972E3CFF2C7C}"/>
                  </a:ext>
                </a:extLst>
              </p:cNvPr>
              <p:cNvSpPr/>
              <p:nvPr/>
            </p:nvSpPr>
            <p:spPr>
              <a:xfrm>
                <a:off x="914400" y="3997910"/>
                <a:ext cx="5394960" cy="16135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 = (V, E): set of nodes V, set of edges E, |V| = N nodes.</a:t>
                </a:r>
                <a:endParaRPr lang="en-US" sz="1600" b="1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Adjacency matrix A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1600" b="1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encodes connectivity.</a:t>
                </a:r>
                <a:endParaRPr lang="en-US" sz="1600" b="1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Node features X ∈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1600" b="1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; edges may carry features too.</a:t>
                </a:r>
                <a:endParaRPr lang="en-US" sz="1600" b="1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Neighborhood N(v): the set of nodes connected to v.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31" name="Text 20">
                <a:extLst>
                  <a:ext uri="{FF2B5EF4-FFF2-40B4-BE49-F238E27FC236}">
                    <a16:creationId xmlns:a16="http://schemas.microsoft.com/office/drawing/2014/main" id="{50B080E6-2079-44CD-911A-972E3CFF2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97910"/>
                <a:ext cx="5394960" cy="1613544"/>
              </a:xfrm>
              <a:prstGeom prst="rect">
                <a:avLst/>
              </a:prstGeom>
              <a:blipFill>
                <a:blip r:embed="rId3"/>
                <a:stretch>
                  <a:fillRect l="-2260" t="-3774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21">
            <a:extLst>
              <a:ext uri="{FF2B5EF4-FFF2-40B4-BE49-F238E27FC236}">
                <a16:creationId xmlns:a16="http://schemas.microsoft.com/office/drawing/2014/main" id="{4743EED2-D343-4E89-AD3C-CFC730683816}"/>
              </a:ext>
            </a:extLst>
          </p:cNvPr>
          <p:cNvSpPr/>
          <p:nvPr/>
        </p:nvSpPr>
        <p:spPr>
          <a:xfrm>
            <a:off x="6903720" y="1540482"/>
            <a:ext cx="4709160" cy="4206240"/>
          </a:xfrm>
          <a:prstGeom prst="roundRect">
            <a:avLst>
              <a:gd name="adj" fmla="val 1957"/>
            </a:avLst>
          </a:prstGeom>
          <a:solidFill>
            <a:srgbClr val="21295C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6922A8C1-6D8C-48B5-89BF-CE9BE315F121}"/>
              </a:ext>
            </a:extLst>
          </p:cNvPr>
          <p:cNvSpPr/>
          <p:nvPr/>
        </p:nvSpPr>
        <p:spPr>
          <a:xfrm>
            <a:off x="7178040" y="183533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types</a:t>
            </a: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8BE13BA-F5E8-43D1-AF32-AF069A7BEE9F}"/>
              </a:ext>
            </a:extLst>
          </p:cNvPr>
          <p:cNvSpPr/>
          <p:nvPr/>
        </p:nvSpPr>
        <p:spPr>
          <a:xfrm>
            <a:off x="7178040" y="2552855"/>
            <a:ext cx="4160520" cy="254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vs. undirected</a:t>
            </a:r>
            <a:endParaRPr lang="en-US" sz="1600" b="1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vs. heterogeneous (typed nodes/edges)</a:t>
            </a:r>
            <a:endParaRPr lang="en-US" sz="1600" b="1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(topology/features vary in time)</a:t>
            </a:r>
            <a:endParaRPr lang="en-US" sz="1600" b="1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vs. non-positional (ordered neighbor slots or not)</a:t>
            </a:r>
            <a:endParaRPr lang="en-US" sz="1600" b="1" dirty="0"/>
          </a:p>
        </p:txBody>
      </p:sp>
      <p:sp>
        <p:nvSpPr>
          <p:cNvPr id="35" name="Text 43">
            <a:extLst>
              <a:ext uri="{FF2B5EF4-FFF2-40B4-BE49-F238E27FC236}">
                <a16:creationId xmlns:a16="http://schemas.microsoft.com/office/drawing/2014/main" id="{BAC4E7C2-1AC5-4ADA-940F-9168DD669534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60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9/40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3385BB-073C-4ECF-89CF-20A36B3D4A9F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5EC21D4-A24A-45A1-BBCA-8825B3B7A6CC}"/>
              </a:ext>
            </a:extLst>
          </p:cNvPr>
          <p:cNvSpPr/>
          <p:nvPr/>
        </p:nvSpPr>
        <p:spPr>
          <a:xfrm>
            <a:off x="548640" y="798333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GNN maps a graph (and a node) to a vector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B55FA7EF-8266-4CA5-8449-CB8AE98D0ABA}"/>
                  </a:ext>
                </a:extLst>
              </p:cNvPr>
              <p:cNvSpPr/>
              <p:nvPr/>
            </p:nvSpPr>
            <p:spPr>
              <a:xfrm>
                <a:off x="548640" y="1615122"/>
                <a:ext cx="5577840" cy="411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Graph Neural Network learns a function </a:t>
                </a: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τ (G, n)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that maps a graph G and one of its nodes n to an output.</a:t>
                </a:r>
              </a:p>
              <a:p>
                <a:pPr>
                  <a:lnSpc>
                    <a:spcPct val="108000"/>
                  </a:lnSpc>
                  <a:spcAft>
                    <a:spcPts val="1000"/>
                  </a:spcAft>
                  <a:buSzPct val="100000"/>
                </a:pPr>
                <a:endParaRPr lang="en-US" sz="1600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Each node is given a state vector built from its own features and its neighbors’ states — the state is learned, not hand-designed.</a:t>
                </a:r>
              </a:p>
              <a:p>
                <a:pPr>
                  <a:lnSpc>
                    <a:spcPct val="108000"/>
                  </a:lnSpc>
                  <a:spcAft>
                    <a:spcPts val="1000"/>
                  </a:spcAft>
                  <a:buSzPct val="100000"/>
                </a:pPr>
                <a:endParaRPr lang="en-US" sz="1600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Two broad application classes</a:t>
                </a:r>
                <a:endParaRPr lang="en-US" dirty="0"/>
              </a:p>
              <a:p>
                <a:pPr marL="762000" lvl="1" indent="-3810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–"/>
                </a:pPr>
                <a:r>
                  <a:rPr lang="en-US" sz="1600" dirty="0">
                    <a:solidFill>
                      <a:srgbClr val="16212B"/>
                    </a:solidFill>
                    <a:ea typeface="Calibri" pitchFamily="34" charset="-122"/>
                    <a:cs typeface="Calibri" pitchFamily="34" charset="-120"/>
                  </a:rPr>
                  <a:t>Graph-focused: one output per whole graph (e.g., classify a molecule).</a:t>
                </a:r>
                <a:endParaRPr lang="en-US" sz="1600" dirty="0"/>
              </a:p>
              <a:p>
                <a:pPr marL="762000" lvl="1" indent="-3810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–"/>
                </a:pPr>
                <a:r>
                  <a:rPr lang="en-US" sz="1600" dirty="0">
                    <a:solidFill>
                      <a:srgbClr val="16212B"/>
                    </a:solidFill>
                    <a:ea typeface="Calibri" pitchFamily="34" charset="-122"/>
                    <a:cs typeface="Calibri" pitchFamily="34" charset="-120"/>
                  </a:rPr>
                  <a:t>Node-focused: one output per node (e.g., label each router / user in a network).</a:t>
                </a:r>
                <a:endParaRPr lang="en-US" sz="1600" dirty="0"/>
              </a:p>
            </p:txBody>
          </p:sp>
        </mc:Choice>
        <mc:Fallback xmlns=""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B55FA7EF-8266-4CA5-8449-CB8AE98D0A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15122"/>
                <a:ext cx="5577840" cy="4114800"/>
              </a:xfrm>
              <a:prstGeom prst="rect">
                <a:avLst/>
              </a:prstGeom>
              <a:blipFill>
                <a:blip r:embed="rId3"/>
                <a:stretch>
                  <a:fillRect l="-2514" t="-1778" r="-1530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hape 3">
            <a:extLst>
              <a:ext uri="{FF2B5EF4-FFF2-40B4-BE49-F238E27FC236}">
                <a16:creationId xmlns:a16="http://schemas.microsoft.com/office/drawing/2014/main" id="{43D8F2FD-2BC7-4BA8-ABA4-569E5FDBEA87}"/>
              </a:ext>
            </a:extLst>
          </p:cNvPr>
          <p:cNvSpPr/>
          <p:nvPr/>
        </p:nvSpPr>
        <p:spPr>
          <a:xfrm>
            <a:off x="6400800" y="1615122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DAFF1C5-052C-4CC8-82DE-E14EE0877F76}"/>
              </a:ext>
            </a:extLst>
          </p:cNvPr>
          <p:cNvSpPr/>
          <p:nvPr/>
        </p:nvSpPr>
        <p:spPr>
          <a:xfrm>
            <a:off x="6629400" y="175228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Graph-focused</a:t>
            </a:r>
            <a:endParaRPr lang="en-US" sz="20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1106D1EE-EDF4-4EAA-9A25-1F2396336AE6}"/>
              </a:ext>
            </a:extLst>
          </p:cNvPr>
          <p:cNvSpPr/>
          <p:nvPr/>
        </p:nvSpPr>
        <p:spPr>
          <a:xfrm>
            <a:off x="7317029" y="2225484"/>
            <a:ext cx="0" cy="456743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AF52EAAE-5513-4030-A9F2-F7EC01FDE418}"/>
              </a:ext>
            </a:extLst>
          </p:cNvPr>
          <p:cNvSpPr/>
          <p:nvPr/>
        </p:nvSpPr>
        <p:spPr>
          <a:xfrm>
            <a:off x="7317029" y="2225484"/>
            <a:ext cx="530809" cy="407365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282AE4D0-2DA1-4517-8236-337A653D5D5C}"/>
              </a:ext>
            </a:extLst>
          </p:cNvPr>
          <p:cNvSpPr/>
          <p:nvPr/>
        </p:nvSpPr>
        <p:spPr>
          <a:xfrm>
            <a:off x="6773875" y="2682227"/>
            <a:ext cx="1073963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E1D9A1FE-F4DE-47D4-A8CD-960F810FA782}"/>
              </a:ext>
            </a:extLst>
          </p:cNvPr>
          <p:cNvSpPr/>
          <p:nvPr/>
        </p:nvSpPr>
        <p:spPr>
          <a:xfrm>
            <a:off x="6773875" y="2682227"/>
            <a:ext cx="246888" cy="654253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182D3527-9E82-4BD0-88E6-E891CA3CCFFA}"/>
              </a:ext>
            </a:extLst>
          </p:cNvPr>
          <p:cNvSpPr/>
          <p:nvPr/>
        </p:nvSpPr>
        <p:spPr>
          <a:xfrm>
            <a:off x="7847838" y="2632849"/>
            <a:ext cx="0" cy="666598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96EE90FA-8A3B-409C-89B7-205F463F3F64}"/>
              </a:ext>
            </a:extLst>
          </p:cNvPr>
          <p:cNvSpPr/>
          <p:nvPr/>
        </p:nvSpPr>
        <p:spPr>
          <a:xfrm>
            <a:off x="7020763" y="3336480"/>
            <a:ext cx="617220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352B2CAC-140B-4764-91FD-411BCB666D83}"/>
              </a:ext>
            </a:extLst>
          </p:cNvPr>
          <p:cNvSpPr/>
          <p:nvPr/>
        </p:nvSpPr>
        <p:spPr>
          <a:xfrm>
            <a:off x="7317029" y="2225484"/>
            <a:ext cx="0" cy="61722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074B8210-7003-4CBB-AF3A-F11409B33FEA}"/>
              </a:ext>
            </a:extLst>
          </p:cNvPr>
          <p:cNvSpPr/>
          <p:nvPr/>
        </p:nvSpPr>
        <p:spPr>
          <a:xfrm>
            <a:off x="7292340" y="2842704"/>
            <a:ext cx="0" cy="49377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323276B0-4BC5-40D3-9160-8FF329ACD110}"/>
              </a:ext>
            </a:extLst>
          </p:cNvPr>
          <p:cNvSpPr/>
          <p:nvPr/>
        </p:nvSpPr>
        <p:spPr>
          <a:xfrm>
            <a:off x="7292340" y="2842704"/>
            <a:ext cx="345643" cy="456743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9DBA6B5E-4300-4E53-9A6B-96392FFB592F}"/>
              </a:ext>
            </a:extLst>
          </p:cNvPr>
          <p:cNvSpPr/>
          <p:nvPr/>
        </p:nvSpPr>
        <p:spPr>
          <a:xfrm>
            <a:off x="7248449" y="2156904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3B9EC2D4-E025-43AF-A3BC-44552963064E}"/>
              </a:ext>
            </a:extLst>
          </p:cNvPr>
          <p:cNvSpPr/>
          <p:nvPr/>
        </p:nvSpPr>
        <p:spPr>
          <a:xfrm>
            <a:off x="6705295" y="2613647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45200453-8CAC-4347-83D3-7500B0D10ED3}"/>
              </a:ext>
            </a:extLst>
          </p:cNvPr>
          <p:cNvSpPr/>
          <p:nvPr/>
        </p:nvSpPr>
        <p:spPr>
          <a:xfrm>
            <a:off x="7779258" y="2564269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C1A75CE2-BFE9-45DA-A446-3C5CE276D208}"/>
              </a:ext>
            </a:extLst>
          </p:cNvPr>
          <p:cNvSpPr/>
          <p:nvPr/>
        </p:nvSpPr>
        <p:spPr>
          <a:xfrm>
            <a:off x="6952183" y="3267900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AF21CC0F-4280-42FE-B9EA-258B278A2FCF}"/>
              </a:ext>
            </a:extLst>
          </p:cNvPr>
          <p:cNvSpPr/>
          <p:nvPr/>
        </p:nvSpPr>
        <p:spPr>
          <a:xfrm>
            <a:off x="7569403" y="3230867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CBD259E4-1D90-4D3A-A29F-702B394AD1ED}"/>
              </a:ext>
            </a:extLst>
          </p:cNvPr>
          <p:cNvSpPr/>
          <p:nvPr/>
        </p:nvSpPr>
        <p:spPr>
          <a:xfrm>
            <a:off x="7223760" y="2774124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48AE1BE5-C6D8-4798-A87B-B601F9E25EE5}"/>
              </a:ext>
            </a:extLst>
          </p:cNvPr>
          <p:cNvSpPr/>
          <p:nvPr/>
        </p:nvSpPr>
        <p:spPr>
          <a:xfrm>
            <a:off x="8001000" y="2758122"/>
            <a:ext cx="50292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7BFC7F27-16F7-4DC4-B58E-55E407AA90A4}"/>
              </a:ext>
            </a:extLst>
          </p:cNvPr>
          <p:cNvSpPr/>
          <p:nvPr/>
        </p:nvSpPr>
        <p:spPr>
          <a:xfrm>
            <a:off x="8595360" y="2483802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1D7E09D6-D759-4DDE-9AE2-91E7692A1A46}"/>
              </a:ext>
            </a:extLst>
          </p:cNvPr>
          <p:cNvSpPr/>
          <p:nvPr/>
        </p:nvSpPr>
        <p:spPr>
          <a:xfrm>
            <a:off x="8595360" y="248380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output</a:t>
            </a:r>
            <a:endParaRPr lang="en-US" sz="160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43EF30F3-EC72-4D60-B1EE-77A0074057CE}"/>
              </a:ext>
            </a:extLst>
          </p:cNvPr>
          <p:cNvSpPr/>
          <p:nvPr/>
        </p:nvSpPr>
        <p:spPr>
          <a:xfrm>
            <a:off x="6400800" y="3718242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AB9365ED-B65A-43DC-8E87-E50AACF4D0D7}"/>
              </a:ext>
            </a:extLst>
          </p:cNvPr>
          <p:cNvSpPr/>
          <p:nvPr/>
        </p:nvSpPr>
        <p:spPr>
          <a:xfrm>
            <a:off x="6629400" y="385540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Node-focused</a:t>
            </a:r>
            <a:endParaRPr lang="en-US" sz="200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BF54C63-4BD8-4E6A-A95B-A3B7E01CF88E}"/>
              </a:ext>
            </a:extLst>
          </p:cNvPr>
          <p:cNvSpPr/>
          <p:nvPr/>
        </p:nvSpPr>
        <p:spPr>
          <a:xfrm>
            <a:off x="7364578" y="4333176"/>
            <a:ext cx="0" cy="49057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14C11B81-6CD3-48C2-87C1-D24EF764B7EA}"/>
              </a:ext>
            </a:extLst>
          </p:cNvPr>
          <p:cNvSpPr/>
          <p:nvPr/>
        </p:nvSpPr>
        <p:spPr>
          <a:xfrm>
            <a:off x="7364578" y="4333176"/>
            <a:ext cx="570128" cy="43754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73764F98-EAF8-42A0-979B-AE8EA9C5F341}"/>
              </a:ext>
            </a:extLst>
          </p:cNvPr>
          <p:cNvSpPr/>
          <p:nvPr/>
        </p:nvSpPr>
        <p:spPr>
          <a:xfrm>
            <a:off x="6781190" y="4823752"/>
            <a:ext cx="1153516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3313D670-66C7-4A04-BBD2-A13318CFD9F0}"/>
              </a:ext>
            </a:extLst>
          </p:cNvPr>
          <p:cNvSpPr/>
          <p:nvPr/>
        </p:nvSpPr>
        <p:spPr>
          <a:xfrm>
            <a:off x="6781190" y="4823752"/>
            <a:ext cx="265176" cy="70271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A620FA5E-5A11-4A0E-B4C5-DFA482B2CC89}"/>
              </a:ext>
            </a:extLst>
          </p:cNvPr>
          <p:cNvSpPr/>
          <p:nvPr/>
        </p:nvSpPr>
        <p:spPr>
          <a:xfrm>
            <a:off x="7934706" y="4770716"/>
            <a:ext cx="0" cy="715975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FE713378-C7E2-44A5-AF7A-5116A485BB01}"/>
              </a:ext>
            </a:extLst>
          </p:cNvPr>
          <p:cNvSpPr/>
          <p:nvPr/>
        </p:nvSpPr>
        <p:spPr>
          <a:xfrm>
            <a:off x="7046366" y="5526468"/>
            <a:ext cx="662940" cy="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AF344F11-60D8-477E-82D9-681063F031D1}"/>
              </a:ext>
            </a:extLst>
          </p:cNvPr>
          <p:cNvSpPr/>
          <p:nvPr/>
        </p:nvSpPr>
        <p:spPr>
          <a:xfrm>
            <a:off x="7364578" y="4333176"/>
            <a:ext cx="0" cy="662940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90ED56A3-7C2E-420F-9F69-2E7C89FB7636}"/>
              </a:ext>
            </a:extLst>
          </p:cNvPr>
          <p:cNvSpPr/>
          <p:nvPr/>
        </p:nvSpPr>
        <p:spPr>
          <a:xfrm>
            <a:off x="7338060" y="4996116"/>
            <a:ext cx="0" cy="530352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9F78E9E0-804D-4FEE-B19F-EA37D29453DA}"/>
              </a:ext>
            </a:extLst>
          </p:cNvPr>
          <p:cNvSpPr/>
          <p:nvPr/>
        </p:nvSpPr>
        <p:spPr>
          <a:xfrm>
            <a:off x="7338060" y="4996116"/>
            <a:ext cx="371246" cy="490576"/>
          </a:xfrm>
          <a:prstGeom prst="line">
            <a:avLst/>
          </a:prstGeom>
          <a:noFill/>
          <a:ln w="15875">
            <a:solidFill>
              <a:srgbClr val="AFC7D3"/>
            </a:solidFill>
            <a:prstDash val="solid"/>
          </a:ln>
        </p:spPr>
      </p:sp>
      <p:sp>
        <p:nvSpPr>
          <p:cNvPr id="63" name="Shape 34">
            <a:extLst>
              <a:ext uri="{FF2B5EF4-FFF2-40B4-BE49-F238E27FC236}">
                <a16:creationId xmlns:a16="http://schemas.microsoft.com/office/drawing/2014/main" id="{5F7DF767-BD3E-4A91-BA07-232171C0E281}"/>
              </a:ext>
            </a:extLst>
          </p:cNvPr>
          <p:cNvSpPr/>
          <p:nvPr/>
        </p:nvSpPr>
        <p:spPr>
          <a:xfrm>
            <a:off x="7295998" y="4264596"/>
            <a:ext cx="137160" cy="13716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35">
            <a:extLst>
              <a:ext uri="{FF2B5EF4-FFF2-40B4-BE49-F238E27FC236}">
                <a16:creationId xmlns:a16="http://schemas.microsoft.com/office/drawing/2014/main" id="{B0DD36AC-9F8D-44EC-BB3B-D7CCA58B8A5E}"/>
              </a:ext>
            </a:extLst>
          </p:cNvPr>
          <p:cNvSpPr/>
          <p:nvPr/>
        </p:nvSpPr>
        <p:spPr>
          <a:xfrm>
            <a:off x="6712610" y="4755172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BA225BA3-044A-4584-9062-E8B3221F2379}"/>
              </a:ext>
            </a:extLst>
          </p:cNvPr>
          <p:cNvSpPr/>
          <p:nvPr/>
        </p:nvSpPr>
        <p:spPr>
          <a:xfrm>
            <a:off x="7866126" y="4702136"/>
            <a:ext cx="137160" cy="13716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hape 37">
            <a:extLst>
              <a:ext uri="{FF2B5EF4-FFF2-40B4-BE49-F238E27FC236}">
                <a16:creationId xmlns:a16="http://schemas.microsoft.com/office/drawing/2014/main" id="{6BF38738-8D45-44C2-9AE3-46BC2914E40E}"/>
              </a:ext>
            </a:extLst>
          </p:cNvPr>
          <p:cNvSpPr/>
          <p:nvPr/>
        </p:nvSpPr>
        <p:spPr>
          <a:xfrm>
            <a:off x="6977786" y="5457888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Shape 38">
            <a:extLst>
              <a:ext uri="{FF2B5EF4-FFF2-40B4-BE49-F238E27FC236}">
                <a16:creationId xmlns:a16="http://schemas.microsoft.com/office/drawing/2014/main" id="{CF603695-FD9C-45B5-B506-50DC91DACA45}"/>
              </a:ext>
            </a:extLst>
          </p:cNvPr>
          <p:cNvSpPr/>
          <p:nvPr/>
        </p:nvSpPr>
        <p:spPr>
          <a:xfrm>
            <a:off x="7640726" y="5418112"/>
            <a:ext cx="137160" cy="13716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39">
            <a:extLst>
              <a:ext uri="{FF2B5EF4-FFF2-40B4-BE49-F238E27FC236}">
                <a16:creationId xmlns:a16="http://schemas.microsoft.com/office/drawing/2014/main" id="{C1707999-AAB9-4691-85AA-B27D99EF2387}"/>
              </a:ext>
            </a:extLst>
          </p:cNvPr>
          <p:cNvSpPr/>
          <p:nvPr/>
        </p:nvSpPr>
        <p:spPr>
          <a:xfrm>
            <a:off x="7269480" y="4927536"/>
            <a:ext cx="137160" cy="1371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40">
            <a:extLst>
              <a:ext uri="{FF2B5EF4-FFF2-40B4-BE49-F238E27FC236}">
                <a16:creationId xmlns:a16="http://schemas.microsoft.com/office/drawing/2014/main" id="{021FE7DC-59E6-4638-9AFA-EF9C98E4FCD6}"/>
              </a:ext>
            </a:extLst>
          </p:cNvPr>
          <p:cNvSpPr/>
          <p:nvPr/>
        </p:nvSpPr>
        <p:spPr>
          <a:xfrm>
            <a:off x="8366760" y="490696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node</a:t>
            </a:r>
            <a:endParaRPr lang="en-US" sz="1400" b="1" dirty="0"/>
          </a:p>
        </p:txBody>
      </p:sp>
      <p:sp>
        <p:nvSpPr>
          <p:cNvPr id="70" name="Text 43">
            <a:extLst>
              <a:ext uri="{FF2B5EF4-FFF2-40B4-BE49-F238E27FC236}">
                <a16:creationId xmlns:a16="http://schemas.microsoft.com/office/drawing/2014/main" id="{6330E4AA-37A1-4C74-BD7F-76813BC25A23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41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10/40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1AEDD6-7305-4BF6-B352-CCF6AE57BB67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BC6CB58-20B3-4C7C-8CD1-7965631798E6}"/>
              </a:ext>
            </a:extLst>
          </p:cNvPr>
          <p:cNvSpPr/>
          <p:nvPr/>
        </p:nvSpPr>
        <p:spPr>
          <a:xfrm>
            <a:off x="548640" y="835651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inductive bias &amp; permutation invariance</a:t>
            </a:r>
            <a:endParaRPr lang="en-US" sz="3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5351A1AE-4171-4C78-B88D-56CE52845A4D}"/>
              </a:ext>
            </a:extLst>
          </p:cNvPr>
          <p:cNvSpPr/>
          <p:nvPr/>
        </p:nvSpPr>
        <p:spPr>
          <a:xfrm>
            <a:off x="548640" y="1932369"/>
            <a:ext cx="5623560" cy="319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are equivariant to node/edge permutation: relabel the nodes and the model produces the same (reordered) answer.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“strong relational inductive bias” lets a GNN find symmetries and equivalent sub-structures between graphs seen in training and new graphs.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 GNN trained on one graph size/topology generalizes to unseen sizes and structures — fully-connected NNs cannot.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030545B-FBCA-4D7E-AEC7-B6D0D6ED8E63}"/>
              </a:ext>
            </a:extLst>
          </p:cNvPr>
          <p:cNvSpPr/>
          <p:nvPr/>
        </p:nvSpPr>
        <p:spPr>
          <a:xfrm>
            <a:off x="6400800" y="1652448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B2545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7023458-8B30-4028-B5FB-867952166845}"/>
              </a:ext>
            </a:extLst>
          </p:cNvPr>
          <p:cNvSpPr/>
          <p:nvPr/>
        </p:nvSpPr>
        <p:spPr>
          <a:xfrm>
            <a:off x="6675120" y="1834393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graph, different order → same model</a:t>
            </a:r>
            <a:endParaRPr lang="en-US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428B3E83-AFE9-4644-BA92-B29A269973B9}"/>
              </a:ext>
            </a:extLst>
          </p:cNvPr>
          <p:cNvSpPr/>
          <p:nvPr/>
        </p:nvSpPr>
        <p:spPr>
          <a:xfrm>
            <a:off x="7860182" y="2580564"/>
            <a:ext cx="0" cy="77815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78E5A863-EF9B-468E-942A-CC4D112D46EE}"/>
              </a:ext>
            </a:extLst>
          </p:cNvPr>
          <p:cNvSpPr/>
          <p:nvPr/>
        </p:nvSpPr>
        <p:spPr>
          <a:xfrm>
            <a:off x="7860182" y="2580564"/>
            <a:ext cx="904342" cy="69403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399B6A34-014C-469D-B44E-1D34B7BAE5C5}"/>
              </a:ext>
            </a:extLst>
          </p:cNvPr>
          <p:cNvSpPr/>
          <p:nvPr/>
        </p:nvSpPr>
        <p:spPr>
          <a:xfrm>
            <a:off x="6934810" y="3358718"/>
            <a:ext cx="1829714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AD3F3EB2-577B-4BA3-9A6D-9B4DDACF0294}"/>
              </a:ext>
            </a:extLst>
          </p:cNvPr>
          <p:cNvSpPr/>
          <p:nvPr/>
        </p:nvSpPr>
        <p:spPr>
          <a:xfrm>
            <a:off x="6934810" y="3358718"/>
            <a:ext cx="420624" cy="111465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AFD33DC-F986-47F4-BD97-5D9A1537C5EB}"/>
              </a:ext>
            </a:extLst>
          </p:cNvPr>
          <p:cNvSpPr/>
          <p:nvPr/>
        </p:nvSpPr>
        <p:spPr>
          <a:xfrm>
            <a:off x="8764524" y="3274594"/>
            <a:ext cx="0" cy="1135685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FB5AC56-A09E-44A4-B113-07AB3735BDE5}"/>
              </a:ext>
            </a:extLst>
          </p:cNvPr>
          <p:cNvSpPr/>
          <p:nvPr/>
        </p:nvSpPr>
        <p:spPr>
          <a:xfrm>
            <a:off x="7355434" y="4473372"/>
            <a:ext cx="1051560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1F61E52-F76F-4159-92C5-B1BF8A27E134}"/>
              </a:ext>
            </a:extLst>
          </p:cNvPr>
          <p:cNvSpPr/>
          <p:nvPr/>
        </p:nvSpPr>
        <p:spPr>
          <a:xfrm>
            <a:off x="7860182" y="2580564"/>
            <a:ext cx="0" cy="105156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41C3A304-A147-4445-B1BF-1509D377135E}"/>
              </a:ext>
            </a:extLst>
          </p:cNvPr>
          <p:cNvSpPr/>
          <p:nvPr/>
        </p:nvSpPr>
        <p:spPr>
          <a:xfrm>
            <a:off x="7818120" y="3632124"/>
            <a:ext cx="0" cy="841248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87FF57B-635D-44B9-8731-707B9C54595A}"/>
              </a:ext>
            </a:extLst>
          </p:cNvPr>
          <p:cNvSpPr/>
          <p:nvPr/>
        </p:nvSpPr>
        <p:spPr>
          <a:xfrm>
            <a:off x="7818120" y="3632124"/>
            <a:ext cx="588874" cy="77815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6D4DADAB-5C2F-4761-ABBF-4AD174F45B3F}"/>
              </a:ext>
            </a:extLst>
          </p:cNvPr>
          <p:cNvSpPr/>
          <p:nvPr/>
        </p:nvSpPr>
        <p:spPr>
          <a:xfrm>
            <a:off x="7768742" y="2489124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7363BD0D-BB0E-419F-8608-F2DD603812B0}"/>
              </a:ext>
            </a:extLst>
          </p:cNvPr>
          <p:cNvSpPr/>
          <p:nvPr/>
        </p:nvSpPr>
        <p:spPr>
          <a:xfrm>
            <a:off x="6843370" y="3267278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E6C64AB-7BD5-4400-AC4E-425F44EBACCD}"/>
              </a:ext>
            </a:extLst>
          </p:cNvPr>
          <p:cNvSpPr/>
          <p:nvPr/>
        </p:nvSpPr>
        <p:spPr>
          <a:xfrm>
            <a:off x="8673084" y="3183154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2D831C3D-B0C4-4FDF-8CD2-7BB175113541}"/>
              </a:ext>
            </a:extLst>
          </p:cNvPr>
          <p:cNvSpPr/>
          <p:nvPr/>
        </p:nvSpPr>
        <p:spPr>
          <a:xfrm>
            <a:off x="7263994" y="4381932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8F7E1646-C143-421C-890B-6FA9D8BF8573}"/>
              </a:ext>
            </a:extLst>
          </p:cNvPr>
          <p:cNvSpPr/>
          <p:nvPr/>
        </p:nvSpPr>
        <p:spPr>
          <a:xfrm>
            <a:off x="8315554" y="4318838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D57243BE-0E3F-48B1-B370-05B3D98D0A89}"/>
              </a:ext>
            </a:extLst>
          </p:cNvPr>
          <p:cNvSpPr/>
          <p:nvPr/>
        </p:nvSpPr>
        <p:spPr>
          <a:xfrm>
            <a:off x="7726680" y="3540684"/>
            <a:ext cx="182880" cy="18288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0D7915BB-29CB-42E2-8E3B-FF667CE5EDF5}"/>
              </a:ext>
            </a:extLst>
          </p:cNvPr>
          <p:cNvSpPr/>
          <p:nvPr/>
        </p:nvSpPr>
        <p:spPr>
          <a:xfrm>
            <a:off x="6949440" y="457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1..6</a:t>
            </a:r>
            <a:endParaRPr lang="en-US" sz="1050" dirty="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D50271FA-6C72-41F7-9DFA-BC70B4D94E0C}"/>
              </a:ext>
            </a:extLst>
          </p:cNvPr>
          <p:cNvSpPr/>
          <p:nvPr/>
        </p:nvSpPr>
        <p:spPr>
          <a:xfrm>
            <a:off x="9312250" y="3358718"/>
            <a:ext cx="883310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E3CE2934-2534-40B7-9FBF-32EAAC481B8B}"/>
              </a:ext>
            </a:extLst>
          </p:cNvPr>
          <p:cNvSpPr/>
          <p:nvPr/>
        </p:nvSpPr>
        <p:spPr>
          <a:xfrm>
            <a:off x="9312250" y="3358718"/>
            <a:ext cx="1829714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5D8FEAEB-73C8-4EA6-8BB9-38ADFB6E6528}"/>
              </a:ext>
            </a:extLst>
          </p:cNvPr>
          <p:cNvSpPr/>
          <p:nvPr/>
        </p:nvSpPr>
        <p:spPr>
          <a:xfrm>
            <a:off x="10195560" y="2580564"/>
            <a:ext cx="946404" cy="69403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0A9F36E4-D4A6-40F7-A1A2-EDBD9AD5742E}"/>
              </a:ext>
            </a:extLst>
          </p:cNvPr>
          <p:cNvSpPr/>
          <p:nvPr/>
        </p:nvSpPr>
        <p:spPr>
          <a:xfrm>
            <a:off x="9312250" y="3358718"/>
            <a:ext cx="420624" cy="111465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71C0C4FE-242B-4A3C-94C6-94CA82E684D5}"/>
              </a:ext>
            </a:extLst>
          </p:cNvPr>
          <p:cNvSpPr/>
          <p:nvPr/>
        </p:nvSpPr>
        <p:spPr>
          <a:xfrm>
            <a:off x="11141964" y="3274594"/>
            <a:ext cx="0" cy="1135685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FDE9793F-88DD-43E7-956D-EE07EE1E7B04}"/>
              </a:ext>
            </a:extLst>
          </p:cNvPr>
          <p:cNvSpPr/>
          <p:nvPr/>
        </p:nvSpPr>
        <p:spPr>
          <a:xfrm>
            <a:off x="9732874" y="4473372"/>
            <a:ext cx="1051560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2D6E59BF-EA69-4ABE-B89B-5F9506774386}"/>
              </a:ext>
            </a:extLst>
          </p:cNvPr>
          <p:cNvSpPr/>
          <p:nvPr/>
        </p:nvSpPr>
        <p:spPr>
          <a:xfrm>
            <a:off x="9312250" y="3358718"/>
            <a:ext cx="883310" cy="273406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E1000A21-AEA7-443D-91E0-61A0364AD5A6}"/>
              </a:ext>
            </a:extLst>
          </p:cNvPr>
          <p:cNvSpPr/>
          <p:nvPr/>
        </p:nvSpPr>
        <p:spPr>
          <a:xfrm>
            <a:off x="10195560" y="3632124"/>
            <a:ext cx="0" cy="841248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622EBA3E-DCCC-493A-B603-FFFBC3A87DDC}"/>
              </a:ext>
            </a:extLst>
          </p:cNvPr>
          <p:cNvSpPr/>
          <p:nvPr/>
        </p:nvSpPr>
        <p:spPr>
          <a:xfrm>
            <a:off x="10195560" y="3632124"/>
            <a:ext cx="588874" cy="778154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538A864C-D747-4149-8CC3-3B82B3D8DC0A}"/>
              </a:ext>
            </a:extLst>
          </p:cNvPr>
          <p:cNvSpPr/>
          <p:nvPr/>
        </p:nvSpPr>
        <p:spPr>
          <a:xfrm>
            <a:off x="9641434" y="4381932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31">
            <a:extLst>
              <a:ext uri="{FF2B5EF4-FFF2-40B4-BE49-F238E27FC236}">
                <a16:creationId xmlns:a16="http://schemas.microsoft.com/office/drawing/2014/main" id="{D1FEF901-CF6A-4BDD-89C5-886984F94AC3}"/>
              </a:ext>
            </a:extLst>
          </p:cNvPr>
          <p:cNvSpPr/>
          <p:nvPr/>
        </p:nvSpPr>
        <p:spPr>
          <a:xfrm>
            <a:off x="10104120" y="2489124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46A4F2B6-046B-4DD8-975F-E337C4C5C09C}"/>
              </a:ext>
            </a:extLst>
          </p:cNvPr>
          <p:cNvSpPr/>
          <p:nvPr/>
        </p:nvSpPr>
        <p:spPr>
          <a:xfrm>
            <a:off x="10692994" y="4318838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C7A04C9D-56F4-499D-BB8B-8205CA04E4C8}"/>
              </a:ext>
            </a:extLst>
          </p:cNvPr>
          <p:cNvSpPr/>
          <p:nvPr/>
        </p:nvSpPr>
        <p:spPr>
          <a:xfrm>
            <a:off x="9220810" y="3267278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B699A7EF-2AA8-4524-9240-BDBBE9AC3F1B}"/>
              </a:ext>
            </a:extLst>
          </p:cNvPr>
          <p:cNvSpPr/>
          <p:nvPr/>
        </p:nvSpPr>
        <p:spPr>
          <a:xfrm>
            <a:off x="10104120" y="3540684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35">
            <a:extLst>
              <a:ext uri="{FF2B5EF4-FFF2-40B4-BE49-F238E27FC236}">
                <a16:creationId xmlns:a16="http://schemas.microsoft.com/office/drawing/2014/main" id="{A22D9252-DF9B-4A44-9290-B1BBCA05F1CC}"/>
              </a:ext>
            </a:extLst>
          </p:cNvPr>
          <p:cNvSpPr/>
          <p:nvPr/>
        </p:nvSpPr>
        <p:spPr>
          <a:xfrm>
            <a:off x="11050524" y="3183154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E4B99E3A-10C4-4E2A-A4DC-289599D71D8E}"/>
              </a:ext>
            </a:extLst>
          </p:cNvPr>
          <p:cNvSpPr/>
          <p:nvPr/>
        </p:nvSpPr>
        <p:spPr>
          <a:xfrm>
            <a:off x="9326880" y="457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shuffled</a:t>
            </a:r>
            <a:endParaRPr lang="en-US" sz="105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AB4A2D78-1F14-43B9-8097-C38AC1170A5F}"/>
              </a:ext>
            </a:extLst>
          </p:cNvPr>
          <p:cNvSpPr/>
          <p:nvPr/>
        </p:nvSpPr>
        <p:spPr>
          <a:xfrm>
            <a:off x="6675120" y="50814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identical output embedding, up to permutation</a:t>
            </a:r>
            <a:endParaRPr lang="en-US" sz="1600" dirty="0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E95EA3BE-C639-4766-B3EF-DD1207F49756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2019/2021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538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11/40</a:t>
            </a:r>
            <a:endParaRPr lang="fa-IR" sz="16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3E6A89-D03B-412D-B123-83BC52E7852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49021F-8831-45D4-9734-3DB1EF0177B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 1">
            <a:extLst>
              <a:ext uri="{FF2B5EF4-FFF2-40B4-BE49-F238E27FC236}">
                <a16:creationId xmlns:a16="http://schemas.microsoft.com/office/drawing/2014/main" id="{22569CC2-F329-4147-B1E8-9687D5C890F5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idea: message passing</a:t>
            </a:r>
            <a:endParaRPr lang="en-US" sz="30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8445796-F0AD-4298-8807-6C261F1C1F46}"/>
              </a:ext>
            </a:extLst>
          </p:cNvPr>
          <p:cNvSpPr/>
          <p:nvPr/>
        </p:nvSpPr>
        <p:spPr>
          <a:xfrm>
            <a:off x="548640" y="1397726"/>
            <a:ext cx="2596896" cy="283464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F3665DA-5D87-4B02-A07E-50194739F50D}"/>
              </a:ext>
            </a:extLst>
          </p:cNvPr>
          <p:cNvSpPr/>
          <p:nvPr/>
        </p:nvSpPr>
        <p:spPr>
          <a:xfrm>
            <a:off x="713232" y="158060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C0BF7CF-946F-42A8-8B05-682084CB6CFA}"/>
              </a:ext>
            </a:extLst>
          </p:cNvPr>
          <p:cNvSpPr/>
          <p:nvPr/>
        </p:nvSpPr>
        <p:spPr>
          <a:xfrm>
            <a:off x="713232" y="15806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F773537-EAE6-4281-B1EC-A470DA5E234D}"/>
              </a:ext>
            </a:extLst>
          </p:cNvPr>
          <p:cNvSpPr/>
          <p:nvPr/>
        </p:nvSpPr>
        <p:spPr>
          <a:xfrm>
            <a:off x="1280160" y="158060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</a:t>
            </a:r>
            <a:endParaRPr lang="en-US" sz="2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EA288A7-93D0-42C8-8155-9EDB0C4BEBD1}"/>
              </a:ext>
            </a:extLst>
          </p:cNvPr>
          <p:cNvSpPr/>
          <p:nvPr/>
        </p:nvSpPr>
        <p:spPr>
          <a:xfrm>
            <a:off x="713232" y="2174966"/>
            <a:ext cx="2267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gets a hidden state from its own input features (zero-padded if needed).</a:t>
            </a:r>
            <a:endParaRPr lang="en-US" sz="16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1ED8C1B-5E51-47B3-B274-65A9C9E28843}"/>
              </a:ext>
            </a:extLst>
          </p:cNvPr>
          <p:cNvSpPr/>
          <p:nvPr/>
        </p:nvSpPr>
        <p:spPr>
          <a:xfrm>
            <a:off x="3144788" y="2769326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2E684336-9010-4763-A4A4-8494120E2801}"/>
              </a:ext>
            </a:extLst>
          </p:cNvPr>
          <p:cNvSpPr/>
          <p:nvPr/>
        </p:nvSpPr>
        <p:spPr>
          <a:xfrm>
            <a:off x="3273552" y="1397726"/>
            <a:ext cx="2596896" cy="283464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6D1EDC5-F802-45AF-BDC8-BE9EBC64ABC2}"/>
              </a:ext>
            </a:extLst>
          </p:cNvPr>
          <p:cNvSpPr/>
          <p:nvPr/>
        </p:nvSpPr>
        <p:spPr>
          <a:xfrm>
            <a:off x="3438144" y="158060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8BC9691F-570D-47BB-9337-4A8763BE74DD}"/>
              </a:ext>
            </a:extLst>
          </p:cNvPr>
          <p:cNvSpPr/>
          <p:nvPr/>
        </p:nvSpPr>
        <p:spPr>
          <a:xfrm>
            <a:off x="3438144" y="15806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7F14941-13CE-4514-AF90-96EC4194CF96}"/>
              </a:ext>
            </a:extLst>
          </p:cNvPr>
          <p:cNvSpPr/>
          <p:nvPr/>
        </p:nvSpPr>
        <p:spPr>
          <a:xfrm>
            <a:off x="4005072" y="158060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20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EEF3E26-133B-4A72-81EE-4B3C0B695AB8}"/>
              </a:ext>
            </a:extLst>
          </p:cNvPr>
          <p:cNvSpPr/>
          <p:nvPr/>
        </p:nvSpPr>
        <p:spPr>
          <a:xfrm>
            <a:off x="3438144" y="2174966"/>
            <a:ext cx="2267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computes a message from the states of its two endpoints (+ edge features).</a:t>
            </a:r>
            <a:endParaRPr lang="en-US" sz="16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21BADE6-D32C-4FA1-9E90-BE1DECB97D4D}"/>
              </a:ext>
            </a:extLst>
          </p:cNvPr>
          <p:cNvSpPr/>
          <p:nvPr/>
        </p:nvSpPr>
        <p:spPr>
          <a:xfrm>
            <a:off x="5869700" y="2769326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430404C4-1F37-4398-BD86-8782F354916F}"/>
              </a:ext>
            </a:extLst>
          </p:cNvPr>
          <p:cNvSpPr/>
          <p:nvPr/>
        </p:nvSpPr>
        <p:spPr>
          <a:xfrm>
            <a:off x="5998464" y="1397726"/>
            <a:ext cx="2596896" cy="283464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1DDCF1E5-A206-4688-9085-9C625CB53F9A}"/>
              </a:ext>
            </a:extLst>
          </p:cNvPr>
          <p:cNvSpPr/>
          <p:nvPr/>
        </p:nvSpPr>
        <p:spPr>
          <a:xfrm>
            <a:off x="6163056" y="158060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B7FC5732-5038-4CAC-9CC1-34B2D84B8F58}"/>
              </a:ext>
            </a:extLst>
          </p:cNvPr>
          <p:cNvSpPr/>
          <p:nvPr/>
        </p:nvSpPr>
        <p:spPr>
          <a:xfrm>
            <a:off x="6163056" y="15806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511B3C52-A6AB-466C-94BA-72EB30FAD8A4}"/>
              </a:ext>
            </a:extLst>
          </p:cNvPr>
          <p:cNvSpPr/>
          <p:nvPr/>
        </p:nvSpPr>
        <p:spPr>
          <a:xfrm>
            <a:off x="6729984" y="158060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20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8BA75CC8-72D8-48BF-B266-D3B349027784}"/>
              </a:ext>
            </a:extLst>
          </p:cNvPr>
          <p:cNvSpPr/>
          <p:nvPr/>
        </p:nvSpPr>
        <p:spPr>
          <a:xfrm>
            <a:off x="6163056" y="2174966"/>
            <a:ext cx="2267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combines incoming messages (sum / mean / max / attention) into one summary vector.</a:t>
            </a:r>
            <a:endParaRPr lang="en-US" sz="16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C066E27E-9DE2-4E84-BD24-D56454AB250B}"/>
              </a:ext>
            </a:extLst>
          </p:cNvPr>
          <p:cNvSpPr/>
          <p:nvPr/>
        </p:nvSpPr>
        <p:spPr>
          <a:xfrm>
            <a:off x="8594612" y="2769326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BAB449F4-2E6A-43F5-A375-900D74049BC5}"/>
              </a:ext>
            </a:extLst>
          </p:cNvPr>
          <p:cNvSpPr/>
          <p:nvPr/>
        </p:nvSpPr>
        <p:spPr>
          <a:xfrm>
            <a:off x="8723376" y="1397726"/>
            <a:ext cx="2596896" cy="283464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B74B8BEA-3840-4D7C-9027-2B44A5595517}"/>
              </a:ext>
            </a:extLst>
          </p:cNvPr>
          <p:cNvSpPr/>
          <p:nvPr/>
        </p:nvSpPr>
        <p:spPr>
          <a:xfrm>
            <a:off x="8887968" y="158060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F7FBB98D-18A6-4D9C-82EF-844CA5F82BBD}"/>
              </a:ext>
            </a:extLst>
          </p:cNvPr>
          <p:cNvSpPr/>
          <p:nvPr/>
        </p:nvSpPr>
        <p:spPr>
          <a:xfrm>
            <a:off x="8887968" y="15806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B9C25455-D613-4DB6-ACD7-BA5F6B41CC5F}"/>
              </a:ext>
            </a:extLst>
          </p:cNvPr>
          <p:cNvSpPr/>
          <p:nvPr/>
        </p:nvSpPr>
        <p:spPr>
          <a:xfrm>
            <a:off x="9454896" y="158060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0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F61108E4-33F7-44CC-835E-D1B9BBB90088}"/>
              </a:ext>
            </a:extLst>
          </p:cNvPr>
          <p:cNvSpPr/>
          <p:nvPr/>
        </p:nvSpPr>
        <p:spPr>
          <a:xfrm>
            <a:off x="8887968" y="2174966"/>
            <a:ext cx="2267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combines the aggregated message with its previous state to get a new state.</a:t>
            </a:r>
            <a:endParaRPr lang="en-US" sz="160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A33A27BB-A122-4C84-B33C-D6C9E78E636E}"/>
              </a:ext>
            </a:extLst>
          </p:cNvPr>
          <p:cNvSpPr/>
          <p:nvPr/>
        </p:nvSpPr>
        <p:spPr>
          <a:xfrm>
            <a:off x="548640" y="4460966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603E1C78-8DD4-4A52-9E2C-70D19499023A}"/>
              </a:ext>
            </a:extLst>
          </p:cNvPr>
          <p:cNvSpPr/>
          <p:nvPr/>
        </p:nvSpPr>
        <p:spPr>
          <a:xfrm>
            <a:off x="822960" y="4552406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for T layers/iterations → information from T-hop neighborhoods reaches every node; run again on a completely different graph without retraining the same building blocks.</a:t>
            </a:r>
            <a:endParaRPr lang="en-US" dirty="0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988DCE78-424B-45EB-B6DF-15A580EEF7C7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70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12/40</a:t>
            </a:r>
            <a:endParaRPr lang="fa-IR" sz="16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3E6A89-D03B-412D-B123-83BC52E7852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49021F-8831-45D4-9734-3DB1EF0177B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 43">
            <a:extLst>
              <a:ext uri="{FF2B5EF4-FFF2-40B4-BE49-F238E27FC236}">
                <a16:creationId xmlns:a16="http://schemas.microsoft.com/office/drawing/2014/main" id="{988DCE78-424B-45EB-B6DF-15A580EEF7C7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u="none" strike="noStrike" baseline="0" dirty="0">
                <a:solidFill>
                  <a:srgbClr val="002060"/>
                </a:solidFill>
                <a:latin typeface="Times-Roman"/>
              </a:rPr>
              <a:t>Franco </a:t>
            </a:r>
            <a:r>
              <a:rPr lang="en-US" sz="1200" b="1" i="0" u="none" strike="noStrike" baseline="0" dirty="0" err="1">
                <a:solidFill>
                  <a:srgbClr val="002060"/>
                </a:solidFill>
                <a:latin typeface="Times-Roman"/>
              </a:rPr>
              <a:t>Scarselli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“</a:t>
            </a:r>
            <a:r>
              <a:rPr lang="en-US" sz="1200" b="1" i="0" u="none" strike="noStrike" baseline="0" dirty="0">
                <a:solidFill>
                  <a:srgbClr val="002060"/>
                </a:solidFill>
                <a:latin typeface="Times-Roman"/>
              </a:rPr>
              <a:t>The Graph Neural Network Model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,” </a:t>
            </a:r>
            <a:r>
              <a:rPr lang="en-US" sz="1200" b="1" i="0" u="none" strike="noStrike" baseline="0" dirty="0">
                <a:solidFill>
                  <a:srgbClr val="002060"/>
                </a:solidFill>
                <a:latin typeface="Times-Roman"/>
              </a:rPr>
              <a:t>IEEE TRANSACTIONS ON NEURAL NETWORKS, </a:t>
            </a:r>
            <a:r>
              <a:rPr lang="en-US" sz="1200" b="1" i="0" u="none" strike="noStrike" baseline="0" dirty="0" err="1">
                <a:solidFill>
                  <a:srgbClr val="002060"/>
                </a:solidFill>
                <a:latin typeface="Times-Roman"/>
              </a:rPr>
              <a:t>VOL.20</a:t>
            </a:r>
            <a:r>
              <a:rPr lang="en-US" sz="1200" b="1" i="0" u="none" strike="noStrike" baseline="0" dirty="0">
                <a:solidFill>
                  <a:srgbClr val="002060"/>
                </a:solidFill>
                <a:latin typeface="Times-Roman"/>
              </a:rPr>
              <a:t>, NO. 1, JANUARY 2009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7A8FF405-6072-4BD3-BCB9-AC429AB5044A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Scarselli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et al. (2009): recurrent diffusion to a fixed point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560C2856-A7F1-432E-A622-69D5218E354D}"/>
                  </a:ext>
                </a:extLst>
              </p:cNvPr>
              <p:cNvSpPr/>
              <p:nvPr/>
            </p:nvSpPr>
            <p:spPr>
              <a:xfrm>
                <a:off x="534924" y="1421518"/>
                <a:ext cx="5760720" cy="41653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State equation: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𝒄𝒐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[n],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[n],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[n] )   — state of node n depends on its own label, edge labels, and neighbors’ states.</a:t>
                </a:r>
                <a:endParaRPr lang="en-US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 equation: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dirty="0">
                        <a:solidFill>
                          <a:srgbClr val="16212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endParaRPr lang="en-US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States are updated iteratively (Jacobi-style) until they converge to a fixed point — guaranteed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16212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is a contraction mapping (Banach fixed-point theorem).</a:t>
                </a:r>
                <a:endParaRPr lang="en-US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Learning uses backpropagation-through-time on the “unfolded” encoding network (Almeida–Pineda algorithm).</a:t>
                </a:r>
                <a:endParaRPr lang="en-US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This model can directly process cyclic, directed, and undirected graphs — unlike earlier recursive nets limited to DAGs.</a:t>
                </a:r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560C2856-A7F1-432E-A622-69D5218E3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24" y="1421518"/>
                <a:ext cx="5760720" cy="4165344"/>
              </a:xfrm>
              <a:prstGeom prst="rect">
                <a:avLst/>
              </a:prstGeom>
              <a:blipFill>
                <a:blip r:embed="rId3"/>
                <a:stretch>
                  <a:fillRect l="-2540" t="-1757" r="-1693" b="-732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B7E98980-8FEF-4C95-9F02-4BD48E87BD09}"/>
              </a:ext>
            </a:extLst>
          </p:cNvPr>
          <p:cNvGrpSpPr/>
          <p:nvPr/>
        </p:nvGrpSpPr>
        <p:grpSpPr>
          <a:xfrm>
            <a:off x="6492240" y="1353866"/>
            <a:ext cx="5120640" cy="4480560"/>
            <a:chOff x="6492240" y="1335204"/>
            <a:chExt cx="5120640" cy="4480560"/>
          </a:xfrm>
        </p:grpSpPr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6B18846A-CB99-4ED7-8B69-5ADA5EC53D3B}"/>
                </a:ext>
              </a:extLst>
            </p:cNvPr>
            <p:cNvSpPr/>
            <p:nvPr/>
          </p:nvSpPr>
          <p:spPr>
            <a:xfrm>
              <a:off x="6492240" y="1335204"/>
              <a:ext cx="5120640" cy="4480560"/>
            </a:xfrm>
            <a:prstGeom prst="roundRect">
              <a:avLst>
                <a:gd name="adj" fmla="val 1837"/>
              </a:avLst>
            </a:prstGeom>
            <a:solidFill>
              <a:srgbClr val="0B2545"/>
            </a:solidFill>
            <a:ln w="12700">
              <a:solidFill>
                <a:srgbClr val="D8E3E8"/>
              </a:solidFill>
              <a:prstDash val="solid"/>
            </a:ln>
            <a:effectLst>
              <a:outerShdw blurRad="101600" dist="38100" dir="5400000" algn="bl" rotWithShape="0">
                <a:srgbClr val="1B2430">
                  <a:alpha val="12000"/>
                </a:srgbClr>
              </a:outerShdw>
            </a:effectLst>
          </p:spPr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7BB3D002-0275-4C38-ADDA-900707EB91C6}"/>
                </a:ext>
              </a:extLst>
            </p:cNvPr>
            <p:cNvSpPr/>
            <p:nvPr/>
          </p:nvSpPr>
          <p:spPr>
            <a:xfrm>
              <a:off x="6720840" y="1518084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Encoding network (unfolded in time</a:t>
              </a: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)</a:t>
              </a:r>
              <a:endParaRPr lang="en-US" sz="1350" dirty="0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7AA3E8A3-FEFB-400D-8C9C-8B5FE41357D9}"/>
                </a:ext>
              </a:extLst>
            </p:cNvPr>
            <p:cNvSpPr/>
            <p:nvPr/>
          </p:nvSpPr>
          <p:spPr>
            <a:xfrm>
              <a:off x="6949440" y="215816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1CE9BA15-CECF-46AB-B327-0156C1DCFD19}"/>
                </a:ext>
              </a:extLst>
            </p:cNvPr>
            <p:cNvSpPr/>
            <p:nvPr/>
          </p:nvSpPr>
          <p:spPr>
            <a:xfrm>
              <a:off x="6949440" y="298112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2486068B-D10C-4251-A3A6-900C94DBB84C}"/>
                </a:ext>
              </a:extLst>
            </p:cNvPr>
            <p:cNvSpPr/>
            <p:nvPr/>
          </p:nvSpPr>
          <p:spPr>
            <a:xfrm>
              <a:off x="6949440" y="380408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AB544EF7-01B6-49DE-95A7-86EE172B9BD4}"/>
                </a:ext>
              </a:extLst>
            </p:cNvPr>
            <p:cNvSpPr/>
            <p:nvPr/>
          </p:nvSpPr>
          <p:spPr>
            <a:xfrm>
              <a:off x="6949440" y="462704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D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</a:t>
              </a:r>
              <a:endParaRPr lang="en-US" sz="1050" dirty="0"/>
            </a:p>
          </p:txBody>
        </p:sp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B4D2FBE1-D79E-47A0-9A8E-407E81D025F2}"/>
                </a:ext>
              </a:extLst>
            </p:cNvPr>
            <p:cNvSpPr/>
            <p:nvPr/>
          </p:nvSpPr>
          <p:spPr>
            <a:xfrm>
              <a:off x="7726680" y="241419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54" name="Shape 10">
              <a:extLst>
                <a:ext uri="{FF2B5EF4-FFF2-40B4-BE49-F238E27FC236}">
                  <a16:creationId xmlns:a16="http://schemas.microsoft.com/office/drawing/2014/main" id="{2809E950-F65B-4B77-A7A7-8A5196C5B696}"/>
                </a:ext>
              </a:extLst>
            </p:cNvPr>
            <p:cNvSpPr/>
            <p:nvPr/>
          </p:nvSpPr>
          <p:spPr>
            <a:xfrm>
              <a:off x="7726680" y="323715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0D39D543-1CD2-4BAE-8A87-F616172759E0}"/>
                </a:ext>
              </a:extLst>
            </p:cNvPr>
            <p:cNvSpPr/>
            <p:nvPr/>
          </p:nvSpPr>
          <p:spPr>
            <a:xfrm>
              <a:off x="8119872" y="215816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079B0A47-7AD8-4961-8107-ED181BD32A6D}"/>
                </a:ext>
              </a:extLst>
            </p:cNvPr>
            <p:cNvSpPr/>
            <p:nvPr/>
          </p:nvSpPr>
          <p:spPr>
            <a:xfrm>
              <a:off x="8119872" y="298112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7" name="Shape 13">
              <a:extLst>
                <a:ext uri="{FF2B5EF4-FFF2-40B4-BE49-F238E27FC236}">
                  <a16:creationId xmlns:a16="http://schemas.microsoft.com/office/drawing/2014/main" id="{63B9A753-75F8-4744-BAB7-E95649864D58}"/>
                </a:ext>
              </a:extLst>
            </p:cNvPr>
            <p:cNvSpPr/>
            <p:nvPr/>
          </p:nvSpPr>
          <p:spPr>
            <a:xfrm>
              <a:off x="8119872" y="380408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100E4493-1C1F-4A35-B2DF-4F18648C4D6E}"/>
                </a:ext>
              </a:extLst>
            </p:cNvPr>
            <p:cNvSpPr/>
            <p:nvPr/>
          </p:nvSpPr>
          <p:spPr>
            <a:xfrm>
              <a:off x="8119872" y="462704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D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</a:t>
              </a:r>
              <a:endParaRPr lang="en-US" sz="1050" dirty="0"/>
            </a:p>
          </p:txBody>
        </p:sp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CD5E57D2-B4F2-4AB4-9287-E712F6CCBE71}"/>
                </a:ext>
              </a:extLst>
            </p:cNvPr>
            <p:cNvSpPr/>
            <p:nvPr/>
          </p:nvSpPr>
          <p:spPr>
            <a:xfrm>
              <a:off x="8897112" y="241419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60" name="Shape 16">
              <a:extLst>
                <a:ext uri="{FF2B5EF4-FFF2-40B4-BE49-F238E27FC236}">
                  <a16:creationId xmlns:a16="http://schemas.microsoft.com/office/drawing/2014/main" id="{A11BBDA0-7C33-4177-810C-21BE9F952576}"/>
                </a:ext>
              </a:extLst>
            </p:cNvPr>
            <p:cNvSpPr/>
            <p:nvPr/>
          </p:nvSpPr>
          <p:spPr>
            <a:xfrm>
              <a:off x="8897112" y="323715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61" name="Shape 17">
              <a:extLst>
                <a:ext uri="{FF2B5EF4-FFF2-40B4-BE49-F238E27FC236}">
                  <a16:creationId xmlns:a16="http://schemas.microsoft.com/office/drawing/2014/main" id="{4563C73B-55B8-46E1-BC18-B09260393A68}"/>
                </a:ext>
              </a:extLst>
            </p:cNvPr>
            <p:cNvSpPr/>
            <p:nvPr/>
          </p:nvSpPr>
          <p:spPr>
            <a:xfrm>
              <a:off x="9290304" y="215816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382D75AC-942B-447E-B8BC-26BC1A04C6DB}"/>
                </a:ext>
              </a:extLst>
            </p:cNvPr>
            <p:cNvSpPr/>
            <p:nvPr/>
          </p:nvSpPr>
          <p:spPr>
            <a:xfrm>
              <a:off x="9290304" y="298112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3" name="Shape 19">
              <a:extLst>
                <a:ext uri="{FF2B5EF4-FFF2-40B4-BE49-F238E27FC236}">
                  <a16:creationId xmlns:a16="http://schemas.microsoft.com/office/drawing/2014/main" id="{C4257C03-466F-43DA-AF96-C89A75927FDB}"/>
                </a:ext>
              </a:extLst>
            </p:cNvPr>
            <p:cNvSpPr/>
            <p:nvPr/>
          </p:nvSpPr>
          <p:spPr>
            <a:xfrm>
              <a:off x="9290304" y="380408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1C7293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F4FA71BC-9C5C-40EF-8E7E-30FB529FB5A4}"/>
                </a:ext>
              </a:extLst>
            </p:cNvPr>
            <p:cNvSpPr/>
            <p:nvPr/>
          </p:nvSpPr>
          <p:spPr>
            <a:xfrm>
              <a:off x="9290304" y="462704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D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t2</a:t>
              </a:r>
              <a:endParaRPr lang="en-US" sz="1050" dirty="0"/>
            </a:p>
          </p:txBody>
        </p:sp>
        <p:sp>
          <p:nvSpPr>
            <p:cNvPr id="65" name="Shape 21">
              <a:extLst>
                <a:ext uri="{FF2B5EF4-FFF2-40B4-BE49-F238E27FC236}">
                  <a16:creationId xmlns:a16="http://schemas.microsoft.com/office/drawing/2014/main" id="{CEC12270-5BE7-45EA-87CE-896ED659A09C}"/>
                </a:ext>
              </a:extLst>
            </p:cNvPr>
            <p:cNvSpPr/>
            <p:nvPr/>
          </p:nvSpPr>
          <p:spPr>
            <a:xfrm>
              <a:off x="10067544" y="241419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66" name="Shape 22">
              <a:extLst>
                <a:ext uri="{FF2B5EF4-FFF2-40B4-BE49-F238E27FC236}">
                  <a16:creationId xmlns:a16="http://schemas.microsoft.com/office/drawing/2014/main" id="{260C3DD4-3CB9-47E3-9325-934EB924DEF4}"/>
                </a:ext>
              </a:extLst>
            </p:cNvPr>
            <p:cNvSpPr/>
            <p:nvPr/>
          </p:nvSpPr>
          <p:spPr>
            <a:xfrm>
              <a:off x="10067544" y="3237156"/>
              <a:ext cx="384048" cy="0"/>
            </a:xfrm>
            <a:prstGeom prst="line">
              <a:avLst/>
            </a:prstGeom>
            <a:noFill/>
            <a:ln w="15875">
              <a:solidFill>
                <a:srgbClr val="6E8AA3"/>
              </a:solidFill>
              <a:prstDash val="solid"/>
              <a:tailEnd type="triangle"/>
            </a:ln>
          </p:spPr>
        </p:sp>
        <p:sp>
          <p:nvSpPr>
            <p:cNvPr id="67" name="Shape 23">
              <a:extLst>
                <a:ext uri="{FF2B5EF4-FFF2-40B4-BE49-F238E27FC236}">
                  <a16:creationId xmlns:a16="http://schemas.microsoft.com/office/drawing/2014/main" id="{FC859111-E70A-482E-B20A-FB90FE62B941}"/>
                </a:ext>
              </a:extLst>
            </p:cNvPr>
            <p:cNvSpPr/>
            <p:nvPr/>
          </p:nvSpPr>
          <p:spPr>
            <a:xfrm>
              <a:off x="10460736" y="215816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E8A33D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8" name="Shape 24">
              <a:extLst>
                <a:ext uri="{FF2B5EF4-FFF2-40B4-BE49-F238E27FC236}">
                  <a16:creationId xmlns:a16="http://schemas.microsoft.com/office/drawing/2014/main" id="{E3C6D962-55B4-4EDC-A6E9-332935C14F7A}"/>
                </a:ext>
              </a:extLst>
            </p:cNvPr>
            <p:cNvSpPr/>
            <p:nvPr/>
          </p:nvSpPr>
          <p:spPr>
            <a:xfrm>
              <a:off x="10460736" y="298112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E8A33D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9" name="Shape 25">
              <a:extLst>
                <a:ext uri="{FF2B5EF4-FFF2-40B4-BE49-F238E27FC236}">
                  <a16:creationId xmlns:a16="http://schemas.microsoft.com/office/drawing/2014/main" id="{39D4E0D1-644B-4989-9C07-3A3E638B99E4}"/>
                </a:ext>
              </a:extLst>
            </p:cNvPr>
            <p:cNvSpPr/>
            <p:nvPr/>
          </p:nvSpPr>
          <p:spPr>
            <a:xfrm>
              <a:off x="10460736" y="3804084"/>
              <a:ext cx="777240" cy="502920"/>
            </a:xfrm>
            <a:prstGeom prst="roundRect">
              <a:avLst>
                <a:gd name="adj" fmla="val 10909"/>
              </a:avLst>
            </a:prstGeom>
            <a:solidFill>
              <a:srgbClr val="E8A33D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0" name="Text 26">
              <a:extLst>
                <a:ext uri="{FF2B5EF4-FFF2-40B4-BE49-F238E27FC236}">
                  <a16:creationId xmlns:a16="http://schemas.microsoft.com/office/drawing/2014/main" id="{9AD20DF3-3AD3-43B0-97C6-1CDC0EB32580}"/>
                </a:ext>
              </a:extLst>
            </p:cNvPr>
            <p:cNvSpPr/>
            <p:nvPr/>
          </p:nvSpPr>
          <p:spPr>
            <a:xfrm>
              <a:off x="10460736" y="462704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D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</a:t>
              </a:r>
              <a:endParaRPr lang="en-US" sz="1050" dirty="0"/>
            </a:p>
          </p:txBody>
        </p:sp>
        <p:sp>
          <p:nvSpPr>
            <p:cNvPr id="71" name="Text 27">
              <a:extLst>
                <a:ext uri="{FF2B5EF4-FFF2-40B4-BE49-F238E27FC236}">
                  <a16:creationId xmlns:a16="http://schemas.microsoft.com/office/drawing/2014/main" id="{8FFA6F9B-A683-4A72-AF27-745C0D7D4A71}"/>
                </a:ext>
              </a:extLst>
            </p:cNvPr>
            <p:cNvSpPr/>
            <p:nvPr/>
          </p:nvSpPr>
          <p:spPr>
            <a:xfrm>
              <a:off x="6720840" y="4991869"/>
              <a:ext cx="45720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i="1" dirty="0">
                  <a:solidFill>
                    <a:srgbClr val="C9D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column = one time step, sharing the same weights f_w, g_w — a recurrent network unfolded over the graph.</a:t>
              </a:r>
              <a:endParaRPr lang="en-US" sz="14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CD34BE0-B190-4ED8-8644-C6641BF50E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63" t="26259" r="14200" b="23401"/>
          <a:stretch/>
        </p:blipFill>
        <p:spPr>
          <a:xfrm>
            <a:off x="6551894" y="2107216"/>
            <a:ext cx="5019993" cy="283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72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13/40</a:t>
            </a:r>
            <a:endParaRPr lang="fa-IR" sz="16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3E6A89-D03B-412D-B123-83BC52E7852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49021F-8831-45D4-9734-3DB1EF0177B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 43">
            <a:extLst>
              <a:ext uri="{FF2B5EF4-FFF2-40B4-BE49-F238E27FC236}">
                <a16:creationId xmlns:a16="http://schemas.microsoft.com/office/drawing/2014/main" id="{988DCE78-424B-45EB-B6DF-15A580EEF7C7}"/>
              </a:ext>
            </a:extLst>
          </p:cNvPr>
          <p:cNvSpPr/>
          <p:nvPr/>
        </p:nvSpPr>
        <p:spPr>
          <a:xfrm>
            <a:off x="542563" y="6024599"/>
            <a:ext cx="10777709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 err="1">
                <a:solidFill>
                  <a:srgbClr val="002060"/>
                </a:solidFill>
                <a:effectLst/>
              </a:rPr>
              <a:t>Zonghan</a:t>
            </a:r>
            <a:r>
              <a:rPr lang="en-US" sz="1200" b="1" i="0" dirty="0">
                <a:solidFill>
                  <a:srgbClr val="002060"/>
                </a:solidFill>
                <a:effectLst/>
              </a:rPr>
              <a:t> Wu</a:t>
            </a:r>
            <a:r>
              <a:rPr lang="en-US" sz="12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 et al., “</a:t>
            </a:r>
            <a:r>
              <a:rPr lang="en-US" sz="1200" b="1" i="0" dirty="0">
                <a:solidFill>
                  <a:srgbClr val="002060"/>
                </a:solidFill>
                <a:effectLst/>
              </a:rPr>
              <a:t>A Comprehensive Survey on Graph Neural Networks</a:t>
            </a:r>
            <a:r>
              <a:rPr lang="en-US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,” </a:t>
            </a:r>
            <a:r>
              <a:rPr lang="en-US" sz="1200" b="1" i="0" dirty="0" err="1">
                <a:solidFill>
                  <a:srgbClr val="002060"/>
                </a:solidFill>
                <a:effectLst/>
              </a:rPr>
              <a:t>arXiv:1901.00596v4</a:t>
            </a:r>
            <a:r>
              <a:rPr lang="en-US" sz="1200" b="1" i="0" dirty="0">
                <a:solidFill>
                  <a:srgbClr val="002060"/>
                </a:solidFill>
                <a:effectLst/>
              </a:rPr>
              <a:t>, 2019</a:t>
            </a:r>
            <a:r>
              <a:rPr lang="en-US" sz="1200" b="1" dirty="0">
                <a:solidFill>
                  <a:srgbClr val="002060"/>
                </a:solidFill>
              </a:rPr>
              <a:t> 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8D74E778-1C5B-4DC8-9A73-562434098B29}"/>
              </a:ext>
            </a:extLst>
          </p:cNvPr>
          <p:cNvSpPr/>
          <p:nvPr/>
        </p:nvSpPr>
        <p:spPr>
          <a:xfrm>
            <a:off x="542563" y="809431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families of modern GNNs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5D14FE-EAF0-43EC-8AFD-87A2020E3A0B}"/>
              </a:ext>
            </a:extLst>
          </p:cNvPr>
          <p:cNvGrpSpPr/>
          <p:nvPr/>
        </p:nvGrpSpPr>
        <p:grpSpPr>
          <a:xfrm>
            <a:off x="548640" y="1585271"/>
            <a:ext cx="10771632" cy="4114800"/>
            <a:chOff x="548640" y="1585271"/>
            <a:chExt cx="10771632" cy="4114800"/>
          </a:xfrm>
        </p:grpSpPr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1F2B7236-F4B7-4C6B-AD32-3A2E96AA5393}"/>
                </a:ext>
              </a:extLst>
            </p:cNvPr>
            <p:cNvSpPr/>
            <p:nvPr/>
          </p:nvSpPr>
          <p:spPr>
            <a:xfrm>
              <a:off x="548640" y="1585271"/>
              <a:ext cx="2596896" cy="4114800"/>
            </a:xfrm>
            <a:prstGeom prst="roundRect">
              <a:avLst>
                <a:gd name="adj" fmla="val 3169"/>
              </a:avLst>
            </a:prstGeom>
            <a:solidFill>
              <a:srgbClr val="FFFFFF"/>
            </a:solidFill>
            <a:ln w="12700">
              <a:solidFill>
                <a:srgbClr val="D8E3E8"/>
              </a:solidFill>
              <a:prstDash val="solid"/>
            </a:ln>
          </p:spPr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73897BAB-2572-4600-BE94-AB504931F97E}"/>
                </a:ext>
              </a:extLst>
            </p:cNvPr>
            <p:cNvSpPr/>
            <p:nvPr/>
          </p:nvSpPr>
          <p:spPr>
            <a:xfrm>
              <a:off x="731520" y="1813871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658356D7-F905-4EEE-B938-AF9F0198B962}"/>
                </a:ext>
              </a:extLst>
            </p:cNvPr>
            <p:cNvSpPr/>
            <p:nvPr/>
          </p:nvSpPr>
          <p:spPr>
            <a:xfrm>
              <a:off x="731520" y="1813871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RecGNN</a:t>
              </a:r>
              <a:endParaRPr lang="en-US" sz="900" dirty="0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D3B5CF5C-69C6-4F8B-948D-BD95CFCB8932}"/>
                </a:ext>
              </a:extLst>
            </p:cNvPr>
            <p:cNvSpPr/>
            <p:nvPr/>
          </p:nvSpPr>
          <p:spPr>
            <a:xfrm>
              <a:off x="713232" y="2453951"/>
              <a:ext cx="226771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B254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Recurrent GNNs</a:t>
              </a:r>
              <a:endParaRPr lang="en-US" dirty="0"/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9AC1E982-ECC3-4B2D-947E-BD367FD29ED4}"/>
                </a:ext>
              </a:extLst>
            </p:cNvPr>
            <p:cNvSpPr/>
            <p:nvPr/>
          </p:nvSpPr>
          <p:spPr>
            <a:xfrm>
              <a:off x="713232" y="3048311"/>
              <a:ext cx="2267712" cy="2468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Propagate neighbor information until a stable equilibrium (original GNN, GraphESN, GGNN).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42EDA87A-8883-4DC6-8707-E67766EF7A3F}"/>
                </a:ext>
              </a:extLst>
            </p:cNvPr>
            <p:cNvSpPr/>
            <p:nvPr/>
          </p:nvSpPr>
          <p:spPr>
            <a:xfrm>
              <a:off x="3273552" y="1585271"/>
              <a:ext cx="2596896" cy="4114800"/>
            </a:xfrm>
            <a:prstGeom prst="roundRect">
              <a:avLst>
                <a:gd name="adj" fmla="val 3169"/>
              </a:avLst>
            </a:prstGeom>
            <a:solidFill>
              <a:srgbClr val="FFFFFF"/>
            </a:solidFill>
            <a:ln w="12700">
              <a:solidFill>
                <a:srgbClr val="D8E3E8"/>
              </a:solidFill>
              <a:prstDash val="solid"/>
            </a:ln>
          </p:spPr>
        </p:sp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B2595509-9AE5-4CCC-BBCE-04C7BC241F08}"/>
                </a:ext>
              </a:extLst>
            </p:cNvPr>
            <p:cNvSpPr/>
            <p:nvPr/>
          </p:nvSpPr>
          <p:spPr>
            <a:xfrm>
              <a:off x="3456432" y="1813871"/>
              <a:ext cx="502920" cy="502920"/>
            </a:xfrm>
            <a:prstGeom prst="ellipse">
              <a:avLst/>
            </a:prstGeom>
            <a:solidFill>
              <a:srgbClr val="1C7293"/>
            </a:solidFill>
            <a:ln/>
          </p:spPr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BBC1DD6F-A850-4AE5-878C-A2E427C78B92}"/>
                </a:ext>
              </a:extLst>
            </p:cNvPr>
            <p:cNvSpPr/>
            <p:nvPr/>
          </p:nvSpPr>
          <p:spPr>
            <a:xfrm>
              <a:off x="3456432" y="1813871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ConvGNN</a:t>
              </a:r>
              <a:endParaRPr lang="en-US" sz="900" dirty="0"/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279EFEFC-C5EE-42FE-9E32-6E62811F62E1}"/>
                </a:ext>
              </a:extLst>
            </p:cNvPr>
            <p:cNvSpPr/>
            <p:nvPr/>
          </p:nvSpPr>
          <p:spPr>
            <a:xfrm>
              <a:off x="3438144" y="2453951"/>
              <a:ext cx="226771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B254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Convolutional GNNs</a:t>
              </a:r>
              <a:endParaRPr lang="en-US" dirty="0"/>
            </a:p>
          </p:txBody>
        </p:sp>
        <p:sp>
          <p:nvSpPr>
            <p:cNvPr id="55" name="Text 11">
              <a:extLst>
                <a:ext uri="{FF2B5EF4-FFF2-40B4-BE49-F238E27FC236}">
                  <a16:creationId xmlns:a16="http://schemas.microsoft.com/office/drawing/2014/main" id="{33CB17E3-146D-447C-A82F-635D6ECAA334}"/>
                </a:ext>
              </a:extLst>
            </p:cNvPr>
            <p:cNvSpPr/>
            <p:nvPr/>
          </p:nvSpPr>
          <p:spPr>
            <a:xfrm>
              <a:off x="3438144" y="3048311"/>
              <a:ext cx="2267712" cy="2468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Stack fixed layers, each with its own weights (spectral: ChebNet, GCN; spatial: GraphSAGE, GAT).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A5C4B7D7-B0D8-4D55-BB64-4DBABE8B87F5}"/>
                </a:ext>
              </a:extLst>
            </p:cNvPr>
            <p:cNvSpPr/>
            <p:nvPr/>
          </p:nvSpPr>
          <p:spPr>
            <a:xfrm>
              <a:off x="5998464" y="1585271"/>
              <a:ext cx="2596896" cy="4114800"/>
            </a:xfrm>
            <a:prstGeom prst="roundRect">
              <a:avLst>
                <a:gd name="adj" fmla="val 3169"/>
              </a:avLst>
            </a:prstGeom>
            <a:solidFill>
              <a:srgbClr val="FFFFFF"/>
            </a:solidFill>
            <a:ln w="12700">
              <a:solidFill>
                <a:srgbClr val="D8E3E8"/>
              </a:solidFill>
              <a:prstDash val="solid"/>
            </a:ln>
          </p:spPr>
        </p:sp>
        <p:sp>
          <p:nvSpPr>
            <p:cNvPr id="57" name="Shape 13">
              <a:extLst>
                <a:ext uri="{FF2B5EF4-FFF2-40B4-BE49-F238E27FC236}">
                  <a16:creationId xmlns:a16="http://schemas.microsoft.com/office/drawing/2014/main" id="{6EA424CB-5B75-4F6F-A8D0-0F9715311E95}"/>
                </a:ext>
              </a:extLst>
            </p:cNvPr>
            <p:cNvSpPr/>
            <p:nvPr/>
          </p:nvSpPr>
          <p:spPr>
            <a:xfrm>
              <a:off x="6181344" y="1813871"/>
              <a:ext cx="502920" cy="502920"/>
            </a:xfrm>
            <a:prstGeom prst="ellipse">
              <a:avLst/>
            </a:prstGeom>
            <a:solidFill>
              <a:srgbClr val="21295C"/>
            </a:solidFill>
            <a:ln/>
          </p:spPr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B01172D1-0A85-4C96-9472-BE55ADA593B7}"/>
                </a:ext>
              </a:extLst>
            </p:cNvPr>
            <p:cNvSpPr/>
            <p:nvPr/>
          </p:nvSpPr>
          <p:spPr>
            <a:xfrm>
              <a:off x="6181344" y="1813871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GAE</a:t>
              </a:r>
              <a:endParaRPr lang="en-US" sz="900" dirty="0"/>
            </a:p>
          </p:txBody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3CA52575-A9D4-4151-B12A-68871FF5BC1A}"/>
                </a:ext>
              </a:extLst>
            </p:cNvPr>
            <p:cNvSpPr/>
            <p:nvPr/>
          </p:nvSpPr>
          <p:spPr>
            <a:xfrm>
              <a:off x="6163056" y="2453951"/>
              <a:ext cx="226771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B254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Graph Autoencoders</a:t>
              </a:r>
              <a:endParaRPr lang="en-US" dirty="0"/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8F5A61A7-9F3A-4410-B268-B6B37382ACF3}"/>
                </a:ext>
              </a:extLst>
            </p:cNvPr>
            <p:cNvSpPr/>
            <p:nvPr/>
          </p:nvSpPr>
          <p:spPr>
            <a:xfrm>
              <a:off x="6163056" y="3048311"/>
              <a:ext cx="2267712" cy="2468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 nodes/graphs to a latent space and reconstruct structure — unsupervised embeddings and graph generation.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1" name="Shape 17">
              <a:extLst>
                <a:ext uri="{FF2B5EF4-FFF2-40B4-BE49-F238E27FC236}">
                  <a16:creationId xmlns:a16="http://schemas.microsoft.com/office/drawing/2014/main" id="{4D53FB9C-5FAC-4103-BEAE-50A2DFA9E759}"/>
                </a:ext>
              </a:extLst>
            </p:cNvPr>
            <p:cNvSpPr/>
            <p:nvPr/>
          </p:nvSpPr>
          <p:spPr>
            <a:xfrm>
              <a:off x="8723376" y="1585271"/>
              <a:ext cx="2596896" cy="4114800"/>
            </a:xfrm>
            <a:prstGeom prst="roundRect">
              <a:avLst>
                <a:gd name="adj" fmla="val 3169"/>
              </a:avLst>
            </a:prstGeom>
            <a:solidFill>
              <a:srgbClr val="FFFFFF"/>
            </a:solidFill>
            <a:ln w="12700">
              <a:solidFill>
                <a:srgbClr val="D8E3E8"/>
              </a:solidFill>
              <a:prstDash val="solid"/>
            </a:ln>
          </p:spPr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E92A5E91-BD7F-4E92-8968-AF82D022E918}"/>
                </a:ext>
              </a:extLst>
            </p:cNvPr>
            <p:cNvSpPr/>
            <p:nvPr/>
          </p:nvSpPr>
          <p:spPr>
            <a:xfrm>
              <a:off x="8906256" y="1813871"/>
              <a:ext cx="502920" cy="502920"/>
            </a:xfrm>
            <a:prstGeom prst="ellipse">
              <a:avLst/>
            </a:prstGeom>
            <a:solidFill>
              <a:srgbClr val="E8A33D"/>
            </a:solidFill>
            <a:ln/>
          </p:spPr>
        </p:sp>
        <p:sp>
          <p:nvSpPr>
            <p:cNvPr id="63" name="Text 19">
              <a:extLst>
                <a:ext uri="{FF2B5EF4-FFF2-40B4-BE49-F238E27FC236}">
                  <a16:creationId xmlns:a16="http://schemas.microsoft.com/office/drawing/2014/main" id="{6BD75B8A-35E8-4F1D-9EE6-3C15067AAB95}"/>
                </a:ext>
              </a:extLst>
            </p:cNvPr>
            <p:cNvSpPr/>
            <p:nvPr/>
          </p:nvSpPr>
          <p:spPr>
            <a:xfrm>
              <a:off x="8906256" y="1813871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STGNN</a:t>
              </a:r>
              <a:endParaRPr lang="en-US" sz="900" dirty="0"/>
            </a:p>
          </p:txBody>
        </p: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7712CEE0-32D0-40ED-94AF-22D3A9F80735}"/>
                </a:ext>
              </a:extLst>
            </p:cNvPr>
            <p:cNvSpPr/>
            <p:nvPr/>
          </p:nvSpPr>
          <p:spPr>
            <a:xfrm>
              <a:off x="8887968" y="2583734"/>
              <a:ext cx="226771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B254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Spatial-Temporal GNNs</a:t>
              </a:r>
              <a:endParaRPr lang="en-US" dirty="0"/>
            </a:p>
          </p:txBody>
        </p:sp>
        <p:sp>
          <p:nvSpPr>
            <p:cNvPr id="65" name="Text 21">
              <a:extLst>
                <a:ext uri="{FF2B5EF4-FFF2-40B4-BE49-F238E27FC236}">
                  <a16:creationId xmlns:a16="http://schemas.microsoft.com/office/drawing/2014/main" id="{9E2FB783-8C98-4EF3-AD5E-C62F089C5F3F}"/>
                </a:ext>
              </a:extLst>
            </p:cNvPr>
            <p:cNvSpPr/>
            <p:nvPr/>
          </p:nvSpPr>
          <p:spPr>
            <a:xfrm>
              <a:off x="8887968" y="3048311"/>
              <a:ext cx="2267712" cy="2468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 graph convolutions with RNNs/1D-CNNs to model graphs that evolve over time (e.g., traffic).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582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14/40</a:t>
            </a:r>
            <a:endParaRPr lang="fa-IR" sz="16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3E6A89-D03B-412D-B123-83BC52E7852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49021F-8831-45D4-9734-3DB1EF0177B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 43">
            <a:extLst>
              <a:ext uri="{FF2B5EF4-FFF2-40B4-BE49-F238E27FC236}">
                <a16:creationId xmlns:a16="http://schemas.microsoft.com/office/drawing/2014/main" id="{988DCE78-424B-45EB-B6DF-15A580EEF7C7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D072C8E7-CB95-43A1-BFDC-75501AD29D1B}"/>
              </a:ext>
            </a:extLst>
          </p:cNvPr>
          <p:cNvSpPr/>
          <p:nvPr/>
        </p:nvSpPr>
        <p:spPr>
          <a:xfrm>
            <a:off x="548640" y="71435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define “convolution” on a graph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D8E630-1045-44B1-825A-0620551C13E0}"/>
              </a:ext>
            </a:extLst>
          </p:cNvPr>
          <p:cNvGrpSpPr/>
          <p:nvPr/>
        </p:nvGrpSpPr>
        <p:grpSpPr>
          <a:xfrm>
            <a:off x="548640" y="1465834"/>
            <a:ext cx="11064240" cy="4206240"/>
            <a:chOff x="548640" y="1465834"/>
            <a:chExt cx="11064240" cy="4206240"/>
          </a:xfrm>
        </p:grpSpPr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79B13E65-661F-46EB-9CC6-3167B57A8414}"/>
                </a:ext>
              </a:extLst>
            </p:cNvPr>
            <p:cNvSpPr/>
            <p:nvPr/>
          </p:nvSpPr>
          <p:spPr>
            <a:xfrm>
              <a:off x="548640" y="1465834"/>
              <a:ext cx="5349240" cy="4206240"/>
            </a:xfrm>
            <a:prstGeom prst="roundRect">
              <a:avLst>
                <a:gd name="adj" fmla="val 1957"/>
              </a:avLst>
            </a:prstGeom>
            <a:solidFill>
              <a:srgbClr val="FFFFFF"/>
            </a:solidFill>
            <a:ln w="12700">
              <a:solidFill>
                <a:srgbClr val="D8E3E8"/>
              </a:solidFill>
              <a:prstDash val="solid"/>
            </a:ln>
            <a:effectLst>
              <a:outerShdw blurRad="101600" dist="38100" dir="5400000" algn="bl" rotWithShape="0">
                <a:srgbClr val="1B2430">
                  <a:alpha val="12000"/>
                </a:srgbClr>
              </a:outerShdw>
            </a:effectLst>
          </p:spPr>
        </p:sp>
        <p:sp>
          <p:nvSpPr>
            <p:cNvPr id="47" name="Text 3">
              <a:extLst>
                <a:ext uri="{FF2B5EF4-FFF2-40B4-BE49-F238E27FC236}">
                  <a16:creationId xmlns:a16="http://schemas.microsoft.com/office/drawing/2014/main" id="{2237F245-BCD1-4729-A9C5-E6043D29A6BF}"/>
                </a:ext>
              </a:extLst>
            </p:cNvPr>
            <p:cNvSpPr/>
            <p:nvPr/>
          </p:nvSpPr>
          <p:spPr>
            <a:xfrm>
              <a:off x="822960" y="1648714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206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Spectral approaches</a:t>
              </a:r>
              <a:endParaRPr 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DCC82440-654A-47CA-AA41-505A4CE3219E}"/>
                </a:ext>
              </a:extLst>
            </p:cNvPr>
            <p:cNvSpPr/>
            <p:nvPr/>
          </p:nvSpPr>
          <p:spPr>
            <a:xfrm>
              <a:off x="822960" y="2423160"/>
              <a:ext cx="4846320" cy="2260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1621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filters in the graph-Fourier (Laplacian eigenvector) domain.</a:t>
              </a:r>
              <a:endParaRPr lang="en-US" dirty="0"/>
            </a:p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1621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ChebNet, GCN approximate the filter with polynomials to avoid full eigendecomposition.</a:t>
              </a:r>
              <a:endParaRPr lang="en-US" dirty="0"/>
            </a:p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Limitation: filters are tied to a fixed graph structure — harder to transfer across graphs.</a:t>
              </a:r>
              <a:endParaRPr lang="en-US" dirty="0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48410389-E19F-4A86-8FC2-7A1C23D2F5F5}"/>
                </a:ext>
              </a:extLst>
            </p:cNvPr>
            <p:cNvSpPr/>
            <p:nvPr/>
          </p:nvSpPr>
          <p:spPr>
            <a:xfrm>
              <a:off x="6172200" y="1465834"/>
              <a:ext cx="5440680" cy="4206240"/>
            </a:xfrm>
            <a:prstGeom prst="roundRect">
              <a:avLst>
                <a:gd name="adj" fmla="val 1957"/>
              </a:avLst>
            </a:prstGeom>
            <a:solidFill>
              <a:srgbClr val="21295C"/>
            </a:solidFill>
            <a:ln w="12700">
              <a:solidFill>
                <a:srgbClr val="D8E3E8"/>
              </a:solidFill>
              <a:prstDash val="solid"/>
            </a:ln>
            <a:effectLst>
              <a:outerShdw blurRad="101600" dist="38100" dir="5400000" algn="bl" rotWithShape="0">
                <a:srgbClr val="1B2430">
                  <a:alpha val="12000"/>
                </a:srgbClr>
              </a:outerShdw>
            </a:effectLst>
          </p:spPr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601AF0A8-B77D-420C-8BE0-F8ACAB8E9017}"/>
                </a:ext>
              </a:extLst>
            </p:cNvPr>
            <p:cNvSpPr/>
            <p:nvPr/>
          </p:nvSpPr>
          <p:spPr>
            <a:xfrm>
              <a:off x="6446520" y="1648714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Spatial approaches</a:t>
              </a:r>
              <a:endParaRPr lang="en-US" sz="2400" dirty="0"/>
            </a:p>
          </p:txBody>
        </p:sp>
        <p:sp>
          <p:nvSpPr>
            <p:cNvPr id="51" name="Text 7">
              <a:extLst>
                <a:ext uri="{FF2B5EF4-FFF2-40B4-BE49-F238E27FC236}">
                  <a16:creationId xmlns:a16="http://schemas.microsoft.com/office/drawing/2014/main" id="{BF7009FC-E237-42CF-959A-5DE7419D8366}"/>
                </a:ext>
              </a:extLst>
            </p:cNvPr>
            <p:cNvSpPr/>
            <p:nvPr/>
          </p:nvSpPr>
          <p:spPr>
            <a:xfrm>
              <a:off x="6446520" y="2370438"/>
              <a:ext cx="4937760" cy="2531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E7EE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Aggregate neighbor features directly in the graph domain (message passing).</a:t>
              </a:r>
              <a:endParaRPr lang="en-US" dirty="0"/>
            </a:p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E7EE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GraphSAGE, GAT, MPNN — efficient, flexible, and generalize to unseen graphs.</a:t>
              </a:r>
              <a:endParaRPr lang="en-US" dirty="0"/>
            </a:p>
            <a:p>
              <a:pPr marL="228600" indent="-228600">
                <a:lnSpc>
                  <a:spcPct val="108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b="1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Dominant choice for large-scale and inductive settings — including wireless networks.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9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F08CC-DFF8-4F06-908C-564053373C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44" t="24081" r="38699" b="16326"/>
          <a:stretch/>
        </p:blipFill>
        <p:spPr>
          <a:xfrm>
            <a:off x="7052576" y="1448992"/>
            <a:ext cx="4924817" cy="41677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15/40</a:t>
            </a:r>
            <a:endParaRPr lang="fa-IR" sz="16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3319281" y="78815"/>
            <a:ext cx="5553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Definition and Development of </a:t>
            </a:r>
            <a:r>
              <a:rPr lang="en-US" sz="2000" b="1" dirty="0" err="1">
                <a:solidFill>
                  <a:srgbClr val="002060"/>
                </a:solidFill>
              </a:rPr>
              <a:t>GNN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3E6A89-D03B-412D-B123-83BC52E7852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49021F-8831-45D4-9734-3DB1EF0177B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 43">
            <a:extLst>
              <a:ext uri="{FF2B5EF4-FFF2-40B4-BE49-F238E27FC236}">
                <a16:creationId xmlns:a16="http://schemas.microsoft.com/office/drawing/2014/main" id="{988DCE78-424B-45EB-B6DF-15A580EEF7C7}"/>
              </a:ext>
            </a:extLst>
          </p:cNvPr>
          <p:cNvSpPr/>
          <p:nvPr/>
        </p:nvSpPr>
        <p:spPr>
          <a:xfrm>
            <a:off x="548640" y="6024599"/>
            <a:ext cx="11064240" cy="31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“Graph Neural Networks: A Review of Methods and Applications,” AI Open, 2020; Wu et al., “A Comprehensive Survey on Graph Neural Networks,” 2019</a:t>
            </a: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6052E2D3-3E6B-476B-A3D4-F79ACDBB6CC4}"/>
              </a:ext>
            </a:extLst>
          </p:cNvPr>
          <p:cNvSpPr/>
          <p:nvPr/>
        </p:nvSpPr>
        <p:spPr>
          <a:xfrm>
            <a:off x="299837" y="809417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GNN layer, written out</a:t>
            </a:r>
            <a:endParaRPr lang="en-US" sz="3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0A1776-AF4F-440B-8982-D257529BDF7A}"/>
              </a:ext>
            </a:extLst>
          </p:cNvPr>
          <p:cNvGrpSpPr/>
          <p:nvPr/>
        </p:nvGrpSpPr>
        <p:grpSpPr>
          <a:xfrm>
            <a:off x="296714" y="1504133"/>
            <a:ext cx="6701245" cy="1737360"/>
            <a:chOff x="548640" y="1651515"/>
            <a:chExt cx="11064240" cy="1737360"/>
          </a:xfrm>
        </p:grpSpPr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D9B86C50-8D3F-4F40-92AF-D31E714B86C9}"/>
                </a:ext>
              </a:extLst>
            </p:cNvPr>
            <p:cNvSpPr/>
            <p:nvPr/>
          </p:nvSpPr>
          <p:spPr>
            <a:xfrm>
              <a:off x="548640" y="1651515"/>
              <a:ext cx="11064240" cy="1737360"/>
            </a:xfrm>
            <a:prstGeom prst="roundRect">
              <a:avLst>
                <a:gd name="adj" fmla="val 4737"/>
              </a:avLst>
            </a:prstGeom>
            <a:solidFill>
              <a:srgbClr val="0B2545"/>
            </a:solidFill>
            <a:ln w="12700">
              <a:solidFill>
                <a:srgbClr val="D8E3E8"/>
              </a:solidFill>
              <a:prstDash val="soli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3">
                  <a:extLst>
                    <a:ext uri="{FF2B5EF4-FFF2-40B4-BE49-F238E27FC236}">
                      <a16:creationId xmlns:a16="http://schemas.microsoft.com/office/drawing/2014/main" id="{B67E5B18-C232-482F-88F5-A3BAD1C3F1AB}"/>
                    </a:ext>
                  </a:extLst>
                </p:cNvPr>
                <p:cNvSpPr/>
                <p:nvPr/>
              </p:nvSpPr>
              <p:spPr>
                <a:xfrm>
                  <a:off x="868679" y="1880115"/>
                  <a:ext cx="10734168" cy="12801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>
                    <a:lnSpc>
                      <a:spcPct val="140000"/>
                    </a:lnSpc>
                  </a:pPr>
                  <a:r>
                    <a:rPr lang="en-US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Aggregation: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sz="1600" dirty="0">
                      <a:solidFill>
                        <a:srgbClr val="FFFFFF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= AGGREGATE(t)( {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solidFill>
                        <a:srgbClr val="FFFFFF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: u ∈ N(v) } )
</a:t>
                  </a:r>
                  <a:r>
                    <a:rPr lang="en-US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Combination:</a:t>
                  </a:r>
                  <a:r>
                    <a:rPr lang="en-US" sz="16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solidFill>
                        <a:srgbClr val="FFFFFF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= COMBINE(t)(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sz="1600" dirty="0">
                      <a:solidFill>
                        <a:srgbClr val="FFFFFF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)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47" name="Text 3">
                  <a:extLst>
                    <a:ext uri="{FF2B5EF4-FFF2-40B4-BE49-F238E27FC236}">
                      <a16:creationId xmlns:a16="http://schemas.microsoft.com/office/drawing/2014/main" id="{B67E5B18-C232-482F-88F5-A3BAD1C3F1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79" y="1880115"/>
                  <a:ext cx="10734168" cy="1280160"/>
                </a:xfrm>
                <a:prstGeom prst="rect">
                  <a:avLst/>
                </a:prstGeom>
                <a:blipFill>
                  <a:blip r:embed="rId4"/>
                  <a:stretch>
                    <a:fillRect l="-2156" r="-937"/>
                  </a:stretch>
                </a:blipFill>
                <a:ln/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Text 4">
            <a:extLst>
              <a:ext uri="{FF2B5EF4-FFF2-40B4-BE49-F238E27FC236}">
                <a16:creationId xmlns:a16="http://schemas.microsoft.com/office/drawing/2014/main" id="{536F5333-E55A-4295-AAFD-F84702504FF0}"/>
              </a:ext>
            </a:extLst>
          </p:cNvPr>
          <p:cNvSpPr/>
          <p:nvPr/>
        </p:nvSpPr>
        <p:spPr>
          <a:xfrm>
            <a:off x="290638" y="3333852"/>
            <a:ext cx="670124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is permutation-invariant (sum, mean, max, or learned attention) so node order never matters.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and AGGREGATE are typically small MLPs whose weights are shared across every node in the graph.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READOUT pools all node states into a graph-level vector, if the task is graph-focused.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general layer is what will later be specialized into GNN architectures for wireless resource-management problems.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54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3112617" y="2875002"/>
            <a:ext cx="59667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cs typeface="B Nazanin" panose="00000400000000000000" pitchFamily="2" charset="-78"/>
              </a:rPr>
              <a:t>Challenges</a:t>
            </a:r>
            <a:endParaRPr lang="fa-IR" sz="6600" b="1" dirty="0">
              <a:solidFill>
                <a:schemeClr val="accent2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3974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17/40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127923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Challenges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97B2F6E7-3B04-4E96-B4EC-186B9BBF38CB}"/>
              </a:ext>
            </a:extLst>
          </p:cNvPr>
          <p:cNvSpPr/>
          <p:nvPr/>
        </p:nvSpPr>
        <p:spPr>
          <a:xfrm>
            <a:off x="548640" y="7983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1: over-smoothing with depth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3E78B6-539C-47D3-9011-0EC59E125D66}"/>
              </a:ext>
            </a:extLst>
          </p:cNvPr>
          <p:cNvGrpSpPr/>
          <p:nvPr/>
        </p:nvGrpSpPr>
        <p:grpSpPr>
          <a:xfrm>
            <a:off x="535559" y="1589638"/>
            <a:ext cx="11064240" cy="2103120"/>
            <a:chOff x="548640" y="1859280"/>
            <a:chExt cx="11064240" cy="2103120"/>
          </a:xfrm>
        </p:grpSpPr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61C04DB0-7637-4F83-8F62-82B421E1C29D}"/>
                </a:ext>
              </a:extLst>
            </p:cNvPr>
            <p:cNvSpPr/>
            <p:nvPr/>
          </p:nvSpPr>
          <p:spPr>
            <a:xfrm>
              <a:off x="548640" y="1859280"/>
              <a:ext cx="11064240" cy="2103120"/>
            </a:xfrm>
            <a:prstGeom prst="roundRect">
              <a:avLst>
                <a:gd name="adj" fmla="val 3913"/>
              </a:avLst>
            </a:prstGeom>
            <a:solidFill>
              <a:srgbClr val="FFFFFF"/>
            </a:solidFill>
            <a:ln w="25400">
              <a:solidFill>
                <a:schemeClr val="accent2">
                  <a:lumMod val="75000"/>
                </a:schemeClr>
              </a:solidFill>
              <a:prstDash val="solid"/>
            </a:ln>
            <a:effectLst>
              <a:outerShdw blurRad="190500" dist="50800" dir="5400000" algn="ctr" rotWithShape="0">
                <a:schemeClr val="accent2">
                  <a:lumMod val="75000"/>
                </a:schemeClr>
              </a:outerShdw>
            </a:effectLst>
          </p:spPr>
        </p:sp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27579AFC-CA90-4D3C-8F89-74D3B8CD4901}"/>
                </a:ext>
              </a:extLst>
            </p:cNvPr>
            <p:cNvSpPr/>
            <p:nvPr/>
          </p:nvSpPr>
          <p:spPr>
            <a:xfrm>
              <a:off x="1726387" y="2098548"/>
              <a:ext cx="0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06255D86-CE09-42A0-BD30-5DA109F09505}"/>
                </a:ext>
              </a:extLst>
            </p:cNvPr>
            <p:cNvSpPr/>
            <p:nvPr/>
          </p:nvSpPr>
          <p:spPr>
            <a:xfrm>
              <a:off x="1726387" y="2098548"/>
              <a:ext cx="747065" cy="573329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585AFB2A-28D7-4F1B-93C9-51DE15E429DE}"/>
                </a:ext>
              </a:extLst>
            </p:cNvPr>
            <p:cNvSpPr/>
            <p:nvPr/>
          </p:nvSpPr>
          <p:spPr>
            <a:xfrm>
              <a:off x="961949" y="2741371"/>
              <a:ext cx="1511503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2C68F112-4EE1-4C6C-9A6E-A7E73F0AB543}"/>
                </a:ext>
              </a:extLst>
            </p:cNvPr>
            <p:cNvSpPr/>
            <p:nvPr/>
          </p:nvSpPr>
          <p:spPr>
            <a:xfrm>
              <a:off x="961949" y="2741371"/>
              <a:ext cx="347472" cy="920801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6F6E5F74-5F82-4148-88FA-9AE2C6BCF684}"/>
                </a:ext>
              </a:extLst>
            </p:cNvPr>
            <p:cNvSpPr/>
            <p:nvPr/>
          </p:nvSpPr>
          <p:spPr>
            <a:xfrm>
              <a:off x="2473452" y="2671877"/>
              <a:ext cx="0" cy="93817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A4B43E72-974E-4D71-9F3F-5BE0733630EB}"/>
                </a:ext>
              </a:extLst>
            </p:cNvPr>
            <p:cNvSpPr/>
            <p:nvPr/>
          </p:nvSpPr>
          <p:spPr>
            <a:xfrm>
              <a:off x="1309421" y="3662172"/>
              <a:ext cx="868680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AA2EE6D0-564D-4647-BA49-7608E2BAB115}"/>
                </a:ext>
              </a:extLst>
            </p:cNvPr>
            <p:cNvSpPr/>
            <p:nvPr/>
          </p:nvSpPr>
          <p:spPr>
            <a:xfrm>
              <a:off x="1726387" y="2098548"/>
              <a:ext cx="0" cy="86868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B1057F9D-FD5C-4A90-8BEF-CB566D7D8472}"/>
                </a:ext>
              </a:extLst>
            </p:cNvPr>
            <p:cNvSpPr/>
            <p:nvPr/>
          </p:nvSpPr>
          <p:spPr>
            <a:xfrm>
              <a:off x="1691640" y="2967228"/>
              <a:ext cx="0" cy="69494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49B58F0E-CEAB-42A9-9775-3B9FC865CC5D}"/>
                </a:ext>
              </a:extLst>
            </p:cNvPr>
            <p:cNvSpPr/>
            <p:nvPr/>
          </p:nvSpPr>
          <p:spPr>
            <a:xfrm>
              <a:off x="1691640" y="2967228"/>
              <a:ext cx="486461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27B4DE36-FD57-43F6-BB3A-2067093242F1}"/>
                </a:ext>
              </a:extLst>
            </p:cNvPr>
            <p:cNvSpPr/>
            <p:nvPr/>
          </p:nvSpPr>
          <p:spPr>
            <a:xfrm>
              <a:off x="1634947" y="2007108"/>
              <a:ext cx="182880" cy="182880"/>
            </a:xfrm>
            <a:prstGeom prst="ellipse">
              <a:avLst/>
            </a:prstGeom>
            <a:solidFill>
              <a:srgbClr val="065A82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4" name="Shape 13">
              <a:extLst>
                <a:ext uri="{FF2B5EF4-FFF2-40B4-BE49-F238E27FC236}">
                  <a16:creationId xmlns:a16="http://schemas.microsoft.com/office/drawing/2014/main" id="{C8F96F50-3FAE-4DEE-A070-BB88EE398265}"/>
                </a:ext>
              </a:extLst>
            </p:cNvPr>
            <p:cNvSpPr/>
            <p:nvPr/>
          </p:nvSpPr>
          <p:spPr>
            <a:xfrm>
              <a:off x="870509" y="2649931"/>
              <a:ext cx="182880" cy="182880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758876DB-1926-45B1-A0CC-C1E07A950E50}"/>
                </a:ext>
              </a:extLst>
            </p:cNvPr>
            <p:cNvSpPr/>
            <p:nvPr/>
          </p:nvSpPr>
          <p:spPr>
            <a:xfrm>
              <a:off x="2382012" y="2580437"/>
              <a:ext cx="182880" cy="182880"/>
            </a:xfrm>
            <a:prstGeom prst="ellipse">
              <a:avLst/>
            </a:prstGeom>
            <a:solidFill>
              <a:srgbClr val="21295C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1FF70DA9-58A6-497F-941D-49EDB045D5EA}"/>
                </a:ext>
              </a:extLst>
            </p:cNvPr>
            <p:cNvSpPr/>
            <p:nvPr/>
          </p:nvSpPr>
          <p:spPr>
            <a:xfrm>
              <a:off x="1217981" y="3570732"/>
              <a:ext cx="182880" cy="182880"/>
            </a:xfrm>
            <a:prstGeom prst="ellipse">
              <a:avLst/>
            </a:prstGeom>
            <a:solidFill>
              <a:srgbClr val="E8A33D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A98F233A-431A-48B8-9A9F-920087C46EF6}"/>
                </a:ext>
              </a:extLst>
            </p:cNvPr>
            <p:cNvSpPr/>
            <p:nvPr/>
          </p:nvSpPr>
          <p:spPr>
            <a:xfrm>
              <a:off x="2086661" y="3518611"/>
              <a:ext cx="182880" cy="182880"/>
            </a:xfrm>
            <a:prstGeom prst="ellipse">
              <a:avLst/>
            </a:prstGeom>
            <a:solidFill>
              <a:srgbClr val="8FA6BC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0" name="Shape 17">
              <a:extLst>
                <a:ext uri="{FF2B5EF4-FFF2-40B4-BE49-F238E27FC236}">
                  <a16:creationId xmlns:a16="http://schemas.microsoft.com/office/drawing/2014/main" id="{8D23D27B-C71B-4B01-821C-C69A82EC20F3}"/>
                </a:ext>
              </a:extLst>
            </p:cNvPr>
            <p:cNvSpPr/>
            <p:nvPr/>
          </p:nvSpPr>
          <p:spPr>
            <a:xfrm>
              <a:off x="1600200" y="2875788"/>
              <a:ext cx="182880" cy="182880"/>
            </a:xfrm>
            <a:prstGeom prst="ellipse">
              <a:avLst/>
            </a:prstGeom>
            <a:solidFill>
              <a:srgbClr val="3E6E8C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E2F4C16B-D612-47A3-A64E-CB38BA84C1A2}"/>
                </a:ext>
              </a:extLst>
            </p:cNvPr>
            <p:cNvSpPr/>
            <p:nvPr/>
          </p:nvSpPr>
          <p:spPr>
            <a:xfrm>
              <a:off x="685800" y="36576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 1</a:t>
              </a:r>
              <a:endParaRPr lang="en-US" sz="1050" dirty="0"/>
            </a:p>
          </p:txBody>
        </p:sp>
        <p:sp>
          <p:nvSpPr>
            <p:cNvPr id="44" name="Shape 19">
              <a:extLst>
                <a:ext uri="{FF2B5EF4-FFF2-40B4-BE49-F238E27FC236}">
                  <a16:creationId xmlns:a16="http://schemas.microsoft.com/office/drawing/2014/main" id="{AF830840-6776-49A8-BC17-9078FD255FF1}"/>
                </a:ext>
              </a:extLst>
            </p:cNvPr>
            <p:cNvSpPr/>
            <p:nvPr/>
          </p:nvSpPr>
          <p:spPr>
            <a:xfrm>
              <a:off x="4469587" y="2098548"/>
              <a:ext cx="0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45" name="Shape 20">
              <a:extLst>
                <a:ext uri="{FF2B5EF4-FFF2-40B4-BE49-F238E27FC236}">
                  <a16:creationId xmlns:a16="http://schemas.microsoft.com/office/drawing/2014/main" id="{D54768B4-0AC0-4FD3-B499-E14A7418210C}"/>
                </a:ext>
              </a:extLst>
            </p:cNvPr>
            <p:cNvSpPr/>
            <p:nvPr/>
          </p:nvSpPr>
          <p:spPr>
            <a:xfrm>
              <a:off x="4469587" y="2098548"/>
              <a:ext cx="747065" cy="573329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46" name="Shape 21">
              <a:extLst>
                <a:ext uri="{FF2B5EF4-FFF2-40B4-BE49-F238E27FC236}">
                  <a16:creationId xmlns:a16="http://schemas.microsoft.com/office/drawing/2014/main" id="{D5BFD9F0-5BF9-417A-85C7-3B9C70846E9A}"/>
                </a:ext>
              </a:extLst>
            </p:cNvPr>
            <p:cNvSpPr/>
            <p:nvPr/>
          </p:nvSpPr>
          <p:spPr>
            <a:xfrm>
              <a:off x="3705149" y="2741371"/>
              <a:ext cx="1511503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47" name="Shape 22">
              <a:extLst>
                <a:ext uri="{FF2B5EF4-FFF2-40B4-BE49-F238E27FC236}">
                  <a16:creationId xmlns:a16="http://schemas.microsoft.com/office/drawing/2014/main" id="{5A1B9F1A-E85A-4ECC-9107-B3781DBD81C9}"/>
                </a:ext>
              </a:extLst>
            </p:cNvPr>
            <p:cNvSpPr/>
            <p:nvPr/>
          </p:nvSpPr>
          <p:spPr>
            <a:xfrm>
              <a:off x="3705149" y="2741371"/>
              <a:ext cx="347472" cy="920801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48" name="Shape 23">
              <a:extLst>
                <a:ext uri="{FF2B5EF4-FFF2-40B4-BE49-F238E27FC236}">
                  <a16:creationId xmlns:a16="http://schemas.microsoft.com/office/drawing/2014/main" id="{21729836-8BD4-4AB6-A07A-77E93CAAD1F8}"/>
                </a:ext>
              </a:extLst>
            </p:cNvPr>
            <p:cNvSpPr/>
            <p:nvPr/>
          </p:nvSpPr>
          <p:spPr>
            <a:xfrm>
              <a:off x="5216652" y="2671877"/>
              <a:ext cx="0" cy="93817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2D42237D-7557-4CD1-B676-4EBECE36B9AB}"/>
                </a:ext>
              </a:extLst>
            </p:cNvPr>
            <p:cNvSpPr/>
            <p:nvPr/>
          </p:nvSpPr>
          <p:spPr>
            <a:xfrm>
              <a:off x="4052621" y="3662172"/>
              <a:ext cx="868680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52" name="Shape 25">
              <a:extLst>
                <a:ext uri="{FF2B5EF4-FFF2-40B4-BE49-F238E27FC236}">
                  <a16:creationId xmlns:a16="http://schemas.microsoft.com/office/drawing/2014/main" id="{EC8379E8-AFB4-4478-8F2D-2BF532787A75}"/>
                </a:ext>
              </a:extLst>
            </p:cNvPr>
            <p:cNvSpPr/>
            <p:nvPr/>
          </p:nvSpPr>
          <p:spPr>
            <a:xfrm>
              <a:off x="4469587" y="2098548"/>
              <a:ext cx="0" cy="86868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53" name="Shape 26">
              <a:extLst>
                <a:ext uri="{FF2B5EF4-FFF2-40B4-BE49-F238E27FC236}">
                  <a16:creationId xmlns:a16="http://schemas.microsoft.com/office/drawing/2014/main" id="{A04A1626-FDBC-43AC-9550-790E38966AA3}"/>
                </a:ext>
              </a:extLst>
            </p:cNvPr>
            <p:cNvSpPr/>
            <p:nvPr/>
          </p:nvSpPr>
          <p:spPr>
            <a:xfrm>
              <a:off x="4434840" y="2967228"/>
              <a:ext cx="0" cy="69494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56" name="Shape 27">
              <a:extLst>
                <a:ext uri="{FF2B5EF4-FFF2-40B4-BE49-F238E27FC236}">
                  <a16:creationId xmlns:a16="http://schemas.microsoft.com/office/drawing/2014/main" id="{63ECF1AE-0BB2-488A-A440-FD11E5AC5669}"/>
                </a:ext>
              </a:extLst>
            </p:cNvPr>
            <p:cNvSpPr/>
            <p:nvPr/>
          </p:nvSpPr>
          <p:spPr>
            <a:xfrm>
              <a:off x="4434840" y="2967228"/>
              <a:ext cx="486461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59" name="Shape 28">
              <a:extLst>
                <a:ext uri="{FF2B5EF4-FFF2-40B4-BE49-F238E27FC236}">
                  <a16:creationId xmlns:a16="http://schemas.microsoft.com/office/drawing/2014/main" id="{50B4AF59-E2AF-43CC-A944-5B9F9C446BFF}"/>
                </a:ext>
              </a:extLst>
            </p:cNvPr>
            <p:cNvSpPr/>
            <p:nvPr/>
          </p:nvSpPr>
          <p:spPr>
            <a:xfrm>
              <a:off x="4378147" y="2007108"/>
              <a:ext cx="182880" cy="182880"/>
            </a:xfrm>
            <a:prstGeom prst="ellipse">
              <a:avLst/>
            </a:prstGeom>
            <a:solidFill>
              <a:srgbClr val="065A82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1" name="Shape 29">
              <a:extLst>
                <a:ext uri="{FF2B5EF4-FFF2-40B4-BE49-F238E27FC236}">
                  <a16:creationId xmlns:a16="http://schemas.microsoft.com/office/drawing/2014/main" id="{D4B2533A-198C-46EC-A21E-CDBC4EA4F5C3}"/>
                </a:ext>
              </a:extLst>
            </p:cNvPr>
            <p:cNvSpPr/>
            <p:nvPr/>
          </p:nvSpPr>
          <p:spPr>
            <a:xfrm>
              <a:off x="3613709" y="2649931"/>
              <a:ext cx="182880" cy="182880"/>
            </a:xfrm>
            <a:prstGeom prst="ellipse">
              <a:avLst/>
            </a:prstGeom>
            <a:solidFill>
              <a:srgbClr val="065A82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2" name="Shape 30">
              <a:extLst>
                <a:ext uri="{FF2B5EF4-FFF2-40B4-BE49-F238E27FC236}">
                  <a16:creationId xmlns:a16="http://schemas.microsoft.com/office/drawing/2014/main" id="{9A72A090-2DB8-422F-9133-DE23023DD2B7}"/>
                </a:ext>
              </a:extLst>
            </p:cNvPr>
            <p:cNvSpPr/>
            <p:nvPr/>
          </p:nvSpPr>
          <p:spPr>
            <a:xfrm>
              <a:off x="5125212" y="2580437"/>
              <a:ext cx="182880" cy="182880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3" name="Shape 31">
              <a:extLst>
                <a:ext uri="{FF2B5EF4-FFF2-40B4-BE49-F238E27FC236}">
                  <a16:creationId xmlns:a16="http://schemas.microsoft.com/office/drawing/2014/main" id="{1CA1F0FE-22E1-4B43-BDC1-6DAF94275B04}"/>
                </a:ext>
              </a:extLst>
            </p:cNvPr>
            <p:cNvSpPr/>
            <p:nvPr/>
          </p:nvSpPr>
          <p:spPr>
            <a:xfrm>
              <a:off x="3961181" y="3570732"/>
              <a:ext cx="182880" cy="182880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4" name="Shape 32">
              <a:extLst>
                <a:ext uri="{FF2B5EF4-FFF2-40B4-BE49-F238E27FC236}">
                  <a16:creationId xmlns:a16="http://schemas.microsoft.com/office/drawing/2014/main" id="{775543CF-1EF2-464F-93EF-F009869DE3F9}"/>
                </a:ext>
              </a:extLst>
            </p:cNvPr>
            <p:cNvSpPr/>
            <p:nvPr/>
          </p:nvSpPr>
          <p:spPr>
            <a:xfrm>
              <a:off x="4829861" y="3518611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5" name="Shape 33">
              <a:extLst>
                <a:ext uri="{FF2B5EF4-FFF2-40B4-BE49-F238E27FC236}">
                  <a16:creationId xmlns:a16="http://schemas.microsoft.com/office/drawing/2014/main" id="{C2DAB9B8-EE08-4204-AD8B-EC121A65B553}"/>
                </a:ext>
              </a:extLst>
            </p:cNvPr>
            <p:cNvSpPr/>
            <p:nvPr/>
          </p:nvSpPr>
          <p:spPr>
            <a:xfrm>
              <a:off x="4343400" y="2875788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6" name="Text 34">
              <a:extLst>
                <a:ext uri="{FF2B5EF4-FFF2-40B4-BE49-F238E27FC236}">
                  <a16:creationId xmlns:a16="http://schemas.microsoft.com/office/drawing/2014/main" id="{6D62877B-3DAD-4CA8-87A2-3E83AFA54593}"/>
                </a:ext>
              </a:extLst>
            </p:cNvPr>
            <p:cNvSpPr/>
            <p:nvPr/>
          </p:nvSpPr>
          <p:spPr>
            <a:xfrm>
              <a:off x="3429000" y="36576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 2</a:t>
              </a:r>
              <a:endParaRPr lang="en-US" sz="1050" dirty="0"/>
            </a:p>
          </p:txBody>
        </p:sp>
        <p:sp>
          <p:nvSpPr>
            <p:cNvPr id="67" name="Shape 35">
              <a:extLst>
                <a:ext uri="{FF2B5EF4-FFF2-40B4-BE49-F238E27FC236}">
                  <a16:creationId xmlns:a16="http://schemas.microsoft.com/office/drawing/2014/main" id="{C5183302-7ADA-43CE-A001-9E1F62F76873}"/>
                </a:ext>
              </a:extLst>
            </p:cNvPr>
            <p:cNvSpPr/>
            <p:nvPr/>
          </p:nvSpPr>
          <p:spPr>
            <a:xfrm>
              <a:off x="7212787" y="2098548"/>
              <a:ext cx="0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68" name="Shape 36">
              <a:extLst>
                <a:ext uri="{FF2B5EF4-FFF2-40B4-BE49-F238E27FC236}">
                  <a16:creationId xmlns:a16="http://schemas.microsoft.com/office/drawing/2014/main" id="{B34C9DC7-BD9F-4CC2-AA0C-D02A5DC762AA}"/>
                </a:ext>
              </a:extLst>
            </p:cNvPr>
            <p:cNvSpPr/>
            <p:nvPr/>
          </p:nvSpPr>
          <p:spPr>
            <a:xfrm>
              <a:off x="7212787" y="2098548"/>
              <a:ext cx="747065" cy="573329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69" name="Shape 37">
              <a:extLst>
                <a:ext uri="{FF2B5EF4-FFF2-40B4-BE49-F238E27FC236}">
                  <a16:creationId xmlns:a16="http://schemas.microsoft.com/office/drawing/2014/main" id="{DC0195C8-044B-4B03-A91E-05AAEABCB389}"/>
                </a:ext>
              </a:extLst>
            </p:cNvPr>
            <p:cNvSpPr/>
            <p:nvPr/>
          </p:nvSpPr>
          <p:spPr>
            <a:xfrm>
              <a:off x="6448349" y="2741371"/>
              <a:ext cx="1511503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0" name="Shape 38">
              <a:extLst>
                <a:ext uri="{FF2B5EF4-FFF2-40B4-BE49-F238E27FC236}">
                  <a16:creationId xmlns:a16="http://schemas.microsoft.com/office/drawing/2014/main" id="{3D05A5F8-7C3D-44E4-8FEB-7724E7E8A1EA}"/>
                </a:ext>
              </a:extLst>
            </p:cNvPr>
            <p:cNvSpPr/>
            <p:nvPr/>
          </p:nvSpPr>
          <p:spPr>
            <a:xfrm>
              <a:off x="6448349" y="2741371"/>
              <a:ext cx="347472" cy="920801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1" name="Shape 39">
              <a:extLst>
                <a:ext uri="{FF2B5EF4-FFF2-40B4-BE49-F238E27FC236}">
                  <a16:creationId xmlns:a16="http://schemas.microsoft.com/office/drawing/2014/main" id="{6C6F3AB8-DF92-41EE-9236-36BB18ABA3D2}"/>
                </a:ext>
              </a:extLst>
            </p:cNvPr>
            <p:cNvSpPr/>
            <p:nvPr/>
          </p:nvSpPr>
          <p:spPr>
            <a:xfrm>
              <a:off x="7959852" y="2671877"/>
              <a:ext cx="0" cy="93817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2" name="Shape 40">
              <a:extLst>
                <a:ext uri="{FF2B5EF4-FFF2-40B4-BE49-F238E27FC236}">
                  <a16:creationId xmlns:a16="http://schemas.microsoft.com/office/drawing/2014/main" id="{D24CCC0E-F0F9-4050-BE30-AE33A101871D}"/>
                </a:ext>
              </a:extLst>
            </p:cNvPr>
            <p:cNvSpPr/>
            <p:nvPr/>
          </p:nvSpPr>
          <p:spPr>
            <a:xfrm>
              <a:off x="6795821" y="3662172"/>
              <a:ext cx="868680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3" name="Shape 41">
              <a:extLst>
                <a:ext uri="{FF2B5EF4-FFF2-40B4-BE49-F238E27FC236}">
                  <a16:creationId xmlns:a16="http://schemas.microsoft.com/office/drawing/2014/main" id="{72832276-4AE8-4231-AB06-148C9B5DFD34}"/>
                </a:ext>
              </a:extLst>
            </p:cNvPr>
            <p:cNvSpPr/>
            <p:nvPr/>
          </p:nvSpPr>
          <p:spPr>
            <a:xfrm>
              <a:off x="7212787" y="2098548"/>
              <a:ext cx="0" cy="86868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4" name="Shape 42">
              <a:extLst>
                <a:ext uri="{FF2B5EF4-FFF2-40B4-BE49-F238E27FC236}">
                  <a16:creationId xmlns:a16="http://schemas.microsoft.com/office/drawing/2014/main" id="{BB10A0B8-661E-46E5-990E-5A411F5D641F}"/>
                </a:ext>
              </a:extLst>
            </p:cNvPr>
            <p:cNvSpPr/>
            <p:nvPr/>
          </p:nvSpPr>
          <p:spPr>
            <a:xfrm>
              <a:off x="7178040" y="2967228"/>
              <a:ext cx="0" cy="69494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5" name="Shape 43">
              <a:extLst>
                <a:ext uri="{FF2B5EF4-FFF2-40B4-BE49-F238E27FC236}">
                  <a16:creationId xmlns:a16="http://schemas.microsoft.com/office/drawing/2014/main" id="{4B1FFA00-B558-4742-96A4-E4779BDB1612}"/>
                </a:ext>
              </a:extLst>
            </p:cNvPr>
            <p:cNvSpPr/>
            <p:nvPr/>
          </p:nvSpPr>
          <p:spPr>
            <a:xfrm>
              <a:off x="7178040" y="2967228"/>
              <a:ext cx="486461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76" name="Shape 44">
              <a:extLst>
                <a:ext uri="{FF2B5EF4-FFF2-40B4-BE49-F238E27FC236}">
                  <a16:creationId xmlns:a16="http://schemas.microsoft.com/office/drawing/2014/main" id="{252199A5-881D-4F52-B957-859240BDACE2}"/>
                </a:ext>
              </a:extLst>
            </p:cNvPr>
            <p:cNvSpPr/>
            <p:nvPr/>
          </p:nvSpPr>
          <p:spPr>
            <a:xfrm>
              <a:off x="7121347" y="2007108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77" name="Shape 45">
              <a:extLst>
                <a:ext uri="{FF2B5EF4-FFF2-40B4-BE49-F238E27FC236}">
                  <a16:creationId xmlns:a16="http://schemas.microsoft.com/office/drawing/2014/main" id="{67604948-A6A3-4A8D-A29F-53C59DFEC015}"/>
                </a:ext>
              </a:extLst>
            </p:cNvPr>
            <p:cNvSpPr/>
            <p:nvPr/>
          </p:nvSpPr>
          <p:spPr>
            <a:xfrm>
              <a:off x="6356909" y="2649931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78" name="Shape 46">
              <a:extLst>
                <a:ext uri="{FF2B5EF4-FFF2-40B4-BE49-F238E27FC236}">
                  <a16:creationId xmlns:a16="http://schemas.microsoft.com/office/drawing/2014/main" id="{E635571F-1211-46D5-A2ED-F02D642CF361}"/>
                </a:ext>
              </a:extLst>
            </p:cNvPr>
            <p:cNvSpPr/>
            <p:nvPr/>
          </p:nvSpPr>
          <p:spPr>
            <a:xfrm>
              <a:off x="7868412" y="2580437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79" name="Shape 47">
              <a:extLst>
                <a:ext uri="{FF2B5EF4-FFF2-40B4-BE49-F238E27FC236}">
                  <a16:creationId xmlns:a16="http://schemas.microsoft.com/office/drawing/2014/main" id="{FFFB1B47-3704-48F8-B8C5-FB734AF1C776}"/>
                </a:ext>
              </a:extLst>
            </p:cNvPr>
            <p:cNvSpPr/>
            <p:nvPr/>
          </p:nvSpPr>
          <p:spPr>
            <a:xfrm>
              <a:off x="6704381" y="3570732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80" name="Shape 48">
              <a:extLst>
                <a:ext uri="{FF2B5EF4-FFF2-40B4-BE49-F238E27FC236}">
                  <a16:creationId xmlns:a16="http://schemas.microsoft.com/office/drawing/2014/main" id="{E25F0DF9-367D-4A23-88CF-DD7BEEC0A728}"/>
                </a:ext>
              </a:extLst>
            </p:cNvPr>
            <p:cNvSpPr/>
            <p:nvPr/>
          </p:nvSpPr>
          <p:spPr>
            <a:xfrm>
              <a:off x="7573061" y="3518611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81" name="Shape 49">
              <a:extLst>
                <a:ext uri="{FF2B5EF4-FFF2-40B4-BE49-F238E27FC236}">
                  <a16:creationId xmlns:a16="http://schemas.microsoft.com/office/drawing/2014/main" id="{4E350264-C565-43F7-B934-DFC5B93E576C}"/>
                </a:ext>
              </a:extLst>
            </p:cNvPr>
            <p:cNvSpPr/>
            <p:nvPr/>
          </p:nvSpPr>
          <p:spPr>
            <a:xfrm>
              <a:off x="7086600" y="2875788"/>
              <a:ext cx="182880" cy="182880"/>
            </a:xfrm>
            <a:prstGeom prst="ellipse">
              <a:avLst/>
            </a:prstGeom>
            <a:solidFill>
              <a:srgbClr val="5A8AA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82" name="Text 50">
              <a:extLst>
                <a:ext uri="{FF2B5EF4-FFF2-40B4-BE49-F238E27FC236}">
                  <a16:creationId xmlns:a16="http://schemas.microsoft.com/office/drawing/2014/main" id="{CBE91FC9-41E4-4015-94BB-C36E5B27F17A}"/>
                </a:ext>
              </a:extLst>
            </p:cNvPr>
            <p:cNvSpPr/>
            <p:nvPr/>
          </p:nvSpPr>
          <p:spPr>
            <a:xfrm>
              <a:off x="6172200" y="36576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 4</a:t>
              </a:r>
              <a:endParaRPr lang="en-US" sz="1050" dirty="0"/>
            </a:p>
          </p:txBody>
        </p:sp>
        <p:sp>
          <p:nvSpPr>
            <p:cNvPr id="83" name="Shape 51">
              <a:extLst>
                <a:ext uri="{FF2B5EF4-FFF2-40B4-BE49-F238E27FC236}">
                  <a16:creationId xmlns:a16="http://schemas.microsoft.com/office/drawing/2014/main" id="{24FCF18F-1B70-47C9-90C5-AAB1884CADAC}"/>
                </a:ext>
              </a:extLst>
            </p:cNvPr>
            <p:cNvSpPr/>
            <p:nvPr/>
          </p:nvSpPr>
          <p:spPr>
            <a:xfrm>
              <a:off x="9955987" y="2098548"/>
              <a:ext cx="0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4" name="Shape 52">
              <a:extLst>
                <a:ext uri="{FF2B5EF4-FFF2-40B4-BE49-F238E27FC236}">
                  <a16:creationId xmlns:a16="http://schemas.microsoft.com/office/drawing/2014/main" id="{97FD92A1-AE1A-44CB-A5E3-0FB0DC6FD1C9}"/>
                </a:ext>
              </a:extLst>
            </p:cNvPr>
            <p:cNvSpPr/>
            <p:nvPr/>
          </p:nvSpPr>
          <p:spPr>
            <a:xfrm>
              <a:off x="9955987" y="2098548"/>
              <a:ext cx="747065" cy="573329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5" name="Shape 53">
              <a:extLst>
                <a:ext uri="{FF2B5EF4-FFF2-40B4-BE49-F238E27FC236}">
                  <a16:creationId xmlns:a16="http://schemas.microsoft.com/office/drawing/2014/main" id="{E4879CAE-B4A4-422F-8088-47851AF63707}"/>
                </a:ext>
              </a:extLst>
            </p:cNvPr>
            <p:cNvSpPr/>
            <p:nvPr/>
          </p:nvSpPr>
          <p:spPr>
            <a:xfrm>
              <a:off x="9191549" y="2741371"/>
              <a:ext cx="1511503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6" name="Shape 54">
              <a:extLst>
                <a:ext uri="{FF2B5EF4-FFF2-40B4-BE49-F238E27FC236}">
                  <a16:creationId xmlns:a16="http://schemas.microsoft.com/office/drawing/2014/main" id="{FB592B99-B801-4064-9312-AED68B8D0D9B}"/>
                </a:ext>
              </a:extLst>
            </p:cNvPr>
            <p:cNvSpPr/>
            <p:nvPr/>
          </p:nvSpPr>
          <p:spPr>
            <a:xfrm>
              <a:off x="9191549" y="2741371"/>
              <a:ext cx="347472" cy="920801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7" name="Shape 55">
              <a:extLst>
                <a:ext uri="{FF2B5EF4-FFF2-40B4-BE49-F238E27FC236}">
                  <a16:creationId xmlns:a16="http://schemas.microsoft.com/office/drawing/2014/main" id="{E4BF45C4-9F04-47EF-93C6-6ACCCF40491B}"/>
                </a:ext>
              </a:extLst>
            </p:cNvPr>
            <p:cNvSpPr/>
            <p:nvPr/>
          </p:nvSpPr>
          <p:spPr>
            <a:xfrm>
              <a:off x="10703052" y="2671877"/>
              <a:ext cx="0" cy="93817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8" name="Shape 56">
              <a:extLst>
                <a:ext uri="{FF2B5EF4-FFF2-40B4-BE49-F238E27FC236}">
                  <a16:creationId xmlns:a16="http://schemas.microsoft.com/office/drawing/2014/main" id="{9FAB8B78-708E-4A13-9D29-B6A1AC50B176}"/>
                </a:ext>
              </a:extLst>
            </p:cNvPr>
            <p:cNvSpPr/>
            <p:nvPr/>
          </p:nvSpPr>
          <p:spPr>
            <a:xfrm>
              <a:off x="9539021" y="3662172"/>
              <a:ext cx="868680" cy="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89" name="Shape 57">
              <a:extLst>
                <a:ext uri="{FF2B5EF4-FFF2-40B4-BE49-F238E27FC236}">
                  <a16:creationId xmlns:a16="http://schemas.microsoft.com/office/drawing/2014/main" id="{4785B0C8-5CB7-46A3-949F-1AFCC7CF76ED}"/>
                </a:ext>
              </a:extLst>
            </p:cNvPr>
            <p:cNvSpPr/>
            <p:nvPr/>
          </p:nvSpPr>
          <p:spPr>
            <a:xfrm>
              <a:off x="9955987" y="2098548"/>
              <a:ext cx="0" cy="868680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90" name="Shape 58">
              <a:extLst>
                <a:ext uri="{FF2B5EF4-FFF2-40B4-BE49-F238E27FC236}">
                  <a16:creationId xmlns:a16="http://schemas.microsoft.com/office/drawing/2014/main" id="{4210BCE8-600D-4B5F-A07F-951E17F7F724}"/>
                </a:ext>
              </a:extLst>
            </p:cNvPr>
            <p:cNvSpPr/>
            <p:nvPr/>
          </p:nvSpPr>
          <p:spPr>
            <a:xfrm>
              <a:off x="9921240" y="2967228"/>
              <a:ext cx="0" cy="694944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91" name="Shape 59">
              <a:extLst>
                <a:ext uri="{FF2B5EF4-FFF2-40B4-BE49-F238E27FC236}">
                  <a16:creationId xmlns:a16="http://schemas.microsoft.com/office/drawing/2014/main" id="{C5E4DB79-3A9A-47E8-A533-B6FEFA2882A0}"/>
                </a:ext>
              </a:extLst>
            </p:cNvPr>
            <p:cNvSpPr/>
            <p:nvPr/>
          </p:nvSpPr>
          <p:spPr>
            <a:xfrm>
              <a:off x="9921240" y="2967228"/>
              <a:ext cx="486461" cy="642823"/>
            </a:xfrm>
            <a:prstGeom prst="line">
              <a:avLst/>
            </a:prstGeom>
            <a:noFill/>
            <a:ln w="15875">
              <a:solidFill>
                <a:srgbClr val="AFC7D3"/>
              </a:solidFill>
              <a:prstDash val="solid"/>
            </a:ln>
          </p:spPr>
        </p:sp>
        <p:sp>
          <p:nvSpPr>
            <p:cNvPr id="92" name="Shape 60">
              <a:extLst>
                <a:ext uri="{FF2B5EF4-FFF2-40B4-BE49-F238E27FC236}">
                  <a16:creationId xmlns:a16="http://schemas.microsoft.com/office/drawing/2014/main" id="{F792A0D8-501C-4D69-807A-A889D5CA21FC}"/>
                </a:ext>
              </a:extLst>
            </p:cNvPr>
            <p:cNvSpPr/>
            <p:nvPr/>
          </p:nvSpPr>
          <p:spPr>
            <a:xfrm>
              <a:off x="9864547" y="2007108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3" name="Shape 61">
              <a:extLst>
                <a:ext uri="{FF2B5EF4-FFF2-40B4-BE49-F238E27FC236}">
                  <a16:creationId xmlns:a16="http://schemas.microsoft.com/office/drawing/2014/main" id="{F5544760-8553-4ED8-A97E-46CE32FC9794}"/>
                </a:ext>
              </a:extLst>
            </p:cNvPr>
            <p:cNvSpPr/>
            <p:nvPr/>
          </p:nvSpPr>
          <p:spPr>
            <a:xfrm>
              <a:off x="9100109" y="2649931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4" name="Shape 62">
              <a:extLst>
                <a:ext uri="{FF2B5EF4-FFF2-40B4-BE49-F238E27FC236}">
                  <a16:creationId xmlns:a16="http://schemas.microsoft.com/office/drawing/2014/main" id="{B894DE0E-B94D-41DA-8F0B-43873DFC08DA}"/>
                </a:ext>
              </a:extLst>
            </p:cNvPr>
            <p:cNvSpPr/>
            <p:nvPr/>
          </p:nvSpPr>
          <p:spPr>
            <a:xfrm>
              <a:off x="10611612" y="2580437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5" name="Shape 63">
              <a:extLst>
                <a:ext uri="{FF2B5EF4-FFF2-40B4-BE49-F238E27FC236}">
                  <a16:creationId xmlns:a16="http://schemas.microsoft.com/office/drawing/2014/main" id="{6E9F15CA-D9CA-4F81-9563-6A7AEADA9A3B}"/>
                </a:ext>
              </a:extLst>
            </p:cNvPr>
            <p:cNvSpPr/>
            <p:nvPr/>
          </p:nvSpPr>
          <p:spPr>
            <a:xfrm>
              <a:off x="9447581" y="3570732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6" name="Shape 64">
              <a:extLst>
                <a:ext uri="{FF2B5EF4-FFF2-40B4-BE49-F238E27FC236}">
                  <a16:creationId xmlns:a16="http://schemas.microsoft.com/office/drawing/2014/main" id="{F5E3404F-BEDE-4512-B469-B53A288FC49C}"/>
                </a:ext>
              </a:extLst>
            </p:cNvPr>
            <p:cNvSpPr/>
            <p:nvPr/>
          </p:nvSpPr>
          <p:spPr>
            <a:xfrm>
              <a:off x="10316261" y="3518611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7" name="Shape 65">
              <a:extLst>
                <a:ext uri="{FF2B5EF4-FFF2-40B4-BE49-F238E27FC236}">
                  <a16:creationId xmlns:a16="http://schemas.microsoft.com/office/drawing/2014/main" id="{A65A2469-3F35-432E-B7A2-4D00656185E5}"/>
                </a:ext>
              </a:extLst>
            </p:cNvPr>
            <p:cNvSpPr/>
            <p:nvPr/>
          </p:nvSpPr>
          <p:spPr>
            <a:xfrm>
              <a:off x="9829800" y="2875788"/>
              <a:ext cx="182880" cy="182880"/>
            </a:xfrm>
            <a:prstGeom prst="ellipse">
              <a:avLst/>
            </a:prstGeom>
            <a:solidFill>
              <a:srgbClr val="9FB4C4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98" name="Text 66">
              <a:extLst>
                <a:ext uri="{FF2B5EF4-FFF2-40B4-BE49-F238E27FC236}">
                  <a16:creationId xmlns:a16="http://schemas.microsoft.com/office/drawing/2014/main" id="{77657F01-7216-4F59-8F40-694244B2E6CE}"/>
                </a:ext>
              </a:extLst>
            </p:cNvPr>
            <p:cNvSpPr/>
            <p:nvPr/>
          </p:nvSpPr>
          <p:spPr>
            <a:xfrm>
              <a:off x="8915400" y="36576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 8 (over-smoothed)</a:t>
              </a:r>
              <a:endParaRPr lang="en-US" sz="1050" dirty="0"/>
            </a:p>
          </p:txBody>
        </p:sp>
      </p:grpSp>
      <p:sp>
        <p:nvSpPr>
          <p:cNvPr id="99" name="Text 67">
            <a:extLst>
              <a:ext uri="{FF2B5EF4-FFF2-40B4-BE49-F238E27FC236}">
                <a16:creationId xmlns:a16="http://schemas.microsoft.com/office/drawing/2014/main" id="{5B8A3F71-D42D-4015-9AA5-8D9E9C0F8FCD}"/>
              </a:ext>
            </a:extLst>
          </p:cNvPr>
          <p:cNvSpPr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layer averages a node’s state with more of the graph — after enough layers, all node representations converge to the same value.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 how deep (and therefore how far-reaching) a GNN can practically be, limiting long-range dependency modeling.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skip/residual connections (JKNet, ResGCN, DenseGCN), normalization, or careful choice of pooling.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94642B7-9082-489A-AC7B-F510FA46D80E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709329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18/40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127923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Challenges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 1">
            <a:extLst>
              <a:ext uri="{FF2B5EF4-FFF2-40B4-BE49-F238E27FC236}">
                <a16:creationId xmlns:a16="http://schemas.microsoft.com/office/drawing/2014/main" id="{C6C59C07-DF75-4D9A-8CE6-231A6D9142ED}"/>
              </a:ext>
            </a:extLst>
          </p:cNvPr>
          <p:cNvSpPr/>
          <p:nvPr/>
        </p:nvSpPr>
        <p:spPr>
          <a:xfrm>
            <a:off x="548640" y="7983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2: the scalability / completeness trade-off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1" name="Text 2">
            <a:extLst>
              <a:ext uri="{FF2B5EF4-FFF2-40B4-BE49-F238E27FC236}">
                <a16:creationId xmlns:a16="http://schemas.microsoft.com/office/drawing/2014/main" id="{1E379165-1C69-4D2A-8205-592332B68D43}"/>
              </a:ext>
            </a:extLst>
          </p:cNvPr>
          <p:cNvSpPr/>
          <p:nvPr/>
        </p:nvSpPr>
        <p:spPr>
          <a:xfrm>
            <a:off x="548640" y="1615122"/>
            <a:ext cx="5669280" cy="456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Full-batch training over a graph’s whole adjacency matrix (O(N²) space) is infeasible for graphs with millions of nodes.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is the fix — but it always discards part of the graph:</a:t>
            </a:r>
            <a:endParaRPr lang="en-US" dirty="0"/>
          </a:p>
          <a:p>
            <a:pPr marL="762000" lvl="1" indent="-381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sampling (GraphSAGE): fixed number of neighbors per node.</a:t>
            </a:r>
            <a:endParaRPr lang="en-US" dirty="0"/>
          </a:p>
          <a:p>
            <a:pPr marL="762000" lvl="1" indent="-381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sampling (FastGCN): fixed set of nodes per layer.</a:t>
            </a:r>
            <a:endParaRPr lang="en-US" dirty="0"/>
          </a:p>
          <a:p>
            <a:pPr marL="762000" lvl="1" indent="-381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sampling (Cluster-GCN, GraphSAINT): train on sampled sub-graphs.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scheme trades some structural completeness for tractable memory and compute.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B0D44D-25DD-4A1F-A17B-D814A66BA6DD}"/>
              </a:ext>
            </a:extLst>
          </p:cNvPr>
          <p:cNvGrpSpPr/>
          <p:nvPr/>
        </p:nvGrpSpPr>
        <p:grpSpPr>
          <a:xfrm>
            <a:off x="6400800" y="1652446"/>
            <a:ext cx="5212080" cy="4206240"/>
            <a:chOff x="6400800" y="1783080"/>
            <a:chExt cx="5212080" cy="4206240"/>
          </a:xfrm>
        </p:grpSpPr>
        <p:sp>
          <p:nvSpPr>
            <p:cNvPr id="102" name="Shape 3">
              <a:extLst>
                <a:ext uri="{FF2B5EF4-FFF2-40B4-BE49-F238E27FC236}">
                  <a16:creationId xmlns:a16="http://schemas.microsoft.com/office/drawing/2014/main" id="{B56D7661-119C-4D3E-AADA-53348655D934}"/>
                </a:ext>
              </a:extLst>
            </p:cNvPr>
            <p:cNvSpPr/>
            <p:nvPr/>
          </p:nvSpPr>
          <p:spPr>
            <a:xfrm>
              <a:off x="6400800" y="1783080"/>
              <a:ext cx="5212080" cy="4206240"/>
            </a:xfrm>
            <a:prstGeom prst="roundRect">
              <a:avLst>
                <a:gd name="adj" fmla="val 195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dist="38100" dir="5400000" algn="bl" rotWithShape="0">
                <a:schemeClr val="tx1">
                  <a:alpha val="75000"/>
                </a:schemeClr>
              </a:outerShdw>
            </a:effectLst>
          </p:spPr>
        </p:sp>
        <p:sp>
          <p:nvSpPr>
            <p:cNvPr id="103" name="Text 4">
              <a:extLst>
                <a:ext uri="{FF2B5EF4-FFF2-40B4-BE49-F238E27FC236}">
                  <a16:creationId xmlns:a16="http://schemas.microsoft.com/office/drawing/2014/main" id="{FE01B644-56E0-454B-849D-5CC44F435EB2}"/>
                </a:ext>
              </a:extLst>
            </p:cNvPr>
            <p:cNvSpPr/>
            <p:nvPr/>
          </p:nvSpPr>
          <p:spPr>
            <a:xfrm>
              <a:off x="6675120" y="1965960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Full graph</a:t>
              </a:r>
              <a:endParaRPr lang="en-US" sz="2000" dirty="0"/>
            </a:p>
          </p:txBody>
        </p:sp>
        <p:sp>
          <p:nvSpPr>
            <p:cNvPr id="104" name="Shape 5">
              <a:extLst>
                <a:ext uri="{FF2B5EF4-FFF2-40B4-BE49-F238E27FC236}">
                  <a16:creationId xmlns:a16="http://schemas.microsoft.com/office/drawing/2014/main" id="{D0DD66A1-DEFE-457D-A30D-4960B317379F}"/>
                </a:ext>
              </a:extLst>
            </p:cNvPr>
            <p:cNvSpPr/>
            <p:nvPr/>
          </p:nvSpPr>
          <p:spPr>
            <a:xfrm>
              <a:off x="7643636" y="2451153"/>
              <a:ext cx="0" cy="676656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05" name="Shape 6">
              <a:extLst>
                <a:ext uri="{FF2B5EF4-FFF2-40B4-BE49-F238E27FC236}">
                  <a16:creationId xmlns:a16="http://schemas.microsoft.com/office/drawing/2014/main" id="{109CBE75-1130-43CF-BD98-9A22B3224570}"/>
                </a:ext>
              </a:extLst>
            </p:cNvPr>
            <p:cNvSpPr/>
            <p:nvPr/>
          </p:nvSpPr>
          <p:spPr>
            <a:xfrm>
              <a:off x="7643636" y="2451153"/>
              <a:ext cx="822960" cy="603504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07" name="Shape 7">
              <a:extLst>
                <a:ext uri="{FF2B5EF4-FFF2-40B4-BE49-F238E27FC236}">
                  <a16:creationId xmlns:a16="http://schemas.microsoft.com/office/drawing/2014/main" id="{5D223721-F2F3-4099-AA44-E0F984018E8B}"/>
                </a:ext>
              </a:extLst>
            </p:cNvPr>
            <p:cNvSpPr/>
            <p:nvPr/>
          </p:nvSpPr>
          <p:spPr>
            <a:xfrm>
              <a:off x="6875540" y="3127809"/>
              <a:ext cx="1591056" cy="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08" name="Shape 8">
              <a:extLst>
                <a:ext uri="{FF2B5EF4-FFF2-40B4-BE49-F238E27FC236}">
                  <a16:creationId xmlns:a16="http://schemas.microsoft.com/office/drawing/2014/main" id="{3EA2C333-C74C-4797-9160-D7FBD5ECCD41}"/>
                </a:ext>
              </a:extLst>
            </p:cNvPr>
            <p:cNvSpPr/>
            <p:nvPr/>
          </p:nvSpPr>
          <p:spPr>
            <a:xfrm>
              <a:off x="6875540" y="3127809"/>
              <a:ext cx="365760" cy="969264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09" name="Shape 9">
              <a:extLst>
                <a:ext uri="{FF2B5EF4-FFF2-40B4-BE49-F238E27FC236}">
                  <a16:creationId xmlns:a16="http://schemas.microsoft.com/office/drawing/2014/main" id="{6DA582BC-6E82-4739-B30F-B76004529859}"/>
                </a:ext>
              </a:extLst>
            </p:cNvPr>
            <p:cNvSpPr/>
            <p:nvPr/>
          </p:nvSpPr>
          <p:spPr>
            <a:xfrm>
              <a:off x="8466596" y="3054657"/>
              <a:ext cx="0" cy="987552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1" name="Shape 10">
              <a:extLst>
                <a:ext uri="{FF2B5EF4-FFF2-40B4-BE49-F238E27FC236}">
                  <a16:creationId xmlns:a16="http://schemas.microsoft.com/office/drawing/2014/main" id="{F3A63262-1ADA-450D-9215-4FE0F9BA70A6}"/>
                </a:ext>
              </a:extLst>
            </p:cNvPr>
            <p:cNvSpPr/>
            <p:nvPr/>
          </p:nvSpPr>
          <p:spPr>
            <a:xfrm>
              <a:off x="7241300" y="4097073"/>
              <a:ext cx="914400" cy="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2" name="Shape 11">
              <a:extLst>
                <a:ext uri="{FF2B5EF4-FFF2-40B4-BE49-F238E27FC236}">
                  <a16:creationId xmlns:a16="http://schemas.microsoft.com/office/drawing/2014/main" id="{788D72AB-A11F-4D81-A169-CBBF88367E82}"/>
                </a:ext>
              </a:extLst>
            </p:cNvPr>
            <p:cNvSpPr/>
            <p:nvPr/>
          </p:nvSpPr>
          <p:spPr>
            <a:xfrm>
              <a:off x="7643636" y="2451153"/>
              <a:ext cx="0" cy="91440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3" name="Shape 12">
              <a:extLst>
                <a:ext uri="{FF2B5EF4-FFF2-40B4-BE49-F238E27FC236}">
                  <a16:creationId xmlns:a16="http://schemas.microsoft.com/office/drawing/2014/main" id="{D1F35124-F730-4C45-AE80-BB69BD77D432}"/>
                </a:ext>
              </a:extLst>
            </p:cNvPr>
            <p:cNvSpPr/>
            <p:nvPr/>
          </p:nvSpPr>
          <p:spPr>
            <a:xfrm>
              <a:off x="7643636" y="3365553"/>
              <a:ext cx="0" cy="73152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4" name="Shape 13">
              <a:extLst>
                <a:ext uri="{FF2B5EF4-FFF2-40B4-BE49-F238E27FC236}">
                  <a16:creationId xmlns:a16="http://schemas.microsoft.com/office/drawing/2014/main" id="{2DEF76C5-5C29-47B2-92A0-AFB739858FE0}"/>
                </a:ext>
              </a:extLst>
            </p:cNvPr>
            <p:cNvSpPr/>
            <p:nvPr/>
          </p:nvSpPr>
          <p:spPr>
            <a:xfrm>
              <a:off x="7643636" y="3365553"/>
              <a:ext cx="512064" cy="676656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5" name="Shape 14">
              <a:extLst>
                <a:ext uri="{FF2B5EF4-FFF2-40B4-BE49-F238E27FC236}">
                  <a16:creationId xmlns:a16="http://schemas.microsoft.com/office/drawing/2014/main" id="{8580829B-5173-40F7-AF2F-B42ACCB38339}"/>
                </a:ext>
              </a:extLst>
            </p:cNvPr>
            <p:cNvSpPr/>
            <p:nvPr/>
          </p:nvSpPr>
          <p:spPr>
            <a:xfrm>
              <a:off x="7241300" y="4097073"/>
              <a:ext cx="0" cy="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6" name="Shape 15">
              <a:extLst>
                <a:ext uri="{FF2B5EF4-FFF2-40B4-BE49-F238E27FC236}">
                  <a16:creationId xmlns:a16="http://schemas.microsoft.com/office/drawing/2014/main" id="{EC43961D-1051-42B9-B4F0-827E416E7D1D}"/>
                </a:ext>
              </a:extLst>
            </p:cNvPr>
            <p:cNvSpPr/>
            <p:nvPr/>
          </p:nvSpPr>
          <p:spPr>
            <a:xfrm>
              <a:off x="8155700" y="4042209"/>
              <a:ext cx="310896" cy="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735E55CD-E751-4BCC-BDC4-FB694A8BAAE9}"/>
                </a:ext>
              </a:extLst>
            </p:cNvPr>
            <p:cNvSpPr/>
            <p:nvPr/>
          </p:nvSpPr>
          <p:spPr>
            <a:xfrm>
              <a:off x="7643636" y="2999793"/>
              <a:ext cx="0" cy="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8" name="Shape 17">
              <a:extLst>
                <a:ext uri="{FF2B5EF4-FFF2-40B4-BE49-F238E27FC236}">
                  <a16:creationId xmlns:a16="http://schemas.microsoft.com/office/drawing/2014/main" id="{9220888D-B101-4DF9-889A-9424110D8295}"/>
                </a:ext>
              </a:extLst>
            </p:cNvPr>
            <p:cNvSpPr/>
            <p:nvPr/>
          </p:nvSpPr>
          <p:spPr>
            <a:xfrm>
              <a:off x="7643636" y="2999793"/>
              <a:ext cx="0" cy="128016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19" name="Shape 18">
              <a:extLst>
                <a:ext uri="{FF2B5EF4-FFF2-40B4-BE49-F238E27FC236}">
                  <a16:creationId xmlns:a16="http://schemas.microsoft.com/office/drawing/2014/main" id="{E154D9EC-BADD-4667-A200-9ACF0DE180C1}"/>
                </a:ext>
              </a:extLst>
            </p:cNvPr>
            <p:cNvSpPr/>
            <p:nvPr/>
          </p:nvSpPr>
          <p:spPr>
            <a:xfrm>
              <a:off x="7643636" y="2999793"/>
              <a:ext cx="822960" cy="54864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20" name="Shape 19">
              <a:extLst>
                <a:ext uri="{FF2B5EF4-FFF2-40B4-BE49-F238E27FC236}">
                  <a16:creationId xmlns:a16="http://schemas.microsoft.com/office/drawing/2014/main" id="{DE276B7A-80FB-487B-AED5-D185AE3D1A7B}"/>
                </a:ext>
              </a:extLst>
            </p:cNvPr>
            <p:cNvSpPr/>
            <p:nvPr/>
          </p:nvSpPr>
          <p:spPr>
            <a:xfrm>
              <a:off x="7561340" y="2368857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1" name="Shape 20">
              <a:extLst>
                <a:ext uri="{FF2B5EF4-FFF2-40B4-BE49-F238E27FC236}">
                  <a16:creationId xmlns:a16="http://schemas.microsoft.com/office/drawing/2014/main" id="{26C67849-3E1E-4969-A775-D33C6991070D}"/>
                </a:ext>
              </a:extLst>
            </p:cNvPr>
            <p:cNvSpPr/>
            <p:nvPr/>
          </p:nvSpPr>
          <p:spPr>
            <a:xfrm>
              <a:off x="6793244" y="3045513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2" name="Shape 21">
              <a:extLst>
                <a:ext uri="{FF2B5EF4-FFF2-40B4-BE49-F238E27FC236}">
                  <a16:creationId xmlns:a16="http://schemas.microsoft.com/office/drawing/2014/main" id="{B3468678-EE19-4066-A613-12F00646D1F6}"/>
                </a:ext>
              </a:extLst>
            </p:cNvPr>
            <p:cNvSpPr/>
            <p:nvPr/>
          </p:nvSpPr>
          <p:spPr>
            <a:xfrm>
              <a:off x="8384300" y="2972361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3" name="Shape 22">
              <a:extLst>
                <a:ext uri="{FF2B5EF4-FFF2-40B4-BE49-F238E27FC236}">
                  <a16:creationId xmlns:a16="http://schemas.microsoft.com/office/drawing/2014/main" id="{F958E4D2-1C40-4A03-979C-83CF06C18E1D}"/>
                </a:ext>
              </a:extLst>
            </p:cNvPr>
            <p:cNvSpPr/>
            <p:nvPr/>
          </p:nvSpPr>
          <p:spPr>
            <a:xfrm>
              <a:off x="7159004" y="4014777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C8C05D96-6F96-4F2F-AA9C-2F5AE3BD0D9B}"/>
                </a:ext>
              </a:extLst>
            </p:cNvPr>
            <p:cNvSpPr/>
            <p:nvPr/>
          </p:nvSpPr>
          <p:spPr>
            <a:xfrm>
              <a:off x="8073404" y="3959913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A98F0740-A958-494C-806E-39CEF9DAF190}"/>
                </a:ext>
              </a:extLst>
            </p:cNvPr>
            <p:cNvSpPr/>
            <p:nvPr/>
          </p:nvSpPr>
          <p:spPr>
            <a:xfrm>
              <a:off x="7561340" y="3283257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7" name="Shape 26">
              <a:extLst>
                <a:ext uri="{FF2B5EF4-FFF2-40B4-BE49-F238E27FC236}">
                  <a16:creationId xmlns:a16="http://schemas.microsoft.com/office/drawing/2014/main" id="{9C1A5101-B4B9-460D-A071-7CF808D97655}"/>
                </a:ext>
              </a:extLst>
            </p:cNvPr>
            <p:cNvSpPr/>
            <p:nvPr/>
          </p:nvSpPr>
          <p:spPr>
            <a:xfrm>
              <a:off x="8384300" y="3923337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8" name="Shape 27">
              <a:extLst>
                <a:ext uri="{FF2B5EF4-FFF2-40B4-BE49-F238E27FC236}">
                  <a16:creationId xmlns:a16="http://schemas.microsoft.com/office/drawing/2014/main" id="{A89B26FF-0175-40C1-860C-BBE0767CBC83}"/>
                </a:ext>
              </a:extLst>
            </p:cNvPr>
            <p:cNvSpPr/>
            <p:nvPr/>
          </p:nvSpPr>
          <p:spPr>
            <a:xfrm>
              <a:off x="7561340" y="2917497"/>
              <a:ext cx="164592" cy="164592"/>
            </a:xfrm>
            <a:prstGeom prst="ellipse">
              <a:avLst/>
            </a:prstGeom>
            <a:solidFill>
              <a:srgbClr val="1C7293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29" name="Shape 28">
              <a:extLst>
                <a:ext uri="{FF2B5EF4-FFF2-40B4-BE49-F238E27FC236}">
                  <a16:creationId xmlns:a16="http://schemas.microsoft.com/office/drawing/2014/main" id="{0C2CA72A-CC2C-48AE-9DF7-AAE80FF0976E}"/>
                </a:ext>
              </a:extLst>
            </p:cNvPr>
            <p:cNvSpPr/>
            <p:nvPr/>
          </p:nvSpPr>
          <p:spPr>
            <a:xfrm>
              <a:off x="9288626" y="3246120"/>
              <a:ext cx="1809750" cy="914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olid"/>
              <a:tailEnd type="arrow"/>
            </a:ln>
          </p:spPr>
        </p:sp>
        <p:sp>
          <p:nvSpPr>
            <p:cNvPr id="130" name="Text 29">
              <a:extLst>
                <a:ext uri="{FF2B5EF4-FFF2-40B4-BE49-F238E27FC236}">
                  <a16:creationId xmlns:a16="http://schemas.microsoft.com/office/drawing/2014/main" id="{CFFAD002-C641-4FA4-BE25-042B09FA8AB6}"/>
                </a:ext>
              </a:extLst>
            </p:cNvPr>
            <p:cNvSpPr/>
            <p:nvPr/>
          </p:nvSpPr>
          <p:spPr>
            <a:xfrm>
              <a:off x="9700105" y="2866644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sample</a:t>
              </a:r>
              <a:endParaRPr lang="en-US" sz="2000" dirty="0"/>
            </a:p>
          </p:txBody>
        </p:sp>
        <p:sp>
          <p:nvSpPr>
            <p:cNvPr id="131" name="Text 30">
              <a:extLst>
                <a:ext uri="{FF2B5EF4-FFF2-40B4-BE49-F238E27FC236}">
                  <a16:creationId xmlns:a16="http://schemas.microsoft.com/office/drawing/2014/main" id="{F3517185-7E0E-48AB-9BA3-95D56339BD91}"/>
                </a:ext>
              </a:extLst>
            </p:cNvPr>
            <p:cNvSpPr/>
            <p:nvPr/>
          </p:nvSpPr>
          <p:spPr>
            <a:xfrm>
              <a:off x="6675120" y="4523489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Sampled sub-graph</a:t>
              </a:r>
              <a:endParaRPr lang="en-US" sz="2000" dirty="0"/>
            </a:p>
          </p:txBody>
        </p:sp>
        <p:sp>
          <p:nvSpPr>
            <p:cNvPr id="132" name="Shape 31">
              <a:extLst>
                <a:ext uri="{FF2B5EF4-FFF2-40B4-BE49-F238E27FC236}">
                  <a16:creationId xmlns:a16="http://schemas.microsoft.com/office/drawing/2014/main" id="{EDE00A06-5C6D-4AD9-9210-CCC4CAD264F2}"/>
                </a:ext>
              </a:extLst>
            </p:cNvPr>
            <p:cNvSpPr/>
            <p:nvPr/>
          </p:nvSpPr>
          <p:spPr>
            <a:xfrm>
              <a:off x="7383780" y="5062943"/>
              <a:ext cx="0" cy="456743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33" name="Shape 32">
              <a:extLst>
                <a:ext uri="{FF2B5EF4-FFF2-40B4-BE49-F238E27FC236}">
                  <a16:creationId xmlns:a16="http://schemas.microsoft.com/office/drawing/2014/main" id="{95459E97-81B3-423F-89E2-35D2642ED17C}"/>
                </a:ext>
              </a:extLst>
            </p:cNvPr>
            <p:cNvSpPr/>
            <p:nvPr/>
          </p:nvSpPr>
          <p:spPr>
            <a:xfrm>
              <a:off x="7383780" y="5062943"/>
              <a:ext cx="555498" cy="407365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34" name="Shape 33">
              <a:extLst>
                <a:ext uri="{FF2B5EF4-FFF2-40B4-BE49-F238E27FC236}">
                  <a16:creationId xmlns:a16="http://schemas.microsoft.com/office/drawing/2014/main" id="{5DF72908-74AC-4890-9DBB-DC5138607E44}"/>
                </a:ext>
              </a:extLst>
            </p:cNvPr>
            <p:cNvSpPr/>
            <p:nvPr/>
          </p:nvSpPr>
          <p:spPr>
            <a:xfrm>
              <a:off x="7383780" y="5062943"/>
              <a:ext cx="0" cy="617220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35" name="Shape 34">
              <a:extLst>
                <a:ext uri="{FF2B5EF4-FFF2-40B4-BE49-F238E27FC236}">
                  <a16:creationId xmlns:a16="http://schemas.microsoft.com/office/drawing/2014/main" id="{83850A54-419F-49A8-AD65-AFE2FDFF538E}"/>
                </a:ext>
              </a:extLst>
            </p:cNvPr>
            <p:cNvSpPr/>
            <p:nvPr/>
          </p:nvSpPr>
          <p:spPr>
            <a:xfrm>
              <a:off x="6865315" y="5519686"/>
              <a:ext cx="518465" cy="160477"/>
            </a:xfrm>
            <a:prstGeom prst="line">
              <a:avLst/>
            </a:prstGeom>
            <a:noFill/>
            <a:ln w="15875">
              <a:solidFill>
                <a:srgbClr val="3C5C7D"/>
              </a:solidFill>
              <a:prstDash val="solid"/>
            </a:ln>
          </p:spPr>
        </p:sp>
        <p:sp>
          <p:nvSpPr>
            <p:cNvPr id="136" name="Shape 35">
              <a:extLst>
                <a:ext uri="{FF2B5EF4-FFF2-40B4-BE49-F238E27FC236}">
                  <a16:creationId xmlns:a16="http://schemas.microsoft.com/office/drawing/2014/main" id="{6B43EEC4-4D55-4181-A861-FFC167CD7402}"/>
                </a:ext>
              </a:extLst>
            </p:cNvPr>
            <p:cNvSpPr/>
            <p:nvPr/>
          </p:nvSpPr>
          <p:spPr>
            <a:xfrm>
              <a:off x="7301484" y="4980647"/>
              <a:ext cx="164592" cy="1645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37" name="Shape 36">
              <a:extLst>
                <a:ext uri="{FF2B5EF4-FFF2-40B4-BE49-F238E27FC236}">
                  <a16:creationId xmlns:a16="http://schemas.microsoft.com/office/drawing/2014/main" id="{479ADF9F-51C4-4DC1-BAC6-331C9CF0A5CC}"/>
                </a:ext>
              </a:extLst>
            </p:cNvPr>
            <p:cNvSpPr/>
            <p:nvPr/>
          </p:nvSpPr>
          <p:spPr>
            <a:xfrm>
              <a:off x="6783019" y="5437390"/>
              <a:ext cx="164592" cy="1645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38" name="Shape 37">
              <a:extLst>
                <a:ext uri="{FF2B5EF4-FFF2-40B4-BE49-F238E27FC236}">
                  <a16:creationId xmlns:a16="http://schemas.microsoft.com/office/drawing/2014/main" id="{86BE5AB3-5965-4962-998A-9C5ED3F28784}"/>
                </a:ext>
              </a:extLst>
            </p:cNvPr>
            <p:cNvSpPr/>
            <p:nvPr/>
          </p:nvSpPr>
          <p:spPr>
            <a:xfrm>
              <a:off x="7856982" y="5388012"/>
              <a:ext cx="164592" cy="1645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39" name="Shape 38">
              <a:extLst>
                <a:ext uri="{FF2B5EF4-FFF2-40B4-BE49-F238E27FC236}">
                  <a16:creationId xmlns:a16="http://schemas.microsoft.com/office/drawing/2014/main" id="{7B845B11-EFED-4408-A5AC-B30FEDB80AC2}"/>
                </a:ext>
              </a:extLst>
            </p:cNvPr>
            <p:cNvSpPr/>
            <p:nvPr/>
          </p:nvSpPr>
          <p:spPr>
            <a:xfrm>
              <a:off x="7301484" y="5597867"/>
              <a:ext cx="164592" cy="1645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rgbClr val="FFFFFF"/>
              </a:solidFill>
              <a:prstDash val="solid"/>
            </a:ln>
          </p:spPr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1047E05A-AAA3-493B-BA1B-B3DCCDD0329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104347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19/40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127923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Challenges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 1">
            <a:extLst>
              <a:ext uri="{FF2B5EF4-FFF2-40B4-BE49-F238E27FC236}">
                <a16:creationId xmlns:a16="http://schemas.microsoft.com/office/drawing/2014/main" id="{DCD33272-B7A5-46D7-9F05-F5CB4E0F734D}"/>
              </a:ext>
            </a:extLst>
          </p:cNvPr>
          <p:cNvSpPr/>
          <p:nvPr/>
        </p:nvSpPr>
        <p:spPr>
          <a:xfrm>
            <a:off x="672465" y="94411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3 &amp; 4 &amp; 5: heterogeneity, dynamicity, robustness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1" name="Shape 2">
            <a:extLst>
              <a:ext uri="{FF2B5EF4-FFF2-40B4-BE49-F238E27FC236}">
                <a16:creationId xmlns:a16="http://schemas.microsoft.com/office/drawing/2014/main" id="{9D116D51-5C37-45A9-8FE3-C15D4DF53F51}"/>
              </a:ext>
            </a:extLst>
          </p:cNvPr>
          <p:cNvSpPr/>
          <p:nvPr/>
        </p:nvSpPr>
        <p:spPr>
          <a:xfrm>
            <a:off x="653415" y="1781385"/>
            <a:ext cx="3483864" cy="40233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50800" dist="50800" dir="5400000" algn="tl" rotWithShape="0">
              <a:schemeClr val="accent2">
                <a:lumMod val="40000"/>
                <a:lumOff val="60000"/>
              </a:schemeClr>
            </a:outerShdw>
          </a:effectLst>
        </p:spPr>
      </p:sp>
      <p:sp>
        <p:nvSpPr>
          <p:cNvPr id="102" name="Shape 3">
            <a:extLst>
              <a:ext uri="{FF2B5EF4-FFF2-40B4-BE49-F238E27FC236}">
                <a16:creationId xmlns:a16="http://schemas.microsoft.com/office/drawing/2014/main" id="{815F455D-EAAD-45F0-9A6C-4AE436CCD971}"/>
              </a:ext>
            </a:extLst>
          </p:cNvPr>
          <p:cNvSpPr/>
          <p:nvPr/>
        </p:nvSpPr>
        <p:spPr>
          <a:xfrm>
            <a:off x="653415" y="1781385"/>
            <a:ext cx="3483864" cy="73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03" name="Text 4">
            <a:extLst>
              <a:ext uri="{FF2B5EF4-FFF2-40B4-BE49-F238E27FC236}">
                <a16:creationId xmlns:a16="http://schemas.microsoft.com/office/drawing/2014/main" id="{3C7C94F2-2491-4A9B-A3F4-621CCF0A4958}"/>
              </a:ext>
            </a:extLst>
          </p:cNvPr>
          <p:cNvSpPr/>
          <p:nvPr/>
        </p:nvSpPr>
        <p:spPr>
          <a:xfrm>
            <a:off x="836295" y="2055705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Heterogeneous graphs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" name="Text 5">
            <a:extLst>
              <a:ext uri="{FF2B5EF4-FFF2-40B4-BE49-F238E27FC236}">
                <a16:creationId xmlns:a16="http://schemas.microsoft.com/office/drawing/2014/main" id="{0B7F70E7-C87D-4171-9FF8-C17802C7F95F}"/>
              </a:ext>
            </a:extLst>
          </p:cNvPr>
          <p:cNvSpPr/>
          <p:nvPr/>
        </p:nvSpPr>
        <p:spPr>
          <a:xfrm>
            <a:off x="836295" y="2787225"/>
            <a:ext cx="297370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GNNs assume one node/edge type. Mixed types (users, APs, antennas) need custom meta-path or relation-specific weights.</a:t>
            </a:r>
            <a:endParaRPr lang="en-US" sz="1600" dirty="0"/>
          </a:p>
        </p:txBody>
      </p:sp>
      <p:sp>
        <p:nvSpPr>
          <p:cNvPr id="105" name="Shape 6">
            <a:extLst>
              <a:ext uri="{FF2B5EF4-FFF2-40B4-BE49-F238E27FC236}">
                <a16:creationId xmlns:a16="http://schemas.microsoft.com/office/drawing/2014/main" id="{2613BFDA-01F8-4862-8589-5E1D911EA3DA}"/>
              </a:ext>
            </a:extLst>
          </p:cNvPr>
          <p:cNvSpPr/>
          <p:nvPr/>
        </p:nvSpPr>
        <p:spPr>
          <a:xfrm>
            <a:off x="4283583" y="1781385"/>
            <a:ext cx="3483864" cy="40233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  <a:effectLst>
            <a:outerShdw blurRad="50800" dist="50800" dir="5400000" algn="ctr" rotWithShape="0">
              <a:schemeClr val="accent2"/>
            </a:outerShdw>
          </a:effectLst>
        </p:spPr>
      </p:sp>
      <p:sp>
        <p:nvSpPr>
          <p:cNvPr id="107" name="Shape 7">
            <a:extLst>
              <a:ext uri="{FF2B5EF4-FFF2-40B4-BE49-F238E27FC236}">
                <a16:creationId xmlns:a16="http://schemas.microsoft.com/office/drawing/2014/main" id="{5A359053-CD7A-4376-9E8C-5E4B2786E325}"/>
              </a:ext>
            </a:extLst>
          </p:cNvPr>
          <p:cNvSpPr/>
          <p:nvPr/>
        </p:nvSpPr>
        <p:spPr>
          <a:xfrm>
            <a:off x="4283583" y="1781385"/>
            <a:ext cx="3483864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DE3F4643-0014-4528-90C7-E3EC55FC10C9}"/>
              </a:ext>
            </a:extLst>
          </p:cNvPr>
          <p:cNvSpPr/>
          <p:nvPr/>
        </p:nvSpPr>
        <p:spPr>
          <a:xfrm>
            <a:off x="4466463" y="2055705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graphs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53448DF2-A9F4-443F-A163-B77C43A7F7BE}"/>
              </a:ext>
            </a:extLst>
          </p:cNvPr>
          <p:cNvSpPr/>
          <p:nvPr/>
        </p:nvSpPr>
        <p:spPr>
          <a:xfrm>
            <a:off x="4466463" y="2787225"/>
            <a:ext cx="2905887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Topology and features can change over time; standard GNNs assume a static snapshot unless paired with RNNs/temporal attention.</a:t>
            </a:r>
            <a:endParaRPr lang="en-US" sz="1600" dirty="0"/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D3CFF692-95D7-471E-9CFA-73689A04BF96}"/>
              </a:ext>
            </a:extLst>
          </p:cNvPr>
          <p:cNvSpPr/>
          <p:nvPr/>
        </p:nvSpPr>
        <p:spPr>
          <a:xfrm>
            <a:off x="7913751" y="1781385"/>
            <a:ext cx="3483864" cy="402336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50800" dist="50800" dir="5400000" algn="ctr" rotWithShape="0">
              <a:schemeClr val="accent2">
                <a:lumMod val="75000"/>
              </a:schemeClr>
            </a:outerShdw>
          </a:effectLst>
        </p:spPr>
      </p:sp>
      <p:sp>
        <p:nvSpPr>
          <p:cNvPr id="112" name="Shape 11">
            <a:extLst>
              <a:ext uri="{FF2B5EF4-FFF2-40B4-BE49-F238E27FC236}">
                <a16:creationId xmlns:a16="http://schemas.microsoft.com/office/drawing/2014/main" id="{D5896F6D-537B-4CBF-8203-A9592599EAEC}"/>
              </a:ext>
            </a:extLst>
          </p:cNvPr>
          <p:cNvSpPr/>
          <p:nvPr/>
        </p:nvSpPr>
        <p:spPr>
          <a:xfrm>
            <a:off x="7913751" y="1781385"/>
            <a:ext cx="3483864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F36E1121-CB04-4320-B58A-F9B0CB3D9E44}"/>
              </a:ext>
            </a:extLst>
          </p:cNvPr>
          <p:cNvSpPr/>
          <p:nvPr/>
        </p:nvSpPr>
        <p:spPr>
          <a:xfrm>
            <a:off x="8096631" y="2055705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&amp; interpretability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4" name="Text 13">
            <a:extLst>
              <a:ext uri="{FF2B5EF4-FFF2-40B4-BE49-F238E27FC236}">
                <a16:creationId xmlns:a16="http://schemas.microsoft.com/office/drawing/2014/main" id="{E8F8CA2E-AB37-4133-B32B-4DACEF448D43}"/>
              </a:ext>
            </a:extLst>
          </p:cNvPr>
          <p:cNvSpPr/>
          <p:nvPr/>
        </p:nvSpPr>
        <p:spPr>
          <a:xfrm>
            <a:off x="8096631" y="2787225"/>
            <a:ext cx="291426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GNNs are vulnerable to adversarial structure/feature perturbations and remain largely black-box models.</a:t>
            </a:r>
            <a:endParaRPr lang="en-US" sz="16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656F9D0-DD51-4979-87DA-A399843221D5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179216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20/40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70058" y="127923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Challenges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DC80367A-4C3D-480F-8D44-2D808A913CAE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C4D8CA2E-5510-4D8D-8205-160E6C4B7083}"/>
              </a:ext>
            </a:extLst>
          </p:cNvPr>
          <p:cNvSpPr/>
          <p:nvPr/>
        </p:nvSpPr>
        <p:spPr>
          <a:xfrm>
            <a:off x="548640" y="915543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deepest limitation: theory rarely guides design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BE71AC61-328D-474B-AB44-D621F358582C}"/>
              </a:ext>
            </a:extLst>
          </p:cNvPr>
          <p:cNvSpPr/>
          <p:nvPr/>
        </p:nvSpPr>
        <p:spPr>
          <a:xfrm>
            <a:off x="619124" y="1925956"/>
            <a:ext cx="6147435" cy="3697146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800" dirty="0">
              <a:solidFill>
                <a:srgbClr val="1621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Empirically, GNNs beat MLPs/CNNs on graph tasks — but until recently, the only “proof” offered was the permutation-invariance argument.</a:t>
            </a:r>
            <a:endParaRPr lang="en-US" dirty="0"/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argument explains why GNNs are not worse, but not how much better they are, nor which GNN design is best for a given problem.</a:t>
            </a:r>
            <a:endParaRPr lang="en-US" dirty="0"/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quantitative theory, choosing an architecture is trial-and-error — costly for domains like wireless networks with strict latency and hardware budgets.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D2A5D8-177E-4C60-87FC-07578F9F14DF}"/>
              </a:ext>
            </a:extLst>
          </p:cNvPr>
          <p:cNvGrpSpPr/>
          <p:nvPr/>
        </p:nvGrpSpPr>
        <p:grpSpPr>
          <a:xfrm>
            <a:off x="7121941" y="1925955"/>
            <a:ext cx="4717634" cy="3697146"/>
            <a:chOff x="7121941" y="2075003"/>
            <a:chExt cx="4717634" cy="3697146"/>
          </a:xfrm>
          <a:effectLst>
            <a:outerShdw blurRad="50800" dist="50800" dir="5400000" algn="ctr" rotWithShape="0">
              <a:schemeClr val="tx1"/>
            </a:outerShdw>
          </a:effectLst>
        </p:grpSpPr>
        <p:sp>
          <p:nvSpPr>
            <p:cNvPr id="103" name="Shape 3">
              <a:extLst>
                <a:ext uri="{FF2B5EF4-FFF2-40B4-BE49-F238E27FC236}">
                  <a16:creationId xmlns:a16="http://schemas.microsoft.com/office/drawing/2014/main" id="{F0161576-E0E8-4B00-8B8D-C3C98E4A1E8C}"/>
                </a:ext>
              </a:extLst>
            </p:cNvPr>
            <p:cNvSpPr/>
            <p:nvPr/>
          </p:nvSpPr>
          <p:spPr>
            <a:xfrm>
              <a:off x="7121941" y="2075003"/>
              <a:ext cx="4717634" cy="3697146"/>
            </a:xfrm>
            <a:prstGeom prst="roundRect">
              <a:avLst>
                <a:gd name="adj" fmla="val 1957"/>
              </a:avLst>
            </a:prstGeom>
            <a:solidFill>
              <a:schemeClr val="accent2"/>
            </a:solidFill>
            <a:ln w="57150">
              <a:noFill/>
              <a:prstDash val="solid"/>
            </a:ln>
            <a:effectLst>
              <a:outerShdw blurRad="101600" dist="38100" dir="5400000" algn="bl" rotWithShape="0">
                <a:schemeClr val="accent2"/>
              </a:outerShdw>
            </a:effectLst>
          </p:spPr>
        </p:sp>
        <p:sp>
          <p:nvSpPr>
            <p:cNvPr id="104" name="Text 4">
              <a:extLst>
                <a:ext uri="{FF2B5EF4-FFF2-40B4-BE49-F238E27FC236}">
                  <a16:creationId xmlns:a16="http://schemas.microsoft.com/office/drawing/2014/main" id="{2CD7AF35-C15C-4537-B78B-FAA64DEA31B2}"/>
                </a:ext>
              </a:extLst>
            </p:cNvPr>
            <p:cNvSpPr/>
            <p:nvPr/>
          </p:nvSpPr>
          <p:spPr>
            <a:xfrm>
              <a:off x="7379970" y="2075560"/>
              <a:ext cx="41681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24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Preview of the theory to come</a:t>
              </a:r>
              <a:endParaRPr lang="en-US" sz="2400" dirty="0"/>
            </a:p>
          </p:txBody>
        </p:sp>
        <p:sp>
          <p:nvSpPr>
            <p:cNvPr id="105" name="Text 5">
              <a:extLst>
                <a:ext uri="{FF2B5EF4-FFF2-40B4-BE49-F238E27FC236}">
                  <a16:creationId xmlns:a16="http://schemas.microsoft.com/office/drawing/2014/main" id="{26D88FB8-8497-42D4-B0DD-EB9C4EE79D98}"/>
                </a:ext>
              </a:extLst>
            </p:cNvPr>
            <p:cNvSpPr/>
            <p:nvPr/>
          </p:nvSpPr>
          <p:spPr>
            <a:xfrm>
              <a:off x="7589520" y="2771775"/>
              <a:ext cx="37490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O(n)</a:t>
              </a:r>
              <a:endParaRPr lang="en-US" sz="2800" dirty="0"/>
            </a:p>
          </p:txBody>
        </p:sp>
        <p:sp>
          <p:nvSpPr>
            <p:cNvPr id="107" name="Text 6">
              <a:extLst>
                <a:ext uri="{FF2B5EF4-FFF2-40B4-BE49-F238E27FC236}">
                  <a16:creationId xmlns:a16="http://schemas.microsoft.com/office/drawing/2014/main" id="{00E68FE3-70A4-4461-934D-F1F693F1BDE0}"/>
                </a:ext>
              </a:extLst>
            </p:cNvPr>
            <p:cNvSpPr/>
            <p:nvPr/>
          </p:nvSpPr>
          <p:spPr>
            <a:xfrm>
              <a:off x="7589520" y="3457575"/>
              <a:ext cx="3749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 lower generalization error than MLPs</a:t>
              </a:r>
              <a:endParaRPr lang="en-US" dirty="0"/>
            </a:p>
          </p:txBody>
        </p:sp>
        <p:sp>
          <p:nvSpPr>
            <p:cNvPr id="108" name="Text 7">
              <a:extLst>
                <a:ext uri="{FF2B5EF4-FFF2-40B4-BE49-F238E27FC236}">
                  <a16:creationId xmlns:a16="http://schemas.microsoft.com/office/drawing/2014/main" id="{924375A0-04ED-4CB9-ACAA-C2C9273CDFC7}"/>
                </a:ext>
              </a:extLst>
            </p:cNvPr>
            <p:cNvSpPr/>
            <p:nvPr/>
          </p:nvSpPr>
          <p:spPr>
            <a:xfrm>
              <a:off x="7589520" y="4143375"/>
              <a:ext cx="37490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O(n²)</a:t>
              </a:r>
              <a:endParaRPr lang="en-US" sz="2800" dirty="0"/>
            </a:p>
          </p:txBody>
        </p:sp>
        <p:sp>
          <p:nvSpPr>
            <p:cNvPr id="109" name="Text 8">
              <a:extLst>
                <a:ext uri="{FF2B5EF4-FFF2-40B4-BE49-F238E27FC236}">
                  <a16:creationId xmlns:a16="http://schemas.microsoft.com/office/drawing/2014/main" id="{3A748921-CE93-474D-B186-B3635CC321E9}"/>
                </a:ext>
              </a:extLst>
            </p:cNvPr>
            <p:cNvSpPr/>
            <p:nvPr/>
          </p:nvSpPr>
          <p:spPr>
            <a:xfrm>
              <a:off x="7589520" y="4829175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 fewer training samples needed, for an n-node graph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870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578476" y="2197893"/>
            <a:ext cx="1103504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6600" b="1" dirty="0">
                <a:solidFill>
                  <a:schemeClr val="accent4"/>
                </a:solidFill>
                <a:cs typeface="B Nazanin" panose="00000400000000000000" pitchFamily="2" charset="-78"/>
              </a:rPr>
              <a:t>Article</a:t>
            </a:r>
          </a:p>
          <a:p>
            <a:pPr algn="ctr" rtl="1"/>
            <a:r>
              <a:rPr lang="en-US" sz="3600" b="1" i="0" dirty="0">
                <a:solidFill>
                  <a:schemeClr val="accent4"/>
                </a:solidFill>
                <a:effectLst/>
                <a:latin typeface="NimbusRomNo9L-Regu"/>
              </a:rPr>
              <a:t>Graph Neural Networks for Wireless Communications: From Theory to Practice</a:t>
            </a:r>
            <a:endParaRPr lang="fa-IR" sz="7200" b="1" dirty="0">
              <a:solidFill>
                <a:schemeClr val="accent4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2525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22/40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FE0359F-5FDD-4368-97A8-44E96137A5FA}"/>
              </a:ext>
            </a:extLst>
          </p:cNvPr>
          <p:cNvSpPr/>
          <p:nvPr/>
        </p:nvSpPr>
        <p:spPr>
          <a:xfrm>
            <a:off x="548640" y="8869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6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Off-the-shelf MLPs/CNNs break down at scale</a:t>
            </a:r>
            <a:endParaRPr lang="en-US" sz="3000" dirty="0">
              <a:solidFill>
                <a:srgbClr val="D6A300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0DCAE94-FC91-4F35-990E-E801F990A3DE}"/>
              </a:ext>
            </a:extLst>
          </p:cNvPr>
          <p:cNvSpPr/>
          <p:nvPr/>
        </p:nvSpPr>
        <p:spPr>
          <a:xfrm>
            <a:off x="548640" y="1647825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>
            <a:outerShdw blurRad="101600" dist="38100" dir="5400000" algn="bl" rotWithShape="0">
              <a:schemeClr val="accent4">
                <a:lumMod val="50000"/>
                <a:alpha val="40000"/>
              </a:schemeClr>
            </a:outerShdw>
          </a:effectLst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2CADF53E-50D2-4966-8F59-53A460E66AFC}"/>
              </a:ext>
            </a:extLst>
          </p:cNvPr>
          <p:cNvSpPr/>
          <p:nvPr/>
        </p:nvSpPr>
        <p:spPr>
          <a:xfrm>
            <a:off x="822960" y="1876425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4600" dirty="0">
              <a:solidFill>
                <a:schemeClr val="accent2"/>
              </a:solidFill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A68DDA9-374B-40FE-82B4-975473C276B2}"/>
              </a:ext>
            </a:extLst>
          </p:cNvPr>
          <p:cNvSpPr/>
          <p:nvPr/>
        </p:nvSpPr>
        <p:spPr>
          <a:xfrm>
            <a:off x="822960" y="2836545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 of a CNN-based beamforming model going from a 2-user to a 10-user D2D network.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C91F3B4-F0AC-4281-A7F9-42B28342E1FD}"/>
              </a:ext>
            </a:extLst>
          </p:cNvPr>
          <p:cNvSpPr/>
          <p:nvPr/>
        </p:nvSpPr>
        <p:spPr>
          <a:xfrm>
            <a:off x="822960" y="3979545"/>
            <a:ext cx="475488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1A6362B-7443-43BA-95DD-14D688FD0DA8}"/>
              </a:ext>
            </a:extLst>
          </p:cNvPr>
          <p:cNvSpPr/>
          <p:nvPr/>
        </p:nvSpPr>
        <p:spPr>
          <a:xfrm>
            <a:off x="822960" y="4162425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&gt;50%</a:t>
            </a:r>
            <a:endParaRPr lang="en-US" sz="4600" dirty="0">
              <a:solidFill>
                <a:schemeClr val="accent2"/>
              </a:solidFill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D6DBD2A7-62A7-4DFF-AFA7-1674A2223993}"/>
              </a:ext>
            </a:extLst>
          </p:cNvPr>
          <p:cNvSpPr/>
          <p:nvPr/>
        </p:nvSpPr>
        <p:spPr>
          <a:xfrm>
            <a:off x="822960" y="5122545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of an MLP-augmented branch-and-bound access-point selector when user count/SNR shift slightly from training.</a:t>
            </a:r>
            <a:endParaRPr lang="en-US" sz="14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ECC2856A-F933-4B0D-91B9-F1ED08FAA0EB}"/>
              </a:ext>
            </a:extLst>
          </p:cNvPr>
          <p:cNvSpPr/>
          <p:nvPr/>
        </p:nvSpPr>
        <p:spPr>
          <a:xfrm>
            <a:off x="6172200" y="1647825"/>
            <a:ext cx="5440680" cy="4160520"/>
          </a:xfrm>
          <a:prstGeom prst="roundRect">
            <a:avLst>
              <a:gd name="adj" fmla="val 1978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  <a:effectLst>
            <a:outerShdw blurRad="101600" dist="38100" dir="5400000" algn="bl" rotWithShape="0">
              <a:schemeClr val="accent4">
                <a:lumMod val="50000"/>
                <a:alpha val="40000"/>
              </a:scheme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E589921-25A5-4B91-86BA-1EA74D16CD6E}"/>
              </a:ext>
            </a:extLst>
          </p:cNvPr>
          <p:cNvSpPr/>
          <p:nvPr/>
        </p:nvSpPr>
        <p:spPr>
          <a:xfrm>
            <a:off x="6446520" y="1830705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5G/6G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432D9A96-B792-4B86-AFB1-B7B01C74EEEE}"/>
              </a:ext>
            </a:extLst>
          </p:cNvPr>
          <p:cNvSpPr/>
          <p:nvPr/>
        </p:nvSpPr>
        <p:spPr>
          <a:xfrm>
            <a:off x="6446520" y="2333625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Densely deployed access points and hundreds of clients are the norm, not the exception.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counts and SNR change dynamically — a model tuned for one snapshot must still work on the next.</a:t>
            </a:r>
            <a:endParaRPr lang="en-US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Poor scalability + poor generalization make plain MLP/CNN architectures ineffective for practical deployment.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13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23/40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680B55C-9D95-4BE3-A17C-6E736DD4AB45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6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 of the paper</a:t>
            </a:r>
            <a:endParaRPr lang="en-US" sz="3000" dirty="0">
              <a:solidFill>
                <a:srgbClr val="D6A300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0D6468D3-51A6-4EB2-AA2A-71FCA53F50F7}"/>
              </a:ext>
            </a:extLst>
          </p:cNvPr>
          <p:cNvSpPr/>
          <p:nvPr/>
        </p:nvSpPr>
        <p:spPr>
          <a:xfrm>
            <a:off x="548640" y="1316355"/>
            <a:ext cx="110642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5C52BDA-13EA-4C04-9391-C4BEF1982E47}"/>
              </a:ext>
            </a:extLst>
          </p:cNvPr>
          <p:cNvSpPr/>
          <p:nvPr/>
        </p:nvSpPr>
        <p:spPr>
          <a:xfrm>
            <a:off x="777240" y="1618107"/>
            <a:ext cx="457200" cy="4572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D981D5F-771A-41B5-93CC-DA26AEB94A1F}"/>
              </a:ext>
            </a:extLst>
          </p:cNvPr>
          <p:cNvSpPr/>
          <p:nvPr/>
        </p:nvSpPr>
        <p:spPr>
          <a:xfrm>
            <a:off x="777240" y="16181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9ECC8E1-9F1E-4A3C-8B93-EBF4F2FF88CF}"/>
              </a:ext>
            </a:extLst>
          </p:cNvPr>
          <p:cNvSpPr/>
          <p:nvPr/>
        </p:nvSpPr>
        <p:spPr>
          <a:xfrm>
            <a:off x="1508760" y="1407795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modeling framework</a:t>
            </a:r>
            <a:endParaRPr lang="en-US" sz="16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15BDAEE9-A82D-4E19-B8C5-CBA01404A2A4}"/>
              </a:ext>
            </a:extLst>
          </p:cNvPr>
          <p:cNvSpPr/>
          <p:nvPr/>
        </p:nvSpPr>
        <p:spPr>
          <a:xfrm>
            <a:off x="5029200" y="1407795"/>
            <a:ext cx="6355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recipe for casting wireless problems (power control, hybrid precoding, cell-free MIMO) as graph optimization problems.</a:t>
            </a:r>
            <a:endParaRPr lang="en-US" sz="14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2D56C6D-A869-4131-9355-832F3F2A8E96}"/>
              </a:ext>
            </a:extLst>
          </p:cNvPr>
          <p:cNvSpPr/>
          <p:nvPr/>
        </p:nvSpPr>
        <p:spPr>
          <a:xfrm>
            <a:off x="548640" y="2486787"/>
            <a:ext cx="110642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C3FF6DE9-F458-4310-B18E-3278AB62E14C}"/>
              </a:ext>
            </a:extLst>
          </p:cNvPr>
          <p:cNvSpPr/>
          <p:nvPr/>
        </p:nvSpPr>
        <p:spPr>
          <a:xfrm>
            <a:off x="777240" y="2788539"/>
            <a:ext cx="457200" cy="4572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658FA18-6715-4CD4-80EC-F6F07F9A76C1}"/>
              </a:ext>
            </a:extLst>
          </p:cNvPr>
          <p:cNvSpPr/>
          <p:nvPr/>
        </p:nvSpPr>
        <p:spPr>
          <a:xfrm>
            <a:off x="777240" y="27885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98D73170-DD05-471E-80DC-D0D5F6807BA3}"/>
              </a:ext>
            </a:extLst>
          </p:cNvPr>
          <p:cNvSpPr/>
          <p:nvPr/>
        </p:nvSpPr>
        <p:spPr>
          <a:xfrm>
            <a:off x="1508760" y="2578227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GNNs ≡ distributed message passing</a:t>
            </a:r>
            <a:endParaRPr lang="en-US" sz="16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2177D83B-7E62-432B-AE59-4BD6B1A929AF}"/>
              </a:ext>
            </a:extLst>
          </p:cNvPr>
          <p:cNvSpPr/>
          <p:nvPr/>
        </p:nvSpPr>
        <p:spPr>
          <a:xfrm>
            <a:off x="5029200" y="2578227"/>
            <a:ext cx="6355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are shown to be the most powerful class of Distributed Message Passing (DMP) algorithms — they can represent WMMSE, Riemannian gradient, belief propagation, and more.</a:t>
            </a:r>
            <a:endParaRPr lang="en-US" sz="14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2C7A1A66-8D0C-46F6-A59B-DBA2205B1BC0}"/>
              </a:ext>
            </a:extLst>
          </p:cNvPr>
          <p:cNvSpPr/>
          <p:nvPr/>
        </p:nvSpPr>
        <p:spPr>
          <a:xfrm>
            <a:off x="548640" y="3657219"/>
            <a:ext cx="110642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8EE3EDA2-4987-4C80-8576-13F66B4A0DBE}"/>
              </a:ext>
            </a:extLst>
          </p:cNvPr>
          <p:cNvSpPr/>
          <p:nvPr/>
        </p:nvSpPr>
        <p:spPr>
          <a:xfrm>
            <a:off x="777240" y="3958971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0A0AD334-4E9A-4EB9-9CF3-CF5F316E30FD}"/>
              </a:ext>
            </a:extLst>
          </p:cNvPr>
          <p:cNvSpPr/>
          <p:nvPr/>
        </p:nvSpPr>
        <p:spPr>
          <a:xfrm>
            <a:off x="777240" y="39589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D64425CB-5E73-44CE-9AF6-749A0814F5FC}"/>
              </a:ext>
            </a:extLst>
          </p:cNvPr>
          <p:cNvSpPr/>
          <p:nvPr/>
        </p:nvSpPr>
        <p:spPr>
          <a:xfrm>
            <a:off x="1508760" y="3748659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generalization analysis</a:t>
            </a:r>
            <a:endParaRPr lang="en-US" sz="16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27F293BE-94BC-47CC-9D66-073AAC6DC047}"/>
              </a:ext>
            </a:extLst>
          </p:cNvPr>
          <p:cNvSpPr/>
          <p:nvPr/>
        </p:nvSpPr>
        <p:spPr>
          <a:xfrm>
            <a:off x="5029200" y="3748659"/>
            <a:ext cx="6355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PAC-learning + algorithmic alignment: GNNs need O(n²) fewer samples and reach O(n) lower generalization error than MLPs, for an n-node graph.</a:t>
            </a:r>
            <a:endParaRPr lang="en-US" sz="140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FD71C43E-ADBA-4030-ACAD-40AA58386EFB}"/>
              </a:ext>
            </a:extLst>
          </p:cNvPr>
          <p:cNvSpPr/>
          <p:nvPr/>
        </p:nvSpPr>
        <p:spPr>
          <a:xfrm>
            <a:off x="548640" y="4827651"/>
            <a:ext cx="1106424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E1E94019-276A-4B33-94A1-B89D6D00394D}"/>
              </a:ext>
            </a:extLst>
          </p:cNvPr>
          <p:cNvSpPr/>
          <p:nvPr/>
        </p:nvSpPr>
        <p:spPr>
          <a:xfrm>
            <a:off x="777240" y="5129403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7244515-AB6E-43AA-83B6-416D5BD4D769}"/>
              </a:ext>
            </a:extLst>
          </p:cNvPr>
          <p:cNvSpPr/>
          <p:nvPr/>
        </p:nvSpPr>
        <p:spPr>
          <a:xfrm>
            <a:off x="777240" y="51294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677AFDAA-E5AE-4D07-BF97-622F9684EEC9}"/>
              </a:ext>
            </a:extLst>
          </p:cNvPr>
          <p:cNvSpPr/>
          <p:nvPr/>
        </p:nvSpPr>
        <p:spPr>
          <a:xfrm>
            <a:off x="1508760" y="4919091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Theory-guided design methodology</a:t>
            </a:r>
            <a:endParaRPr lang="en-US" sz="16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929B9B16-E915-4D17-B1A8-7CB209B88C40}"/>
              </a:ext>
            </a:extLst>
          </p:cNvPr>
          <p:cNvSpPr/>
          <p:nvPr/>
        </p:nvSpPr>
        <p:spPr>
          <a:xfrm>
            <a:off x="5029200" y="4919091"/>
            <a:ext cx="6355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guidelines to improve any base GNN architecture, validated across three wireless problems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01378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24/40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52F5C52-A90A-4E9E-A96C-45DBE02F4023}"/>
              </a:ext>
            </a:extLst>
          </p:cNvPr>
          <p:cNvSpPr/>
          <p:nvPr/>
        </p:nvSpPr>
        <p:spPr>
          <a:xfrm>
            <a:off x="548640" y="82981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wireless network to GNN solution</a:t>
            </a:r>
            <a:endParaRPr lang="en-US" sz="3000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C084FA83-D718-48F0-A2C2-A883E983EDFE}"/>
              </a:ext>
            </a:extLst>
          </p:cNvPr>
          <p:cNvSpPr/>
          <p:nvPr/>
        </p:nvSpPr>
        <p:spPr>
          <a:xfrm>
            <a:off x="542563" y="4468275"/>
            <a:ext cx="11214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threads :</a:t>
            </a:r>
          </a:p>
          <a:p>
            <a:pPr marL="0" indent="0">
              <a:lnSpc>
                <a:spcPct val="125000"/>
              </a:lnSpc>
              <a:buNone/>
            </a:pPr>
            <a:endParaRPr lang="en-US" sz="800" b="1" dirty="0">
              <a:solidFill>
                <a:srgbClr val="0B25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— model as a graph, build a matching GNN, refine with theory-guided rules; 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analysis — prove GNNs can learn the optimal algorithm, then bound their sample complexity vs. </a:t>
            </a:r>
            <a:r>
              <a:rPr lang="en-US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MLPs</a:t>
            </a: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9B0B6-635E-44C7-960D-254709F909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671" t="30354" r="16861" b="41561"/>
          <a:stretch/>
        </p:blipFill>
        <p:spPr>
          <a:xfrm>
            <a:off x="2425528" y="1522143"/>
            <a:ext cx="7340943" cy="23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85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25/40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FC284E0-4854-4692-9DF4-CFB5AB476135}"/>
              </a:ext>
            </a:extLst>
          </p:cNvPr>
          <p:cNvSpPr/>
          <p:nvPr/>
        </p:nvSpPr>
        <p:spPr>
          <a:xfrm>
            <a:off x="457200" y="1043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problems as graph optimization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1AB8B6-9E9E-4435-9EBB-9989D848EAF4}"/>
              </a:ext>
            </a:extLst>
          </p:cNvPr>
          <p:cNvGrpSpPr/>
          <p:nvPr/>
        </p:nvGrpSpPr>
        <p:grpSpPr>
          <a:xfrm>
            <a:off x="1927009" y="2011680"/>
            <a:ext cx="8128432" cy="1417320"/>
            <a:chOff x="548640" y="1222701"/>
            <a:chExt cx="11064240" cy="1417320"/>
          </a:xfrm>
        </p:grpSpPr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FEAE949E-3E10-4881-8ABE-EC02497FBFCB}"/>
                </a:ext>
              </a:extLst>
            </p:cNvPr>
            <p:cNvSpPr/>
            <p:nvPr/>
          </p:nvSpPr>
          <p:spPr>
            <a:xfrm>
              <a:off x="548640" y="1222701"/>
              <a:ext cx="11064240" cy="1417320"/>
            </a:xfrm>
            <a:prstGeom prst="roundRect">
              <a:avLst>
                <a:gd name="adj" fmla="val 5806"/>
              </a:avLst>
            </a:prstGeom>
            <a:noFill/>
            <a:ln w="50800">
              <a:solidFill>
                <a:schemeClr val="accent4"/>
              </a:solidFill>
              <a:prstDash val="solid"/>
            </a:ln>
            <a:effectLst>
              <a:outerShdw blurRad="50800" dist="38100" dir="2700000" algn="tl" rotWithShape="0">
                <a:schemeClr val="accent4">
                  <a:alpha val="40000"/>
                </a:schemeClr>
              </a:outerShdw>
            </a:effectLst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3">
                  <a:extLst>
                    <a:ext uri="{FF2B5EF4-FFF2-40B4-BE49-F238E27FC236}">
                      <a16:creationId xmlns:a16="http://schemas.microsoft.com/office/drawing/2014/main" id="{CE9A6937-EB58-415D-8576-060EB958C05B}"/>
                    </a:ext>
                  </a:extLst>
                </p:cNvPr>
                <p:cNvSpPr/>
                <p:nvPr/>
              </p:nvSpPr>
              <p:spPr>
                <a:xfrm>
                  <a:off x="868680" y="1359861"/>
                  <a:ext cx="1042416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2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limLow>
                        <m:limLowPr>
                          <m:ctrlPr>
                            <a:rPr lang="en-US" sz="24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lim>
                      </m:limLow>
                      <m:r>
                        <a:rPr lang="en-US" sz="24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4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4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a14:m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       subject to   Q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0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sz="20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sz="20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≤ 0</a:t>
                  </a:r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 3">
                  <a:extLst>
                    <a:ext uri="{FF2B5EF4-FFF2-40B4-BE49-F238E27FC236}">
                      <a16:creationId xmlns:a16="http://schemas.microsoft.com/office/drawing/2014/main" id="{CE9A6937-EB58-415D-8576-060EB958C0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80" y="1359861"/>
                  <a:ext cx="10424160" cy="7315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2AE7D85B-89A5-4615-8049-851993A43482}"/>
                </a:ext>
              </a:extLst>
            </p:cNvPr>
            <p:cNvSpPr/>
            <p:nvPr/>
          </p:nvSpPr>
          <p:spPr>
            <a:xfrm>
              <a:off x="868680" y="2091381"/>
              <a:ext cx="10424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i="1" dirty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X: optimization variable per node (e.g., transmit power)     Z: node feature matrix     A: adjacency feature tensor (edges)</a:t>
              </a:r>
              <a:endParaRPr lang="en-US"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5">
                <a:extLst>
                  <a:ext uri="{FF2B5EF4-FFF2-40B4-BE49-F238E27FC236}">
                    <a16:creationId xmlns:a16="http://schemas.microsoft.com/office/drawing/2014/main" id="{52B2447E-56D5-4489-8A49-08FFE9338267}"/>
                  </a:ext>
                </a:extLst>
              </p:cNvPr>
              <p:cNvSpPr/>
              <p:nvPr/>
            </p:nvSpPr>
            <p:spPr>
              <a:xfrm>
                <a:off x="868573" y="4023094"/>
                <a:ext cx="10454853" cy="14173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Communication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  <m: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  <m: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maps a node to its feature vector,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maps an edge to its feature vector.</a:t>
                </a:r>
                <a:endParaRPr lang="en-US" dirty="0"/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Node feature matrix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𝑪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b="1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adjacency feature tensor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∈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𝑪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marL="228600" indent="-228600">
                  <a:lnSpc>
                    <a:spcPct val="108000"/>
                  </a:lnSpc>
                  <a:spcAft>
                    <a:spcPts val="1000"/>
                  </a:spcAft>
                  <a:buSzPct val="100000"/>
                  <a:buChar char="•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This single formulation captures resource management, signal processing, and (via factor graphs) statistical inference problems in wireless networks.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 5">
                <a:extLst>
                  <a:ext uri="{FF2B5EF4-FFF2-40B4-BE49-F238E27FC236}">
                    <a16:creationId xmlns:a16="http://schemas.microsoft.com/office/drawing/2014/main" id="{52B2447E-56D5-4489-8A49-08FFE9338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73" y="4023094"/>
                <a:ext cx="10454853" cy="1417319"/>
              </a:xfrm>
              <a:prstGeom prst="rect">
                <a:avLst/>
              </a:prstGeom>
              <a:blipFill>
                <a:blip r:embed="rId4"/>
                <a:stretch>
                  <a:fillRect l="-1340" t="-5172" b="-12069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A605839-97E5-4A1A-92CA-5A0DBCE21879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2341958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E4A097-C9C4-45B8-A9E6-89927C807A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705" t="25987" r="9688" b="21633"/>
          <a:stretch/>
        </p:blipFill>
        <p:spPr>
          <a:xfrm>
            <a:off x="1852612" y="3103214"/>
            <a:ext cx="8486775" cy="30946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26/40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83678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715A53-E824-4026-A433-052F270C0A9F}"/>
              </a:ext>
            </a:extLst>
          </p:cNvPr>
          <p:cNvGrpSpPr/>
          <p:nvPr/>
        </p:nvGrpSpPr>
        <p:grpSpPr>
          <a:xfrm>
            <a:off x="492497" y="552238"/>
            <a:ext cx="11247120" cy="2550976"/>
            <a:chOff x="457200" y="3580759"/>
            <a:chExt cx="11247120" cy="2550976"/>
          </a:xfrm>
        </p:grpSpPr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ED1F7355-2927-4795-9FBF-113CA4D7195B}"/>
                </a:ext>
              </a:extLst>
            </p:cNvPr>
            <p:cNvSpPr/>
            <p:nvPr/>
          </p:nvSpPr>
          <p:spPr>
            <a:xfrm>
              <a:off x="457200" y="3580759"/>
              <a:ext cx="11247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4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Table I -Three running examples used throughout the paper</a:t>
              </a:r>
              <a:endParaRPr lang="en-US" sz="1400" dirty="0">
                <a:solidFill>
                  <a:schemeClr val="accent4"/>
                </a:solidFill>
              </a:endParaRPr>
            </a:p>
          </p:txBody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67ED80C9-C4E9-4381-A22C-EC6765BCC397}"/>
                </a:ext>
              </a:extLst>
            </p:cNvPr>
            <p:cNvSpPr/>
            <p:nvPr/>
          </p:nvSpPr>
          <p:spPr>
            <a:xfrm>
              <a:off x="457200" y="3882311"/>
              <a:ext cx="11247120" cy="38404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rgbClr val="E3E9F0"/>
              </a:solidFill>
              <a:prstDash val="solid"/>
            </a:ln>
          </p:spPr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2A1D4C36-FF10-42E3-A961-6707D0E0CFE7}"/>
                </a:ext>
              </a:extLst>
            </p:cNvPr>
            <p:cNvSpPr/>
            <p:nvPr/>
          </p:nvSpPr>
          <p:spPr>
            <a:xfrm>
              <a:off x="548640" y="3882311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 Type</a:t>
              </a:r>
              <a:endParaRPr lang="en-US" sz="1600" dirty="0"/>
            </a:p>
          </p:txBody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09DF3948-0255-4EC1-8A8B-1822FA13A89D}"/>
                </a:ext>
              </a:extLst>
            </p:cNvPr>
            <p:cNvSpPr/>
            <p:nvPr/>
          </p:nvSpPr>
          <p:spPr>
            <a:xfrm>
              <a:off x="2377440" y="3882311"/>
              <a:ext cx="17373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Model</a:t>
              </a:r>
              <a:endParaRPr lang="en-US" sz="1600" dirty="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0C68FDE5-38D2-4B57-95EB-8E2AB7491827}"/>
                </a:ext>
              </a:extLst>
            </p:cNvPr>
            <p:cNvSpPr/>
            <p:nvPr/>
          </p:nvSpPr>
          <p:spPr>
            <a:xfrm>
              <a:off x="4297680" y="3882311"/>
              <a:ext cx="1554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 Type</a:t>
              </a:r>
              <a:endParaRPr lang="en-US" sz="1600" dirty="0"/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034C3255-1F2A-4407-B6C8-E3B5D2AA83C8}"/>
                </a:ext>
              </a:extLst>
            </p:cNvPr>
            <p:cNvSpPr/>
            <p:nvPr/>
          </p:nvSpPr>
          <p:spPr>
            <a:xfrm>
              <a:off x="6035040" y="3882311"/>
              <a:ext cx="30175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Node / Node Features</a:t>
              </a:r>
              <a:endParaRPr lang="en-US" sz="1600" dirty="0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5DBA3E76-394F-4B3E-AD8E-F47EA008081C}"/>
                </a:ext>
              </a:extLst>
            </p:cNvPr>
            <p:cNvSpPr/>
            <p:nvPr/>
          </p:nvSpPr>
          <p:spPr>
            <a:xfrm>
              <a:off x="9235440" y="3882311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Edge / Edge Features</a:t>
              </a:r>
              <a:endParaRPr lang="en-US" sz="1600" dirty="0"/>
            </a:p>
          </p:txBody>
        </p:sp>
        <p:sp>
          <p:nvSpPr>
            <p:cNvPr id="32" name="Shape 16">
              <a:extLst>
                <a:ext uri="{FF2B5EF4-FFF2-40B4-BE49-F238E27FC236}">
                  <a16:creationId xmlns:a16="http://schemas.microsoft.com/office/drawing/2014/main" id="{0C7B99D3-18C9-4583-B01F-40E8B32FA441}"/>
                </a:ext>
              </a:extLst>
            </p:cNvPr>
            <p:cNvSpPr/>
            <p:nvPr/>
          </p:nvSpPr>
          <p:spPr>
            <a:xfrm>
              <a:off x="457200" y="4266359"/>
              <a:ext cx="11247120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9F0"/>
              </a:solidFill>
              <a:prstDash val="solid"/>
            </a:ln>
          </p:spPr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D8D5DCDB-8DFC-418D-9B9B-74757A26137F}"/>
                </a:ext>
              </a:extLst>
            </p:cNvPr>
            <p:cNvSpPr/>
            <p:nvPr/>
          </p:nvSpPr>
          <p:spPr>
            <a:xfrm>
              <a:off x="548640" y="4266359"/>
              <a:ext cx="16459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Resource management</a:t>
              </a:r>
              <a:endParaRPr lang="en-US" sz="1200" dirty="0"/>
            </a:p>
          </p:txBody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451E46A9-1942-45DA-9E63-D01A09109975}"/>
                </a:ext>
              </a:extLst>
            </p:cNvPr>
            <p:cNvSpPr/>
            <p:nvPr/>
          </p:nvSpPr>
          <p:spPr>
            <a:xfrm>
              <a:off x="2377440" y="4266359"/>
              <a:ext cx="173736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D2D networks</a:t>
              </a:r>
              <a:endParaRPr lang="en-US" sz="1200" dirty="0"/>
            </a:p>
          </p:txBody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3C7D064E-CA02-47FD-BDE3-C91CF85D9C13}"/>
                </a:ext>
              </a:extLst>
            </p:cNvPr>
            <p:cNvSpPr/>
            <p:nvPr/>
          </p:nvSpPr>
          <p:spPr>
            <a:xfrm>
              <a:off x="4297680" y="4266359"/>
              <a:ext cx="155448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Weighted graph</a:t>
              </a:r>
              <a:endParaRPr lang="en-US" sz="1200" dirty="0"/>
            </a:p>
          </p:txBody>
        </p:sp>
        <p:sp>
          <p:nvSpPr>
            <p:cNvPr id="36" name="Text 20">
              <a:extLst>
                <a:ext uri="{FF2B5EF4-FFF2-40B4-BE49-F238E27FC236}">
                  <a16:creationId xmlns:a16="http://schemas.microsoft.com/office/drawing/2014/main" id="{86905F6C-2B8B-47F4-8F15-5A348CF570A1}"/>
                </a:ext>
              </a:extLst>
            </p:cNvPr>
            <p:cNvSpPr/>
            <p:nvPr/>
          </p:nvSpPr>
          <p:spPr>
            <a:xfrm>
              <a:off x="6035040" y="4266359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Transceiver pair / Direct-link channels</a:t>
              </a:r>
              <a:endParaRPr lang="en-US" sz="1200" dirty="0"/>
            </a:p>
          </p:txBody>
        </p:sp>
        <p:sp>
          <p:nvSpPr>
            <p:cNvPr id="37" name="Text 21">
              <a:extLst>
                <a:ext uri="{FF2B5EF4-FFF2-40B4-BE49-F238E27FC236}">
                  <a16:creationId xmlns:a16="http://schemas.microsoft.com/office/drawing/2014/main" id="{79A00BE2-CE65-45D1-8CB6-58C72DC8D0EB}"/>
                </a:ext>
              </a:extLst>
            </p:cNvPr>
            <p:cNvSpPr/>
            <p:nvPr/>
          </p:nvSpPr>
          <p:spPr>
            <a:xfrm>
              <a:off x="9235440" y="4266359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Interference links / Interference channels</a:t>
              </a:r>
              <a:endParaRPr lang="en-US" sz="1200" dirty="0"/>
            </a:p>
          </p:txBody>
        </p:sp>
        <p:sp>
          <p:nvSpPr>
            <p:cNvPr id="38" name="Shape 22">
              <a:extLst>
                <a:ext uri="{FF2B5EF4-FFF2-40B4-BE49-F238E27FC236}">
                  <a16:creationId xmlns:a16="http://schemas.microsoft.com/office/drawing/2014/main" id="{F5D84332-6735-463E-8CF2-0AA4635F8B3B}"/>
                </a:ext>
              </a:extLst>
            </p:cNvPr>
            <p:cNvSpPr/>
            <p:nvPr/>
          </p:nvSpPr>
          <p:spPr>
            <a:xfrm>
              <a:off x="457200" y="4888151"/>
              <a:ext cx="11247120" cy="6217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E3E9F0"/>
              </a:solidFill>
              <a:prstDash val="solid"/>
            </a:ln>
          </p:spPr>
        </p:sp>
        <p:sp>
          <p:nvSpPr>
            <p:cNvPr id="39" name="Text 23">
              <a:extLst>
                <a:ext uri="{FF2B5EF4-FFF2-40B4-BE49-F238E27FC236}">
                  <a16:creationId xmlns:a16="http://schemas.microsoft.com/office/drawing/2014/main" id="{4E145F53-7FFB-4E3F-8724-221E1E0938E1}"/>
                </a:ext>
              </a:extLst>
            </p:cNvPr>
            <p:cNvSpPr/>
            <p:nvPr/>
          </p:nvSpPr>
          <p:spPr>
            <a:xfrm>
              <a:off x="548640" y="4888151"/>
              <a:ext cx="16459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Resource management</a:t>
              </a:r>
              <a:endParaRPr lang="en-US" sz="1200" dirty="0"/>
            </a:p>
          </p:txBody>
        </p:sp>
        <p:sp>
          <p:nvSpPr>
            <p:cNvPr id="40" name="Text 24">
              <a:extLst>
                <a:ext uri="{FF2B5EF4-FFF2-40B4-BE49-F238E27FC236}">
                  <a16:creationId xmlns:a16="http://schemas.microsoft.com/office/drawing/2014/main" id="{9F399D37-00A4-4AA5-8A7D-6F57E47635B9}"/>
                </a:ext>
              </a:extLst>
            </p:cNvPr>
            <p:cNvSpPr/>
            <p:nvPr/>
          </p:nvSpPr>
          <p:spPr>
            <a:xfrm>
              <a:off x="2377440" y="4888151"/>
              <a:ext cx="173736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Cell-free networks</a:t>
              </a:r>
              <a:endParaRPr lang="en-US" sz="1200" dirty="0"/>
            </a:p>
          </p:txBody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81422487-DAE3-4935-944C-7668FF66B010}"/>
                </a:ext>
              </a:extLst>
            </p:cNvPr>
            <p:cNvSpPr/>
            <p:nvPr/>
          </p:nvSpPr>
          <p:spPr>
            <a:xfrm>
              <a:off x="4297680" y="4888151"/>
              <a:ext cx="155448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Bipartite graph</a:t>
              </a:r>
              <a:endParaRPr lang="en-US" sz="1200" dirty="0"/>
            </a:p>
          </p:txBody>
        </p:sp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97D1F493-6F09-4B59-B086-24C4E6533568}"/>
                </a:ext>
              </a:extLst>
            </p:cNvPr>
            <p:cNvSpPr/>
            <p:nvPr/>
          </p:nvSpPr>
          <p:spPr>
            <a:xfrm>
              <a:off x="6035040" y="4888151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UEs &amp; APs / No feature</a:t>
              </a:r>
              <a:endParaRPr lang="en-US" sz="1200" dirty="0"/>
            </a:p>
          </p:txBody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E42F245E-EF4B-4DF8-B5DA-F34485A109A2}"/>
                </a:ext>
              </a:extLst>
            </p:cNvPr>
            <p:cNvSpPr/>
            <p:nvPr/>
          </p:nvSpPr>
          <p:spPr>
            <a:xfrm>
              <a:off x="9235440" y="4888151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Direct links / Large-scale coefficients</a:t>
              </a:r>
              <a:endParaRPr lang="en-US" sz="1200" dirty="0"/>
            </a:p>
          </p:txBody>
        </p:sp>
        <p:sp>
          <p:nvSpPr>
            <p:cNvPr id="46" name="Shape 28">
              <a:extLst>
                <a:ext uri="{FF2B5EF4-FFF2-40B4-BE49-F238E27FC236}">
                  <a16:creationId xmlns:a16="http://schemas.microsoft.com/office/drawing/2014/main" id="{446676C3-6F97-4454-A057-2096F1590375}"/>
                </a:ext>
              </a:extLst>
            </p:cNvPr>
            <p:cNvSpPr/>
            <p:nvPr/>
          </p:nvSpPr>
          <p:spPr>
            <a:xfrm>
              <a:off x="457200" y="5509943"/>
              <a:ext cx="11247120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9F0"/>
              </a:solidFill>
              <a:prstDash val="solid"/>
            </a:ln>
          </p:spPr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8DF99363-E75A-4315-9481-74AE2635A866}"/>
                </a:ext>
              </a:extLst>
            </p:cNvPr>
            <p:cNvSpPr/>
            <p:nvPr/>
          </p:nvSpPr>
          <p:spPr>
            <a:xfrm>
              <a:off x="548640" y="5509943"/>
              <a:ext cx="16459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 processing</a:t>
              </a:r>
              <a:endParaRPr lang="en-US" sz="1200" dirty="0"/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B5E2D921-B046-4EB2-9148-C3BDE8C4836F}"/>
                </a:ext>
              </a:extLst>
            </p:cNvPr>
            <p:cNvSpPr/>
            <p:nvPr/>
          </p:nvSpPr>
          <p:spPr>
            <a:xfrm>
              <a:off x="2377440" y="5509943"/>
              <a:ext cx="173736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Hybrid precoding</a:t>
              </a:r>
              <a:endParaRPr lang="en-US" sz="1200" dirty="0"/>
            </a:p>
          </p:txBody>
        </p:sp>
        <p:sp>
          <p:nvSpPr>
            <p:cNvPr id="52" name="Text 31">
              <a:extLst>
                <a:ext uri="{FF2B5EF4-FFF2-40B4-BE49-F238E27FC236}">
                  <a16:creationId xmlns:a16="http://schemas.microsoft.com/office/drawing/2014/main" id="{66D3E33E-1A04-4B27-A42C-3EDEAC27CBD5}"/>
                </a:ext>
              </a:extLst>
            </p:cNvPr>
            <p:cNvSpPr/>
            <p:nvPr/>
          </p:nvSpPr>
          <p:spPr>
            <a:xfrm>
              <a:off x="4297680" y="5509943"/>
              <a:ext cx="155448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Bipartite graph</a:t>
              </a:r>
              <a:endParaRPr lang="en-US" sz="1200" dirty="0"/>
            </a:p>
          </p:txBody>
        </p:sp>
        <p:sp>
          <p:nvSpPr>
            <p:cNvPr id="53" name="Text 32">
              <a:extLst>
                <a:ext uri="{FF2B5EF4-FFF2-40B4-BE49-F238E27FC236}">
                  <a16:creationId xmlns:a16="http://schemas.microsoft.com/office/drawing/2014/main" id="{5EAC54CE-CF72-4F7A-A245-9E5FECDA0B89}"/>
                </a:ext>
              </a:extLst>
            </p:cNvPr>
            <p:cNvSpPr/>
            <p:nvPr/>
          </p:nvSpPr>
          <p:spPr>
            <a:xfrm>
              <a:off x="6035040" y="5509943"/>
              <a:ext cx="30175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Symbols &amp; antennas / No feature</a:t>
              </a:r>
              <a:endParaRPr lang="en-US" sz="1200" dirty="0"/>
            </a:p>
          </p:txBody>
        </p:sp>
        <p:sp>
          <p:nvSpPr>
            <p:cNvPr id="54" name="Text 33">
              <a:extLst>
                <a:ext uri="{FF2B5EF4-FFF2-40B4-BE49-F238E27FC236}">
                  <a16:creationId xmlns:a16="http://schemas.microsoft.com/office/drawing/2014/main" id="{B6775CB7-FE15-4140-9141-72854A3DAF43}"/>
                </a:ext>
              </a:extLst>
            </p:cNvPr>
            <p:cNvSpPr/>
            <p:nvPr/>
          </p:nvSpPr>
          <p:spPr>
            <a:xfrm>
              <a:off x="9235440" y="5509943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Connectivity / Digital beamforming matrix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7258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27/40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548640" y="6115585"/>
            <a:ext cx="1111968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393E0078-73C0-4418-8AEF-A6553F680FE9}"/>
              </a:ext>
            </a:extLst>
          </p:cNvPr>
          <p:cNvSpPr/>
          <p:nvPr/>
        </p:nvSpPr>
        <p:spPr>
          <a:xfrm>
            <a:off x="548640" y="833467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and combination on a wireless graph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3C4FA3-4F87-483B-8A9F-78B46D50002B}"/>
              </a:ext>
            </a:extLst>
          </p:cNvPr>
          <p:cNvGrpSpPr/>
          <p:nvPr/>
        </p:nvGrpSpPr>
        <p:grpSpPr>
          <a:xfrm>
            <a:off x="548640" y="1527241"/>
            <a:ext cx="5486400" cy="1828800"/>
            <a:chOff x="548640" y="1828800"/>
            <a:chExt cx="5486400" cy="1828800"/>
          </a:xfrm>
        </p:grpSpPr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6EBD60DD-A2F2-417D-A9AC-2EEE8193D6EC}"/>
                </a:ext>
              </a:extLst>
            </p:cNvPr>
            <p:cNvSpPr/>
            <p:nvPr/>
          </p:nvSpPr>
          <p:spPr>
            <a:xfrm>
              <a:off x="548640" y="1828800"/>
              <a:ext cx="5486400" cy="1828800"/>
            </a:xfrm>
            <a:prstGeom prst="roundRect">
              <a:avLst>
                <a:gd name="adj" fmla="val 45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3E8"/>
              </a:solidFill>
              <a:prstDash val="solid"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 3">
                  <a:extLst>
                    <a:ext uri="{FF2B5EF4-FFF2-40B4-BE49-F238E27FC236}">
                      <a16:creationId xmlns:a16="http://schemas.microsoft.com/office/drawing/2014/main" id="{65E143C8-3C5E-48CF-BD73-F6C9968BBC36}"/>
                    </a:ext>
                  </a:extLst>
                </p:cNvPr>
                <p:cNvSpPr/>
                <p:nvPr/>
              </p:nvSpPr>
              <p:spPr>
                <a:xfrm>
                  <a:off x="637275" y="2011680"/>
                  <a:ext cx="5379083" cy="1463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>
                    <a:lnSpc>
                      <a:spcPct val="140000"/>
                    </a:lnSpc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= </a:t>
                  </a:r>
                  <a14:m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𝑃𝑂𝑂𝐿</m:t>
                            </m:r>
                          </m:e>
                        </m:mr>
                        <m:mr>
                          <m:e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∈</m:t>
                            </m:r>
                            <m:r>
                              <a:rPr 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mr>
                      </m:m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 </a:t>
                  </a:r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(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(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,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,:)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|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a14:m>
                  <a:r>
                    <a:rPr lang="en-US" sz="1600" dirty="0"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))</a:t>
                  </a:r>
                </a:p>
                <a:p>
                  <a:pPr>
                    <a:lnSpc>
                      <a:spcPct val="140000"/>
                    </a:lnSpc>
                  </a:pPr>
                  <a:r>
                    <a:rPr lang="en-US" sz="1250" dirty="0">
                      <a:solidFill>
                        <a:srgbClr val="FFFFFF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
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bSup>
                      <m:r>
                        <a:rPr lang="en-US" sz="1600" b="1" i="1" dirty="0">
                          <a:solidFill>
                            <a:srgbClr val="E8A3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1600" b="1" i="1" dirty="0" smtClean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p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p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(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600" b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,:)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,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bSup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|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E8A33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1600" b="1" i="1" dirty="0" smtClean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sup>
                          <m:d>
                            <m:dPr>
                              <m:ctrlP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>
                                  <a:solidFill>
                                    <a:srgbClr val="E8A33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p>
                    </m:oMath>
                  </a14:m>
                  <a:r>
                    <a:rPr lang="en-US" sz="1400" b="1" dirty="0">
                      <a:solidFill>
                        <a:srgbClr val="E8A33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 )</a:t>
                  </a:r>
                  <a:endParaRPr lang="en-US" sz="1250" dirty="0"/>
                </a:p>
              </p:txBody>
            </p:sp>
          </mc:Choice>
          <mc:Fallback>
            <p:sp>
              <p:nvSpPr>
                <p:cNvPr id="22" name="Text 3">
                  <a:extLst>
                    <a:ext uri="{FF2B5EF4-FFF2-40B4-BE49-F238E27FC236}">
                      <a16:creationId xmlns:a16="http://schemas.microsoft.com/office/drawing/2014/main" id="{65E143C8-3C5E-48CF-BD73-F6C9968BBC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75" y="2011680"/>
                  <a:ext cx="5379083" cy="1463040"/>
                </a:xfrm>
                <a:prstGeom prst="rect">
                  <a:avLst/>
                </a:prstGeom>
                <a:blipFill>
                  <a:blip r:embed="rId3"/>
                  <a:stretch>
                    <a:fillRect l="-1134" r="-1701" b="-833"/>
                  </a:stretch>
                </a:blipFill>
                <a:ln/>
              </p:spPr>
              <p:txBody>
                <a:bodyPr/>
                <a:lstStyle/>
                <a:p>
                  <a:r>
                    <a:rPr lang="fa-I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4">
                <a:extLst>
                  <a:ext uri="{FF2B5EF4-FFF2-40B4-BE49-F238E27FC236}">
                    <a16:creationId xmlns:a16="http://schemas.microsoft.com/office/drawing/2014/main" id="{75587DEA-5D94-4F5D-9DF0-8AF58AB616DB}"/>
                  </a:ext>
                </a:extLst>
              </p:cNvPr>
              <p:cNvSpPr/>
              <p:nvPr/>
            </p:nvSpPr>
            <p:spPr>
              <a:xfrm>
                <a:off x="548640" y="3641851"/>
                <a:ext cx="5486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Node k aggregates neighbors’ previous states + edge features with a pooling function (sum/max/attention).</a:t>
                </a:r>
                <a:endParaRPr lang="en-US" sz="1600" dirty="0"/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It then combines the aggregate with its own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and prior state to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600" dirty="0"/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After </a:t>
                </a:r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layers, an output MLP maps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d>
                          <m:dPr>
                            <m:ctrlPr>
                              <a:rPr lang="en-US" sz="16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 the decision variable, e.g. transmit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23" name="Text 4">
                <a:extLst>
                  <a:ext uri="{FF2B5EF4-FFF2-40B4-BE49-F238E27FC236}">
                    <a16:creationId xmlns:a16="http://schemas.microsoft.com/office/drawing/2014/main" id="{75587DEA-5D94-4F5D-9DF0-8AF58AB61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641851"/>
                <a:ext cx="5486400" cy="2194560"/>
              </a:xfrm>
              <a:prstGeom prst="rect">
                <a:avLst/>
              </a:prstGeom>
              <a:blipFill>
                <a:blip r:embed="rId4"/>
                <a:stretch>
                  <a:fillRect l="-2111" t="-2500" r="-222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5">
            <a:extLst>
              <a:ext uri="{FF2B5EF4-FFF2-40B4-BE49-F238E27FC236}">
                <a16:creationId xmlns:a16="http://schemas.microsoft.com/office/drawing/2014/main" id="{7CCA8222-6A15-4A0D-ACE5-7812C065A51A}"/>
              </a:ext>
            </a:extLst>
          </p:cNvPr>
          <p:cNvSpPr/>
          <p:nvPr/>
        </p:nvSpPr>
        <p:spPr>
          <a:xfrm>
            <a:off x="6319086" y="1527240"/>
            <a:ext cx="5349240" cy="4379027"/>
          </a:xfrm>
          <a:prstGeom prst="roundRect">
            <a:avLst>
              <a:gd name="adj" fmla="val 1935"/>
            </a:avLst>
          </a:prstGeom>
          <a:noFill/>
          <a:ln w="6350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ABEE5F9-D045-4534-9B2A-8565B66D0C0A}"/>
              </a:ext>
            </a:extLst>
          </p:cNvPr>
          <p:cNvSpPr/>
          <p:nvPr/>
        </p:nvSpPr>
        <p:spPr>
          <a:xfrm>
            <a:off x="6593406" y="155062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ECGNN for D2D power control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88DC97C5-2B87-41A7-9BFC-CEDA21BE379C}"/>
              </a:ext>
            </a:extLst>
          </p:cNvPr>
          <p:cNvSpPr/>
          <p:nvPr/>
        </p:nvSpPr>
        <p:spPr>
          <a:xfrm>
            <a:off x="7482129" y="2085482"/>
            <a:ext cx="0" cy="710489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E0EF8BE1-7BB8-4121-8A9D-9A3EFB08B71F}"/>
              </a:ext>
            </a:extLst>
          </p:cNvPr>
          <p:cNvSpPr/>
          <p:nvPr/>
        </p:nvSpPr>
        <p:spPr>
          <a:xfrm>
            <a:off x="7482129" y="2085482"/>
            <a:ext cx="825703" cy="633679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41DFC6F7-53F2-45C2-9042-C83BF7A8CFCE}"/>
              </a:ext>
            </a:extLst>
          </p:cNvPr>
          <p:cNvSpPr/>
          <p:nvPr/>
        </p:nvSpPr>
        <p:spPr>
          <a:xfrm>
            <a:off x="6637223" y="2795971"/>
            <a:ext cx="1670609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03E95CFF-593D-4BE0-ADBC-8235870BE37B}"/>
              </a:ext>
            </a:extLst>
          </p:cNvPr>
          <p:cNvSpPr/>
          <p:nvPr/>
        </p:nvSpPr>
        <p:spPr>
          <a:xfrm>
            <a:off x="6637223" y="2795971"/>
            <a:ext cx="384048" cy="1017727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2E39E776-024A-4796-BA9C-3E615370EE10}"/>
              </a:ext>
            </a:extLst>
          </p:cNvPr>
          <p:cNvSpPr/>
          <p:nvPr/>
        </p:nvSpPr>
        <p:spPr>
          <a:xfrm flipH="1">
            <a:off x="8307830" y="2719161"/>
            <a:ext cx="1" cy="61075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573AB772-B953-497F-B243-C381F82A7D58}"/>
              </a:ext>
            </a:extLst>
          </p:cNvPr>
          <p:cNvSpPr/>
          <p:nvPr/>
        </p:nvSpPr>
        <p:spPr>
          <a:xfrm>
            <a:off x="7021271" y="3813698"/>
            <a:ext cx="960120" cy="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34390D8D-257E-4FC9-BF47-39218C01B9B1}"/>
              </a:ext>
            </a:extLst>
          </p:cNvPr>
          <p:cNvSpPr/>
          <p:nvPr/>
        </p:nvSpPr>
        <p:spPr>
          <a:xfrm>
            <a:off x="7482129" y="2085482"/>
            <a:ext cx="0" cy="960120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4C643C16-2B90-4A53-9DAA-DE94989BC52B}"/>
              </a:ext>
            </a:extLst>
          </p:cNvPr>
          <p:cNvSpPr/>
          <p:nvPr/>
        </p:nvSpPr>
        <p:spPr>
          <a:xfrm>
            <a:off x="7443724" y="3045602"/>
            <a:ext cx="0" cy="768096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EBB34E48-73C8-42EA-A5ED-76CCAF96147F}"/>
              </a:ext>
            </a:extLst>
          </p:cNvPr>
          <p:cNvSpPr/>
          <p:nvPr/>
        </p:nvSpPr>
        <p:spPr>
          <a:xfrm>
            <a:off x="7443724" y="3045602"/>
            <a:ext cx="537667" cy="710489"/>
          </a:xfrm>
          <a:prstGeom prst="line">
            <a:avLst/>
          </a:prstGeom>
          <a:noFill/>
          <a:ln w="15875">
            <a:solidFill>
              <a:srgbClr val="3C5C7D"/>
            </a:solidFill>
            <a:prstDash val="solid"/>
          </a:ln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CE6E191A-B9F0-46A9-AD6F-A50597719B66}"/>
              </a:ext>
            </a:extLst>
          </p:cNvPr>
          <p:cNvSpPr/>
          <p:nvPr/>
        </p:nvSpPr>
        <p:spPr>
          <a:xfrm>
            <a:off x="7381545" y="1984898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C35D84A-F8D6-45DD-8449-20FF874D96D3}"/>
              </a:ext>
            </a:extLst>
          </p:cNvPr>
          <p:cNvSpPr/>
          <p:nvPr/>
        </p:nvSpPr>
        <p:spPr>
          <a:xfrm>
            <a:off x="6536639" y="2695387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FE9E387A-6EFF-4480-A492-760D7BABE23E}"/>
              </a:ext>
            </a:extLst>
          </p:cNvPr>
          <p:cNvSpPr/>
          <p:nvPr/>
        </p:nvSpPr>
        <p:spPr>
          <a:xfrm>
            <a:off x="8207248" y="2618577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7DEBC3B0-950B-4544-BE8F-D782F8914849}"/>
              </a:ext>
            </a:extLst>
          </p:cNvPr>
          <p:cNvSpPr/>
          <p:nvPr/>
        </p:nvSpPr>
        <p:spPr>
          <a:xfrm>
            <a:off x="6920687" y="3713114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E36B3035-CB1E-4FC6-A113-026B30252266}"/>
              </a:ext>
            </a:extLst>
          </p:cNvPr>
          <p:cNvSpPr/>
          <p:nvPr/>
        </p:nvSpPr>
        <p:spPr>
          <a:xfrm>
            <a:off x="7880807" y="3655507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2C20C39C-BB3E-415F-BE50-F36A28E217A3}"/>
              </a:ext>
            </a:extLst>
          </p:cNvPr>
          <p:cNvSpPr/>
          <p:nvPr/>
        </p:nvSpPr>
        <p:spPr>
          <a:xfrm>
            <a:off x="7343140" y="2945018"/>
            <a:ext cx="201168" cy="20116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22">
                <a:extLst>
                  <a:ext uri="{FF2B5EF4-FFF2-40B4-BE49-F238E27FC236}">
                    <a16:creationId xmlns:a16="http://schemas.microsoft.com/office/drawing/2014/main" id="{2331D73D-9696-4FDF-9256-07EF408AD32F}"/>
                  </a:ext>
                </a:extLst>
              </p:cNvPr>
              <p:cNvSpPr/>
              <p:nvPr/>
            </p:nvSpPr>
            <p:spPr>
              <a:xfrm>
                <a:off x="6636410" y="4014024"/>
                <a:ext cx="4846317" cy="17260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Weighted graph of transceiver pairs; edge = interference link.</a:t>
                </a:r>
                <a:endParaRPr lang="en-US" sz="1600" dirty="0"/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0" dirty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1600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n-US" sz="1600" b="1" i="0" dirty="0" smtClean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Sup>
                          <m:sSub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nor/>
                          </m:rPr>
                          <a:rPr lang="en-US" sz="1600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16212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solidFill>
                                  <a:srgbClr val="16212B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dirty="0" smtClean="0">
                                <a:solidFill>
                                  <a:srgbClr val="16212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b="0" i="1" dirty="0" smtClean="0">
                                <a:solidFill>
                                  <a:srgbClr val="16212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 dirty="0">
                                <a:solidFill>
                                  <a:srgbClr val="16212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Sup>
                          <m:sSub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nor/>
                          </m:rPr>
                          <a:rPr lang="en-US" sz="1600" dirty="0"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</m:oMath>
                </a14:m>
                <a:endParaRPr lang="en-US" sz="1400" dirty="0">
                  <a:latin typeface="Calibri" pitchFamily="34" charset="0"/>
                </a:endParaRPr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</a:t>
                </a:r>
                <a:r>
                  <a:rPr lang="en-US" sz="1600" dirty="0" err="1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MLP</a:t>
                </a: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— outputs the transmit power directly.</a:t>
                </a:r>
                <a:endParaRPr lang="en-US" sz="1600" dirty="0"/>
              </a:p>
            </p:txBody>
          </p:sp>
        </mc:Choice>
        <mc:Fallback>
          <p:sp>
            <p:nvSpPr>
              <p:cNvPr id="44" name="Text 22">
                <a:extLst>
                  <a:ext uri="{FF2B5EF4-FFF2-40B4-BE49-F238E27FC236}">
                    <a16:creationId xmlns:a16="http://schemas.microsoft.com/office/drawing/2014/main" id="{2331D73D-9696-4FDF-9256-07EF408AD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410" y="4014024"/>
                <a:ext cx="4846317" cy="1726049"/>
              </a:xfrm>
              <a:prstGeom prst="rect">
                <a:avLst/>
              </a:prstGeom>
              <a:blipFill>
                <a:blip r:embed="rId5"/>
                <a:stretch>
                  <a:fillRect l="-2642" t="-13028" r="-2264" b="-42606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509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28/40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2201428-B6E4-4323-9533-048E788C2705}"/>
              </a:ext>
            </a:extLst>
          </p:cNvPr>
          <p:cNvSpPr/>
          <p:nvPr/>
        </p:nvSpPr>
        <p:spPr>
          <a:xfrm>
            <a:off x="548640" y="90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Message Passing (DMP) algorithms</a:t>
            </a:r>
            <a:endParaRPr lang="en-US" sz="3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CAB95EF9-52D7-4E60-BECD-201E78434E76}"/>
              </a:ext>
            </a:extLst>
          </p:cNvPr>
          <p:cNvSpPr/>
          <p:nvPr/>
        </p:nvSpPr>
        <p:spPr>
          <a:xfrm>
            <a:off x="548640" y="1860904"/>
            <a:ext cx="6105079" cy="306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DMP algorithm: each node sends messages to neighbors, aggregates what it receives, and updates its own state — repeated for T communication rounds.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classic family unifies both optimization-based algorithms (WMMSE, Riemannian gradient, belief propagation) and GNN-based algorithms under one umbrella.</a:t>
            </a:r>
            <a:endParaRPr lang="en-US" dirty="0"/>
          </a:p>
          <a:p>
            <a:pPr marL="228600" indent="-228600" algn="just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1: for any graph optimization problem of the paper’s form, there exists a DMP algorithm that solves it — because any such solution map is provably permutation-invariant.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5FE3735-B695-4FB1-96D9-3376C7C6F907}"/>
              </a:ext>
            </a:extLst>
          </p:cNvPr>
          <p:cNvSpPr/>
          <p:nvPr/>
        </p:nvSpPr>
        <p:spPr>
          <a:xfrm>
            <a:off x="7040880" y="1598256"/>
            <a:ext cx="4572000" cy="4206240"/>
          </a:xfrm>
          <a:prstGeom prst="roundRect">
            <a:avLst>
              <a:gd name="adj" fmla="val 1957"/>
            </a:avLst>
          </a:prstGeom>
          <a:noFill/>
          <a:ln w="63500">
            <a:solidFill>
              <a:schemeClr val="accent2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0D07331-F9C7-4A4D-813B-C23D73BFD8A9}"/>
              </a:ext>
            </a:extLst>
          </p:cNvPr>
          <p:cNvSpPr/>
          <p:nvPr/>
        </p:nvSpPr>
        <p:spPr>
          <a:xfrm>
            <a:off x="7315200" y="17811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1: DMP round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57743496-5429-4138-9C4E-9C2090C966BB}"/>
              </a:ext>
            </a:extLst>
          </p:cNvPr>
          <p:cNvSpPr/>
          <p:nvPr/>
        </p:nvSpPr>
        <p:spPr>
          <a:xfrm>
            <a:off x="7315200" y="247861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F9D1D60-9CAB-4E3F-939B-9326E5A6140A}"/>
              </a:ext>
            </a:extLst>
          </p:cNvPr>
          <p:cNvSpPr/>
          <p:nvPr/>
        </p:nvSpPr>
        <p:spPr>
          <a:xfrm>
            <a:off x="7315200" y="247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55185DD4-3889-4538-90CA-AF156818AD25}"/>
                  </a:ext>
                </a:extLst>
              </p:cNvPr>
              <p:cNvSpPr/>
              <p:nvPr/>
            </p:nvSpPr>
            <p:spPr>
              <a:xfrm>
                <a:off x="7909560" y="2478616"/>
                <a:ext cx="356616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Receive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→ⅈ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 neighbors j ∈ N(i)</a:t>
                </a:r>
                <a:endParaRPr lang="en-US" dirty="0"/>
              </a:p>
            </p:txBody>
          </p:sp>
        </mc:Choice>
        <mc:Fallback xmlns="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55185DD4-3889-4538-90CA-AF156818A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560" y="2478616"/>
                <a:ext cx="3566160" cy="548640"/>
              </a:xfrm>
              <a:prstGeom prst="rect">
                <a:avLst/>
              </a:prstGeom>
              <a:blipFill>
                <a:blip r:embed="rId3"/>
                <a:stretch>
                  <a:fillRect l="-4103" t="-16667" b="-34444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8">
            <a:extLst>
              <a:ext uri="{FF2B5EF4-FFF2-40B4-BE49-F238E27FC236}">
                <a16:creationId xmlns:a16="http://schemas.microsoft.com/office/drawing/2014/main" id="{587FA24F-D4C9-40C7-B669-DBACAC161222}"/>
              </a:ext>
            </a:extLst>
          </p:cNvPr>
          <p:cNvSpPr/>
          <p:nvPr/>
        </p:nvSpPr>
        <p:spPr>
          <a:xfrm>
            <a:off x="7315200" y="32558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1938332-AC7E-4CBB-AA45-7E9551795A9F}"/>
              </a:ext>
            </a:extLst>
          </p:cNvPr>
          <p:cNvSpPr/>
          <p:nvPr/>
        </p:nvSpPr>
        <p:spPr>
          <a:xfrm>
            <a:off x="7315200" y="325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10">
                <a:extLst>
                  <a:ext uri="{FF2B5EF4-FFF2-40B4-BE49-F238E27FC236}">
                    <a16:creationId xmlns:a16="http://schemas.microsoft.com/office/drawing/2014/main" id="{C7F0D036-1E10-4482-A82A-A5A343398119}"/>
                  </a:ext>
                </a:extLst>
              </p:cNvPr>
              <p:cNvSpPr/>
              <p:nvPr/>
            </p:nvSpPr>
            <p:spPr>
              <a:xfrm>
                <a:off x="7909560" y="3255856"/>
                <a:ext cx="356616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Aggregate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→ⅈ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 10">
                <a:extLst>
                  <a:ext uri="{FF2B5EF4-FFF2-40B4-BE49-F238E27FC236}">
                    <a16:creationId xmlns:a16="http://schemas.microsoft.com/office/drawing/2014/main" id="{C7F0D036-1E10-4482-A82A-A5A343398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560" y="3255856"/>
                <a:ext cx="3566160" cy="548640"/>
              </a:xfrm>
              <a:prstGeom prst="rect">
                <a:avLst/>
              </a:prstGeom>
              <a:blipFill>
                <a:blip r:embed="rId4"/>
                <a:stretch>
                  <a:fillRect l="-4103" b="-3333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hape 11">
            <a:extLst>
              <a:ext uri="{FF2B5EF4-FFF2-40B4-BE49-F238E27FC236}">
                <a16:creationId xmlns:a16="http://schemas.microsoft.com/office/drawing/2014/main" id="{A9544AD8-4AC1-47F3-8EC5-B8B322A7122C}"/>
              </a:ext>
            </a:extLst>
          </p:cNvPr>
          <p:cNvSpPr/>
          <p:nvPr/>
        </p:nvSpPr>
        <p:spPr>
          <a:xfrm>
            <a:off x="7315200" y="4033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707D6594-5031-4993-B902-6A0B92DFA69D}"/>
              </a:ext>
            </a:extLst>
          </p:cNvPr>
          <p:cNvSpPr/>
          <p:nvPr/>
        </p:nvSpPr>
        <p:spPr>
          <a:xfrm>
            <a:off x="7315200" y="4033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3">
                <a:extLst>
                  <a:ext uri="{FF2B5EF4-FFF2-40B4-BE49-F238E27FC236}">
                    <a16:creationId xmlns:a16="http://schemas.microsoft.com/office/drawing/2014/main" id="{0A945CDA-E604-4E99-B349-7B5AB87C5333}"/>
                  </a:ext>
                </a:extLst>
              </p:cNvPr>
              <p:cNvSpPr/>
              <p:nvPr/>
            </p:nvSpPr>
            <p:spPr>
              <a:xfrm>
                <a:off x="7909560" y="4033096"/>
                <a:ext cx="356616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Update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2" name="Text 13">
                <a:extLst>
                  <a:ext uri="{FF2B5EF4-FFF2-40B4-BE49-F238E27FC236}">
                    <a16:creationId xmlns:a16="http://schemas.microsoft.com/office/drawing/2014/main" id="{0A945CDA-E604-4E99-B349-7B5AB87C5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560" y="4033096"/>
                <a:ext cx="3566160" cy="548640"/>
              </a:xfrm>
              <a:prstGeom prst="rect">
                <a:avLst/>
              </a:prstGeom>
              <a:blipFill>
                <a:blip r:embed="rId5"/>
                <a:stretch>
                  <a:fillRect l="-4103" b="-3333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14">
                <a:extLst>
                  <a:ext uri="{FF2B5EF4-FFF2-40B4-BE49-F238E27FC236}">
                    <a16:creationId xmlns:a16="http://schemas.microsoft.com/office/drawing/2014/main" id="{BD0A4474-CD63-4942-A6A7-8314FFBC4284}"/>
                  </a:ext>
                </a:extLst>
              </p:cNvPr>
              <p:cNvSpPr/>
              <p:nvPr/>
            </p:nvSpPr>
            <p:spPr>
              <a:xfrm>
                <a:off x="7315200" y="4853062"/>
                <a:ext cx="41605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Repeated for T rounds →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  <m:sup>
                        <m:r>
                          <a:rPr lang="en-US" sz="2000" b="0" i="0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b="0" i="0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]</a:t>
                </a:r>
                <a:endParaRPr lang="en-US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 14">
                <a:extLst>
                  <a:ext uri="{FF2B5EF4-FFF2-40B4-BE49-F238E27FC236}">
                    <a16:creationId xmlns:a16="http://schemas.microsoft.com/office/drawing/2014/main" id="{BD0A4474-CD63-4942-A6A7-8314FFBC4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853062"/>
                <a:ext cx="4160520" cy="365760"/>
              </a:xfrm>
              <a:prstGeom prst="rect">
                <a:avLst/>
              </a:prstGeom>
              <a:blipFill>
                <a:blip r:embed="rId6"/>
                <a:stretch>
                  <a:fillRect l="-3660" t="-11667" r="-732" b="-36667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516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29/40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FBD5DEE-2A69-4220-8450-CCC2DAE3F804}"/>
              </a:ext>
            </a:extLst>
          </p:cNvPr>
          <p:cNvSpPr/>
          <p:nvPr/>
        </p:nvSpPr>
        <p:spPr>
          <a:xfrm>
            <a:off x="548640" y="872973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2: GNNs can represent any DMP algorithm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3236728F-E81D-4411-9967-2573A6A41C48}"/>
              </a:ext>
            </a:extLst>
          </p:cNvPr>
          <p:cNvSpPr/>
          <p:nvPr/>
        </p:nvSpPr>
        <p:spPr>
          <a:xfrm>
            <a:off x="548640" y="1624461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4DE04B8-CD9F-4F05-B112-AEE9EAB4B284}"/>
              </a:ext>
            </a:extLst>
          </p:cNvPr>
          <p:cNvSpPr/>
          <p:nvPr/>
        </p:nvSpPr>
        <p:spPr>
          <a:xfrm>
            <a:off x="822960" y="1715901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WMMSE (Shi et al. 2011)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9C5699C7-E84C-4107-8DBE-7E466D4C4B02}"/>
              </a:ext>
            </a:extLst>
          </p:cNvPr>
          <p:cNvSpPr/>
          <p:nvPr/>
        </p:nvSpPr>
        <p:spPr>
          <a:xfrm>
            <a:off x="4206240" y="1715901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optimization algorithm</a:t>
            </a:r>
            <a:endParaRPr lang="en-US" sz="14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87EADB9-C1CE-447A-8ADF-B006972754DA}"/>
              </a:ext>
            </a:extLst>
          </p:cNvPr>
          <p:cNvSpPr/>
          <p:nvPr/>
        </p:nvSpPr>
        <p:spPr>
          <a:xfrm>
            <a:off x="6583680" y="1715901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2: shown to be a DMP algorithm with ≤ 2T iterations.</a:t>
            </a:r>
            <a:endParaRPr lang="en-US" sz="14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DAA5C427-290D-48E4-B967-32169A20077B}"/>
              </a:ext>
            </a:extLst>
          </p:cNvPr>
          <p:cNvSpPr/>
          <p:nvPr/>
        </p:nvSpPr>
        <p:spPr>
          <a:xfrm>
            <a:off x="548640" y="2813181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91432232-5ED0-4382-8F53-BA0556F3A498}"/>
              </a:ext>
            </a:extLst>
          </p:cNvPr>
          <p:cNvSpPr/>
          <p:nvPr/>
        </p:nvSpPr>
        <p:spPr>
          <a:xfrm>
            <a:off x="822960" y="2904621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Riemannian gradient (Yu et al. 2016)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EF879B3-E37E-456F-9055-F335B7A9F0E5}"/>
              </a:ext>
            </a:extLst>
          </p:cNvPr>
          <p:cNvSpPr/>
          <p:nvPr/>
        </p:nvSpPr>
        <p:spPr>
          <a:xfrm>
            <a:off x="4206240" y="2904621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precoding solver</a:t>
            </a:r>
            <a:endParaRPr lang="en-US" sz="14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D3BAD99-1F24-4CFF-9125-0D7D4736BFF4}"/>
              </a:ext>
            </a:extLst>
          </p:cNvPr>
          <p:cNvSpPr/>
          <p:nvPr/>
        </p:nvSpPr>
        <p:spPr>
          <a:xfrm>
            <a:off x="6583680" y="2904621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1: its update rule is rewritten exactly as a DMP message-passing step.</a:t>
            </a:r>
            <a:endParaRPr lang="en-US" sz="14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6B818DC8-DCF2-46C7-A10F-FAD8EAC1D13F}"/>
              </a:ext>
            </a:extLst>
          </p:cNvPr>
          <p:cNvSpPr/>
          <p:nvPr/>
        </p:nvSpPr>
        <p:spPr>
          <a:xfrm>
            <a:off x="548640" y="4001901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144B38A-B091-40BC-942D-0A3C36D7CF3A}"/>
              </a:ext>
            </a:extLst>
          </p:cNvPr>
          <p:cNvSpPr/>
          <p:nvPr/>
        </p:nvSpPr>
        <p:spPr>
          <a:xfrm>
            <a:off x="822960" y="4093341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ECGNN (learned)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069B29C-2CF4-4F21-8741-B094AD2FD8A5}"/>
              </a:ext>
            </a:extLst>
          </p:cNvPr>
          <p:cNvSpPr/>
          <p:nvPr/>
        </p:nvSpPr>
        <p:spPr>
          <a:xfrm>
            <a:off x="4206240" y="4093341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for D2D power control</a:t>
            </a:r>
            <a:endParaRPr lang="en-US" sz="1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98C80FE5-2ABE-40B6-96FE-3249387B666D}"/>
              </a:ext>
            </a:extLst>
          </p:cNvPr>
          <p:cNvSpPr/>
          <p:nvPr/>
        </p:nvSpPr>
        <p:spPr>
          <a:xfrm>
            <a:off x="6583680" y="4093341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GNN layer is itself already a DMP step — with weights learned from data instead of hand-derived.</a:t>
            </a:r>
            <a:endParaRPr lang="en-US" sz="14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2486BD46-FCCA-4ECF-B35C-1D6A259BCABA}"/>
              </a:ext>
            </a:extLst>
          </p:cNvPr>
          <p:cNvSpPr/>
          <p:nvPr/>
        </p:nvSpPr>
        <p:spPr>
          <a:xfrm>
            <a:off x="548640" y="5177075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: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(1) every graph-optimization problem has a solving DMP algorithm (Thm 1) and (2) GNNs can represent any DMP algorithm (Thm 2) — there exists a GNN that solves any such wireless problem.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14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30/40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548639" y="6115584"/>
            <a:ext cx="1106423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F5AE19F-8887-4435-AA89-1BEF32A1F6F4}"/>
              </a:ext>
            </a:extLst>
          </p:cNvPr>
          <p:cNvSpPr/>
          <p:nvPr/>
        </p:nvSpPr>
        <p:spPr>
          <a:xfrm>
            <a:off x="548639" y="872431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GNNs need far fewer samples: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PAC-learning + algorithmic alignment</a:t>
            </a:r>
            <a:endParaRPr lang="en-US" sz="30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2">
                <a:extLst>
                  <a:ext uri="{FF2B5EF4-FFF2-40B4-BE49-F238E27FC236}">
                    <a16:creationId xmlns:a16="http://schemas.microsoft.com/office/drawing/2014/main" id="{D6FF9CCB-39FD-4952-AB4A-6E0165685923}"/>
                  </a:ext>
                </a:extLst>
              </p:cNvPr>
              <p:cNvSpPr/>
              <p:nvPr/>
            </p:nvSpPr>
            <p:spPr>
              <a:xfrm>
                <a:off x="548640" y="2109853"/>
                <a:ext cx="11064240" cy="19027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PAC-learning asks: how many training samples N guarantee error &lt; ε with probability ≥ 1−δ?</a:t>
                </a:r>
                <a:endParaRPr lang="en-US" dirty="0"/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Algorithmic alignment (Xu et al., 2020): a network “aligns” well with a target algorithm if it decomposes into modules that each learn a simple sub-function — better alignment ⇒ lower sample complexity N.</a:t>
                </a:r>
                <a:endParaRPr lang="en-US" dirty="0"/>
              </a:p>
              <a:p>
                <a:pPr marL="285750" indent="-285750">
                  <a:lnSpc>
                    <a:spcPct val="108000"/>
                  </a:lnSpc>
                  <a:spcAft>
                    <a:spcPts val="1000"/>
                  </a:spcAft>
                  <a:buSzPct val="100000"/>
                  <a:buFont typeface="Wingdings" panose="05000000000000000000" pitchFamily="2" charset="2"/>
                  <a:buChar char="ü"/>
                </a:pPr>
                <a:r>
                  <a:rPr lang="en-US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Lemma 1: a GNN aligns with a T-iteration DMP algorithm using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𝑻𝑪</m:t>
                        </m:r>
                      </m:num>
                      <m:den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dirty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dirty="0" smtClean="0">
                            <a:solidFill>
                              <a:srgbClr val="16212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1621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samples per module; an MLP needs O(TC·|V|) — a factor of |V|² more overall.</a:t>
                </a:r>
                <a:endParaRPr lang="en-US" dirty="0"/>
              </a:p>
            </p:txBody>
          </p:sp>
        </mc:Choice>
        <mc:Fallback xmlns="">
          <p:sp>
            <p:nvSpPr>
              <p:cNvPr id="20" name="Text 2">
                <a:extLst>
                  <a:ext uri="{FF2B5EF4-FFF2-40B4-BE49-F238E27FC236}">
                    <a16:creationId xmlns:a16="http://schemas.microsoft.com/office/drawing/2014/main" id="{D6FF9CCB-39FD-4952-AB4A-6E0165685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109853"/>
                <a:ext cx="11064240" cy="1902796"/>
              </a:xfrm>
              <a:prstGeom prst="rect">
                <a:avLst/>
              </a:prstGeom>
              <a:blipFill>
                <a:blip r:embed="rId3"/>
                <a:stretch>
                  <a:fillRect l="-1157" t="-3846" b="-7051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3">
            <a:extLst>
              <a:ext uri="{FF2B5EF4-FFF2-40B4-BE49-F238E27FC236}">
                <a16:creationId xmlns:a16="http://schemas.microsoft.com/office/drawing/2014/main" id="{F01B303E-C422-4B09-BA32-85D177326EA9}"/>
              </a:ext>
            </a:extLst>
          </p:cNvPr>
          <p:cNvSpPr/>
          <p:nvPr/>
        </p:nvSpPr>
        <p:spPr>
          <a:xfrm>
            <a:off x="548640" y="42976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0B2545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BDA5055-D835-4F8F-8602-4FF13EA3AAA7}"/>
              </a:ext>
            </a:extLst>
          </p:cNvPr>
          <p:cNvSpPr/>
          <p:nvPr/>
        </p:nvSpPr>
        <p:spPr>
          <a:xfrm>
            <a:off x="971550" y="466045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0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D47E92D1-B4D5-4332-9441-3237F11013C0}"/>
              </a:ext>
            </a:extLst>
          </p:cNvPr>
          <p:cNvSpPr/>
          <p:nvPr/>
        </p:nvSpPr>
        <p:spPr>
          <a:xfrm>
            <a:off x="2679285" y="4660458"/>
            <a:ext cx="34952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fewer training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than MLPs</a:t>
            </a:r>
            <a:endParaRPr lang="en-US" sz="20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0F08180F-B9B9-488B-B740-0718B670F6C7}"/>
              </a:ext>
            </a:extLst>
          </p:cNvPr>
          <p:cNvSpPr/>
          <p:nvPr/>
        </p:nvSpPr>
        <p:spPr>
          <a:xfrm>
            <a:off x="6172200" y="42976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21295C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564ED859-A898-4104-9F01-67BF85507B4D}"/>
              </a:ext>
            </a:extLst>
          </p:cNvPr>
          <p:cNvSpPr/>
          <p:nvPr/>
        </p:nvSpPr>
        <p:spPr>
          <a:xfrm>
            <a:off x="6554055" y="466045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3959945-9F84-4527-B9C9-D208D2E5603E}"/>
              </a:ext>
            </a:extLst>
          </p:cNvPr>
          <p:cNvSpPr/>
          <p:nvPr/>
        </p:nvSpPr>
        <p:spPr>
          <a:xfrm>
            <a:off x="8042988" y="4660457"/>
            <a:ext cx="3387012" cy="9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lower generalization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than MLPs (Thm 4)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9280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31/40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CD0722E-0512-4E89-B12D-084DBDA41E4F}"/>
              </a:ext>
            </a:extLst>
          </p:cNvPr>
          <p:cNvSpPr/>
          <p:nvPr/>
        </p:nvSpPr>
        <p:spPr>
          <a:xfrm>
            <a:off x="548640" y="90601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guidelines for enhancing a base GNN</a:t>
            </a:r>
            <a:endParaRPr lang="en-US" sz="30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0B703BC3-35A2-4359-B21C-94F8AD8747E2}"/>
              </a:ext>
            </a:extLst>
          </p:cNvPr>
          <p:cNvSpPr/>
          <p:nvPr/>
        </p:nvSpPr>
        <p:spPr>
          <a:xfrm>
            <a:off x="548640" y="1691640"/>
            <a:ext cx="2596896" cy="402336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4227223B-A2A3-490B-9E1F-6DA8F01EE76E}"/>
              </a:ext>
            </a:extLst>
          </p:cNvPr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4511C78-A45E-4D79-9BCE-5E7C6B338176}"/>
              </a:ext>
            </a:extLst>
          </p:cNvPr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5B9EAB2-C5FB-40BC-9B58-4559DB29A37B}"/>
              </a:ext>
            </a:extLst>
          </p:cNvPr>
          <p:cNvSpPr/>
          <p:nvPr/>
        </p:nvSpPr>
        <p:spPr>
          <a:xfrm>
            <a:off x="731520" y="2430621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message passing</a:t>
            </a:r>
            <a:endParaRPr lang="en-US" sz="13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30D88FB-F958-48A8-A939-5EA7955C592A}"/>
              </a:ext>
            </a:extLst>
          </p:cNvPr>
          <p:cNvSpPr/>
          <p:nvPr/>
        </p:nvSpPr>
        <p:spPr>
          <a:xfrm>
            <a:off x="731520" y="3291840"/>
            <a:ext cx="2267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/ more targeted incoming messages reduce the complexity of the function each module must learn.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821893A2-24E8-4DB2-AAC3-552DEEE82002}"/>
              </a:ext>
            </a:extLst>
          </p:cNvPr>
          <p:cNvSpPr/>
          <p:nvPr/>
        </p:nvSpPr>
        <p:spPr>
          <a:xfrm>
            <a:off x="3273552" y="1691640"/>
            <a:ext cx="2596896" cy="402336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3F0C24AF-62D3-404C-B7D3-1BECF6AB259F}"/>
              </a:ext>
            </a:extLst>
          </p:cNvPr>
          <p:cNvSpPr/>
          <p:nvPr/>
        </p:nvSpPr>
        <p:spPr>
          <a:xfrm>
            <a:off x="3456432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C19D85F-E6D8-498C-AB39-E0E5E14EE063}"/>
              </a:ext>
            </a:extLst>
          </p:cNvPr>
          <p:cNvSpPr/>
          <p:nvPr/>
        </p:nvSpPr>
        <p:spPr>
          <a:xfrm>
            <a:off x="34564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12579670-B1EF-4C3A-B3BD-48A914B1DF4A}"/>
              </a:ext>
            </a:extLst>
          </p:cNvPr>
          <p:cNvSpPr/>
          <p:nvPr/>
        </p:nvSpPr>
        <p:spPr>
          <a:xfrm>
            <a:off x="3456432" y="25146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matching pooling function</a:t>
            </a:r>
            <a:endParaRPr lang="en-US" sz="135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F80235E9-C0FB-449E-B909-38152709D5CA}"/>
              </a:ext>
            </a:extLst>
          </p:cNvPr>
          <p:cNvSpPr/>
          <p:nvPr/>
        </p:nvSpPr>
        <p:spPr>
          <a:xfrm>
            <a:off x="3456432" y="3291840"/>
            <a:ext cx="2267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for sparse influence (e.g., strongest interferer); sum for aggregate statistics; attention when correlations matter.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3F015D29-4BD4-4F91-B0F4-DCED6D0B4728}"/>
              </a:ext>
            </a:extLst>
          </p:cNvPr>
          <p:cNvSpPr/>
          <p:nvPr/>
        </p:nvSpPr>
        <p:spPr>
          <a:xfrm>
            <a:off x="5998464" y="1691640"/>
            <a:ext cx="2596896" cy="402336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A704839-C98D-4AB5-B364-088B745941E0}"/>
              </a:ext>
            </a:extLst>
          </p:cNvPr>
          <p:cNvSpPr/>
          <p:nvPr/>
        </p:nvSpPr>
        <p:spPr>
          <a:xfrm>
            <a:off x="6181344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C87DDDFB-71CF-4B0C-B6C1-1B38F40408AE}"/>
              </a:ext>
            </a:extLst>
          </p:cNvPr>
          <p:cNvSpPr/>
          <p:nvPr/>
        </p:nvSpPr>
        <p:spPr>
          <a:xfrm>
            <a:off x="618134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F28B88D-7828-4F4E-893D-758856D806C1}"/>
              </a:ext>
            </a:extLst>
          </p:cNvPr>
          <p:cNvSpPr/>
          <p:nvPr/>
        </p:nvSpPr>
        <p:spPr>
          <a:xfrm>
            <a:off x="6181344" y="25146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aggregation &amp; combination nets</a:t>
            </a:r>
            <a:endParaRPr 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16">
                <a:extLst>
                  <a:ext uri="{FF2B5EF4-FFF2-40B4-BE49-F238E27FC236}">
                    <a16:creationId xmlns:a16="http://schemas.microsoft.com/office/drawing/2014/main" id="{DBD6A87C-8089-4761-8279-7F4159B3EC9E}"/>
                  </a:ext>
                </a:extLst>
              </p:cNvPr>
              <p:cNvSpPr/>
              <p:nvPr/>
            </p:nvSpPr>
            <p:spPr>
              <a:xfrm>
                <a:off x="6181344" y="3291840"/>
                <a:ext cx="2267712" cy="228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 unrolling from a known classical algorithm (e.g., WMMSE) instead of a generic 1-layer MLP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5" name="Text 16">
                <a:extLst>
                  <a:ext uri="{FF2B5EF4-FFF2-40B4-BE49-F238E27FC236}">
                    <a16:creationId xmlns:a16="http://schemas.microsoft.com/office/drawing/2014/main" id="{DBD6A87C-8089-4761-8279-7F4159B3E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3291840"/>
                <a:ext cx="2267712" cy="2286000"/>
              </a:xfrm>
              <a:prstGeom prst="rect">
                <a:avLst/>
              </a:prstGeom>
              <a:blipFill>
                <a:blip r:embed="rId3"/>
                <a:stretch>
                  <a:fillRect l="-4839" r="-806"/>
                </a:stretch>
              </a:blipFill>
              <a:ln/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17">
            <a:extLst>
              <a:ext uri="{FF2B5EF4-FFF2-40B4-BE49-F238E27FC236}">
                <a16:creationId xmlns:a16="http://schemas.microsoft.com/office/drawing/2014/main" id="{944301D4-FBBF-4666-8A6E-5B30AA67D2D2}"/>
              </a:ext>
            </a:extLst>
          </p:cNvPr>
          <p:cNvSpPr/>
          <p:nvPr/>
        </p:nvSpPr>
        <p:spPr>
          <a:xfrm>
            <a:off x="8723376" y="1691640"/>
            <a:ext cx="2596896" cy="402336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40BB225A-0A7B-4F8A-8E0D-404DD94CDBF6}"/>
              </a:ext>
            </a:extLst>
          </p:cNvPr>
          <p:cNvSpPr/>
          <p:nvPr/>
        </p:nvSpPr>
        <p:spPr>
          <a:xfrm>
            <a:off x="8906256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3ECA7D5-0599-403F-85B3-893A21E66872}"/>
              </a:ext>
            </a:extLst>
          </p:cNvPr>
          <p:cNvSpPr/>
          <p:nvPr/>
        </p:nvSpPr>
        <p:spPr>
          <a:xfrm>
            <a:off x="890625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C66D1AC7-3CE6-493F-91CB-537FCC553C3D}"/>
              </a:ext>
            </a:extLst>
          </p:cNvPr>
          <p:cNvSpPr/>
          <p:nvPr/>
        </p:nvSpPr>
        <p:spPr>
          <a:xfrm>
            <a:off x="8906256" y="2393297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input embeddings</a:t>
            </a:r>
            <a:endParaRPr lang="en-US" sz="135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5D8F5D3A-4631-47D0-88D5-520F5BAAC292}"/>
              </a:ext>
            </a:extLst>
          </p:cNvPr>
          <p:cNvSpPr/>
          <p:nvPr/>
        </p:nvSpPr>
        <p:spPr>
          <a:xfrm>
            <a:off x="8906256" y="3291840"/>
            <a:ext cx="2267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low-dimensional edge/node features into a higher-dimensional space so the network does not ignore them.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975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32/40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96CB1-C3EE-46E0-8913-135C37CE4229}"/>
              </a:ext>
            </a:extLst>
          </p:cNvPr>
          <p:cNvGrpSpPr/>
          <p:nvPr/>
        </p:nvGrpSpPr>
        <p:grpSpPr>
          <a:xfrm>
            <a:off x="438150" y="1485900"/>
            <a:ext cx="7315200" cy="4434840"/>
            <a:chOff x="457200" y="1600200"/>
            <a:chExt cx="7315200" cy="4434840"/>
          </a:xfrm>
        </p:grpSpPr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8FF90E9A-E7FF-4C2B-AE12-D4B236EB15D5}"/>
                </a:ext>
              </a:extLst>
            </p:cNvPr>
            <p:cNvSpPr/>
            <p:nvPr/>
          </p:nvSpPr>
          <p:spPr>
            <a:xfrm>
              <a:off x="457200" y="1600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i="1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samples needed to reach matching performance (log scale)</a:t>
              </a:r>
              <a:endParaRPr lang="en-US" sz="1250" dirty="0"/>
            </a:p>
          </p:txBody>
        </p:sp>
        <p:graphicFrame>
          <p:nvGraphicFramePr>
            <p:cNvPr id="21" name="Chart 0">
              <a:extLst>
                <a:ext uri="{FF2B5EF4-FFF2-40B4-BE49-F238E27FC236}">
                  <a16:creationId xmlns:a16="http://schemas.microsoft.com/office/drawing/2014/main" id="{790E8866-3D03-44D3-A685-7FDA7FF5311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61575717"/>
                </p:ext>
              </p:extLst>
            </p:nvPr>
          </p:nvGraphicFramePr>
          <p:xfrm>
            <a:off x="457200" y="1920240"/>
            <a:ext cx="6675120" cy="4114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DC2CFD-7F95-4402-84E9-A58225E3FB4D}"/>
              </a:ext>
            </a:extLst>
          </p:cNvPr>
          <p:cNvGrpSpPr/>
          <p:nvPr/>
        </p:nvGrpSpPr>
        <p:grpSpPr>
          <a:xfrm>
            <a:off x="7406640" y="1691640"/>
            <a:ext cx="4297680" cy="4114800"/>
            <a:chOff x="7406640" y="1920240"/>
            <a:chExt cx="4297680" cy="4114800"/>
          </a:xfrm>
        </p:grpSpPr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F99290B4-A046-4EE1-8C10-00F898B6AB75}"/>
                </a:ext>
              </a:extLst>
            </p:cNvPr>
            <p:cNvSpPr/>
            <p:nvPr/>
          </p:nvSpPr>
          <p:spPr>
            <a:xfrm>
              <a:off x="7406640" y="1920240"/>
              <a:ext cx="4297680" cy="4114800"/>
            </a:xfrm>
            <a:prstGeom prst="roundRect">
              <a:avLst>
                <a:gd name="adj" fmla="val 2000"/>
              </a:avLst>
            </a:prstGeom>
            <a:solidFill>
              <a:srgbClr val="0B1F3A"/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65F02FA8-512E-402E-8FD0-94FF252EAD54}"/>
                </a:ext>
              </a:extLst>
            </p:cNvPr>
            <p:cNvSpPr/>
            <p:nvPr/>
          </p:nvSpPr>
          <p:spPr>
            <a:xfrm>
              <a:off x="7635240" y="210312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6B35"/>
                  </a:solidFill>
                  <a:ea typeface="Cambria" pitchFamily="34" charset="-122"/>
                  <a:cs typeface="Cambria" pitchFamily="34" charset="-120"/>
                </a:rPr>
                <a:t>Headline result</a:t>
              </a:r>
              <a:endParaRPr lang="en-US" sz="20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3B212B1A-B26E-4167-A7A9-1F688492C2A5}"/>
                </a:ext>
              </a:extLst>
            </p:cNvPr>
            <p:cNvSpPr/>
            <p:nvPr/>
          </p:nvSpPr>
          <p:spPr>
            <a:xfrm>
              <a:off x="7635240" y="2300926"/>
              <a:ext cx="384048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dirty="0">
                  <a:solidFill>
                    <a:srgbClr val="E7EE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 K=20 users, PCGNN trained with just 20–40 samples matches an MLP trained with 16,000–64,000 samples.</a:t>
              </a:r>
              <a:endParaRPr lang="en-US" sz="1600" dirty="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C19E276B-DEF5-4F48-B021-7FDA8269F14A}"/>
                </a:ext>
              </a:extLst>
            </p:cNvPr>
            <p:cNvSpPr/>
            <p:nvPr/>
          </p:nvSpPr>
          <p:spPr>
            <a:xfrm>
              <a:off x="7635240" y="3525101"/>
              <a:ext cx="3840480" cy="0"/>
            </a:xfrm>
            <a:prstGeom prst="line">
              <a:avLst/>
            </a:prstGeom>
            <a:noFill/>
            <a:ln w="12700">
              <a:solidFill>
                <a:srgbClr val="2C5378"/>
              </a:solidFill>
              <a:prstDash val="solid"/>
            </a:ln>
          </p:spPr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C5D87972-D54D-46E3-A61D-0573E3002026}"/>
                </a:ext>
              </a:extLst>
            </p:cNvPr>
            <p:cNvSpPr/>
            <p:nvPr/>
          </p:nvSpPr>
          <p:spPr>
            <a:xfrm>
              <a:off x="7635240" y="3699588"/>
              <a:ext cx="3840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Versus #transceiver pairs (fixed 100k samples)</a:t>
              </a:r>
              <a:endParaRPr lang="en-US" sz="2000" dirty="0"/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282FF81D-EF88-454E-9A4D-D5338206BD69}"/>
                </a:ext>
              </a:extLst>
            </p:cNvPr>
            <p:cNvSpPr/>
            <p:nvPr/>
          </p:nvSpPr>
          <p:spPr>
            <a:xfrm>
              <a:off x="7635240" y="4397516"/>
              <a:ext cx="384048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rgbClr val="C7D6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PCGNN and ECGNN performance stays stable as the network grows; MLP performance decays linearly. PCGNN even surpasses “Best FPlinQ” at large user counts.</a:t>
              </a:r>
              <a:endParaRPr lang="en-US" sz="16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A161F2E-8445-41B8-8C54-EAED57AC3A89}"/>
              </a:ext>
            </a:extLst>
          </p:cNvPr>
          <p:cNvSpPr txBox="1"/>
          <p:nvPr/>
        </p:nvSpPr>
        <p:spPr>
          <a:xfrm>
            <a:off x="338137" y="788293"/>
            <a:ext cx="8262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D2D</a:t>
            </a:r>
            <a:r>
              <a:rPr lang="en-US" sz="32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Power Control — Sample Efficiency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6281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33/40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68495EA-8EFC-414B-9203-2670BE7ACE06}"/>
              </a:ext>
            </a:extLst>
          </p:cNvPr>
          <p:cNvSpPr/>
          <p:nvPr/>
        </p:nvSpPr>
        <p:spPr>
          <a:xfrm>
            <a:off x="457200" y="56692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D2D Robustness to SNR &amp; Channel Shift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B578F6-BC46-415A-827B-A32F4C30A19E}"/>
              </a:ext>
            </a:extLst>
          </p:cNvPr>
          <p:cNvGrpSpPr/>
          <p:nvPr/>
        </p:nvGrpSpPr>
        <p:grpSpPr>
          <a:xfrm>
            <a:off x="457200" y="1314450"/>
            <a:ext cx="11247120" cy="4608576"/>
            <a:chOff x="457200" y="1600200"/>
            <a:chExt cx="11247120" cy="4608576"/>
          </a:xfrm>
        </p:grpSpPr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DDE54FAD-1B22-49CF-BD27-B0A15F69430B}"/>
                </a:ext>
              </a:extLst>
            </p:cNvPr>
            <p:cNvSpPr/>
            <p:nvPr/>
          </p:nvSpPr>
          <p:spPr>
            <a:xfrm>
              <a:off x="457200" y="1600200"/>
              <a:ext cx="11247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239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Table II — Robustness to transmit-power / SNR level  (K=10, normalized by Best FPlinQ)</a:t>
              </a:r>
              <a:endParaRPr lang="en-US" sz="1250" dirty="0"/>
            </a:p>
          </p:txBody>
        </p:sp>
        <p:sp>
          <p:nvSpPr>
            <p:cNvPr id="24" name="Shape 8">
              <a:extLst>
                <a:ext uri="{FF2B5EF4-FFF2-40B4-BE49-F238E27FC236}">
                  <a16:creationId xmlns:a16="http://schemas.microsoft.com/office/drawing/2014/main" id="{4D5488F6-A237-467A-B086-5B33255543E7}"/>
                </a:ext>
              </a:extLst>
            </p:cNvPr>
            <p:cNvSpPr/>
            <p:nvPr/>
          </p:nvSpPr>
          <p:spPr>
            <a:xfrm>
              <a:off x="457200" y="1965960"/>
              <a:ext cx="292608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1A10450D-B901-4672-B927-E1E48359E87C}"/>
                </a:ext>
              </a:extLst>
            </p:cNvPr>
            <p:cNvSpPr/>
            <p:nvPr/>
          </p:nvSpPr>
          <p:spPr>
            <a:xfrm>
              <a:off x="502920" y="1965960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Tx Power (dBm)</a:t>
              </a:r>
              <a:endParaRPr lang="en-US" sz="1050" dirty="0"/>
            </a:p>
          </p:txBody>
        </p:sp>
        <p:sp>
          <p:nvSpPr>
            <p:cNvPr id="27" name="Shape 10">
              <a:extLst>
                <a:ext uri="{FF2B5EF4-FFF2-40B4-BE49-F238E27FC236}">
                  <a16:creationId xmlns:a16="http://schemas.microsoft.com/office/drawing/2014/main" id="{D8C8658F-65FF-43C5-B9FF-967DD2BFC9DB}"/>
                </a:ext>
              </a:extLst>
            </p:cNvPr>
            <p:cNvSpPr/>
            <p:nvPr/>
          </p:nvSpPr>
          <p:spPr>
            <a:xfrm>
              <a:off x="3383280" y="1965960"/>
              <a:ext cx="274320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1C177382-DBF8-4C92-A931-01DA36C817F1}"/>
                </a:ext>
              </a:extLst>
            </p:cNvPr>
            <p:cNvSpPr/>
            <p:nvPr/>
          </p:nvSpPr>
          <p:spPr>
            <a:xfrm>
              <a:off x="3429000" y="1965960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PCGNN</a:t>
              </a:r>
              <a:endParaRPr lang="en-US" sz="1050" dirty="0"/>
            </a:p>
          </p:txBody>
        </p:sp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2F4305EE-B463-4609-B60A-A3C6F5E02E19}"/>
                </a:ext>
              </a:extLst>
            </p:cNvPr>
            <p:cNvSpPr/>
            <p:nvPr/>
          </p:nvSpPr>
          <p:spPr>
            <a:xfrm>
              <a:off x="6126480" y="1965960"/>
              <a:ext cx="329184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86E6A230-7036-4B41-AA71-23959E79D5E2}"/>
                </a:ext>
              </a:extLst>
            </p:cNvPr>
            <p:cNvSpPr/>
            <p:nvPr/>
          </p:nvSpPr>
          <p:spPr>
            <a:xfrm>
              <a:off x="6172200" y="196596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PCGNN (Full Training)</a:t>
              </a:r>
              <a:endParaRPr lang="en-US" sz="1050" dirty="0"/>
            </a:p>
          </p:txBody>
        </p:sp>
        <p:sp>
          <p:nvSpPr>
            <p:cNvPr id="31" name="Shape 14">
              <a:extLst>
                <a:ext uri="{FF2B5EF4-FFF2-40B4-BE49-F238E27FC236}">
                  <a16:creationId xmlns:a16="http://schemas.microsoft.com/office/drawing/2014/main" id="{C6131173-63AA-40F0-A32D-20529836762B}"/>
                </a:ext>
              </a:extLst>
            </p:cNvPr>
            <p:cNvSpPr/>
            <p:nvPr/>
          </p:nvSpPr>
          <p:spPr>
            <a:xfrm>
              <a:off x="9418320" y="1965960"/>
              <a:ext cx="228600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3A867865-855E-4CB1-98F1-C026D948DA14}"/>
                </a:ext>
              </a:extLst>
            </p:cNvPr>
            <p:cNvSpPr/>
            <p:nvPr/>
          </p:nvSpPr>
          <p:spPr>
            <a:xfrm>
              <a:off x="9464040" y="19659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FPlinQ</a:t>
              </a:r>
              <a:endParaRPr lang="en-US" sz="1050" dirty="0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07E07A53-1E54-4774-8EA0-8B4BBBEFB130}"/>
                </a:ext>
              </a:extLst>
            </p:cNvPr>
            <p:cNvSpPr/>
            <p:nvPr/>
          </p:nvSpPr>
          <p:spPr>
            <a:xfrm>
              <a:off x="457200" y="2331720"/>
              <a:ext cx="292608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34" name="Text 17">
              <a:extLst>
                <a:ext uri="{FF2B5EF4-FFF2-40B4-BE49-F238E27FC236}">
                  <a16:creationId xmlns:a16="http://schemas.microsoft.com/office/drawing/2014/main" id="{55C451AB-3663-4BBB-95DD-C564A1ED2925}"/>
                </a:ext>
              </a:extLst>
            </p:cNvPr>
            <p:cNvSpPr/>
            <p:nvPr/>
          </p:nvSpPr>
          <p:spPr>
            <a:xfrm>
              <a:off x="502920" y="2331720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050" dirty="0"/>
            </a:p>
          </p:txBody>
        </p:sp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C51C42F1-FD6D-4602-85B6-59FEEBD18745}"/>
                </a:ext>
              </a:extLst>
            </p:cNvPr>
            <p:cNvSpPr/>
            <p:nvPr/>
          </p:nvSpPr>
          <p:spPr>
            <a:xfrm>
              <a:off x="3383280" y="2331720"/>
              <a:ext cx="27432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CD3A753A-B09D-4374-8C6E-0949BCBCC6F0}"/>
                </a:ext>
              </a:extLst>
            </p:cNvPr>
            <p:cNvSpPr/>
            <p:nvPr/>
          </p:nvSpPr>
          <p:spPr>
            <a:xfrm>
              <a:off x="3429000" y="2331720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96.12%</a:t>
              </a:r>
              <a:endParaRPr lang="en-US" sz="1050" dirty="0"/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A9408C1B-2B25-41E8-99A8-2D64144F5C65}"/>
                </a:ext>
              </a:extLst>
            </p:cNvPr>
            <p:cNvSpPr/>
            <p:nvPr/>
          </p:nvSpPr>
          <p:spPr>
            <a:xfrm>
              <a:off x="6126480" y="2331720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38" name="Text 21">
              <a:extLst>
                <a:ext uri="{FF2B5EF4-FFF2-40B4-BE49-F238E27FC236}">
                  <a16:creationId xmlns:a16="http://schemas.microsoft.com/office/drawing/2014/main" id="{8FB78FD2-787F-448A-9C55-57268DB1D945}"/>
                </a:ext>
              </a:extLst>
            </p:cNvPr>
            <p:cNvSpPr/>
            <p:nvPr/>
          </p:nvSpPr>
          <p:spPr>
            <a:xfrm>
              <a:off x="6172200" y="2331720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97.10%</a:t>
              </a:r>
              <a:endParaRPr lang="en-US" sz="1050" dirty="0"/>
            </a:p>
          </p:txBody>
        </p:sp>
        <p:sp>
          <p:nvSpPr>
            <p:cNvPr id="39" name="Shape 22">
              <a:extLst>
                <a:ext uri="{FF2B5EF4-FFF2-40B4-BE49-F238E27FC236}">
                  <a16:creationId xmlns:a16="http://schemas.microsoft.com/office/drawing/2014/main" id="{77166871-1FB8-4A01-9629-27A4C054943B}"/>
                </a:ext>
              </a:extLst>
            </p:cNvPr>
            <p:cNvSpPr/>
            <p:nvPr/>
          </p:nvSpPr>
          <p:spPr>
            <a:xfrm>
              <a:off x="9418320" y="2331720"/>
              <a:ext cx="22860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DF785DBF-7507-4C1B-9A82-23EDD19F7995}"/>
                </a:ext>
              </a:extLst>
            </p:cNvPr>
            <p:cNvSpPr/>
            <p:nvPr/>
          </p:nvSpPr>
          <p:spPr>
            <a:xfrm>
              <a:off x="9464040" y="2331720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93.43%</a:t>
              </a:r>
              <a:endParaRPr lang="en-US" sz="1050" dirty="0"/>
            </a:p>
          </p:txBody>
        </p:sp>
        <p:sp>
          <p:nvSpPr>
            <p:cNvPr id="41" name="Shape 24">
              <a:extLst>
                <a:ext uri="{FF2B5EF4-FFF2-40B4-BE49-F238E27FC236}">
                  <a16:creationId xmlns:a16="http://schemas.microsoft.com/office/drawing/2014/main" id="{963C85B5-AAA9-4353-8C42-A6F34E9474CA}"/>
                </a:ext>
              </a:extLst>
            </p:cNvPr>
            <p:cNvSpPr/>
            <p:nvPr/>
          </p:nvSpPr>
          <p:spPr>
            <a:xfrm>
              <a:off x="457200" y="2660904"/>
              <a:ext cx="29260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44" name="Text 25">
              <a:extLst>
                <a:ext uri="{FF2B5EF4-FFF2-40B4-BE49-F238E27FC236}">
                  <a16:creationId xmlns:a16="http://schemas.microsoft.com/office/drawing/2014/main" id="{EB56534C-97E9-4F78-985E-E4823C210039}"/>
                </a:ext>
              </a:extLst>
            </p:cNvPr>
            <p:cNvSpPr/>
            <p:nvPr/>
          </p:nvSpPr>
          <p:spPr>
            <a:xfrm>
              <a:off x="502920" y="2660904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1050" dirty="0"/>
            </a:p>
          </p:txBody>
        </p:sp>
        <p:sp>
          <p:nvSpPr>
            <p:cNvPr id="45" name="Shape 26">
              <a:extLst>
                <a:ext uri="{FF2B5EF4-FFF2-40B4-BE49-F238E27FC236}">
                  <a16:creationId xmlns:a16="http://schemas.microsoft.com/office/drawing/2014/main" id="{90913F07-A973-404B-B918-D3D618F8E02B}"/>
                </a:ext>
              </a:extLst>
            </p:cNvPr>
            <p:cNvSpPr/>
            <p:nvPr/>
          </p:nvSpPr>
          <p:spPr>
            <a:xfrm>
              <a:off x="3383280" y="2660904"/>
              <a:ext cx="274320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46" name="Text 27">
              <a:extLst>
                <a:ext uri="{FF2B5EF4-FFF2-40B4-BE49-F238E27FC236}">
                  <a16:creationId xmlns:a16="http://schemas.microsoft.com/office/drawing/2014/main" id="{2E2D1809-CC82-4857-B718-EA2B2D1F955F}"/>
                </a:ext>
              </a:extLst>
            </p:cNvPr>
            <p:cNvSpPr/>
            <p:nvPr/>
          </p:nvSpPr>
          <p:spPr>
            <a:xfrm>
              <a:off x="3429000" y="2660904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96.80%</a:t>
              </a:r>
              <a:endParaRPr lang="en-US" sz="1050" dirty="0"/>
            </a:p>
          </p:txBody>
        </p:sp>
        <p:sp>
          <p:nvSpPr>
            <p:cNvPr id="49" name="Shape 28">
              <a:extLst>
                <a:ext uri="{FF2B5EF4-FFF2-40B4-BE49-F238E27FC236}">
                  <a16:creationId xmlns:a16="http://schemas.microsoft.com/office/drawing/2014/main" id="{2A1C1331-5485-42E6-A24D-30E2505C5D5F}"/>
                </a:ext>
              </a:extLst>
            </p:cNvPr>
            <p:cNvSpPr/>
            <p:nvPr/>
          </p:nvSpPr>
          <p:spPr>
            <a:xfrm>
              <a:off x="6126480" y="2660904"/>
              <a:ext cx="329184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50" name="Text 29">
              <a:extLst>
                <a:ext uri="{FF2B5EF4-FFF2-40B4-BE49-F238E27FC236}">
                  <a16:creationId xmlns:a16="http://schemas.microsoft.com/office/drawing/2014/main" id="{91273665-C177-4C59-9808-8B069E98FC14}"/>
                </a:ext>
              </a:extLst>
            </p:cNvPr>
            <p:cNvSpPr/>
            <p:nvPr/>
          </p:nvSpPr>
          <p:spPr>
            <a:xfrm>
              <a:off x="6172200" y="2660904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97.20%</a:t>
              </a:r>
              <a:endParaRPr lang="en-US" sz="1050" dirty="0"/>
            </a:p>
          </p:txBody>
        </p:sp>
        <p:sp>
          <p:nvSpPr>
            <p:cNvPr id="52" name="Shape 30">
              <a:extLst>
                <a:ext uri="{FF2B5EF4-FFF2-40B4-BE49-F238E27FC236}">
                  <a16:creationId xmlns:a16="http://schemas.microsoft.com/office/drawing/2014/main" id="{74634345-E747-4AB0-B1E8-0E17A7F203E9}"/>
                </a:ext>
              </a:extLst>
            </p:cNvPr>
            <p:cNvSpPr/>
            <p:nvPr/>
          </p:nvSpPr>
          <p:spPr>
            <a:xfrm>
              <a:off x="9418320" y="2660904"/>
              <a:ext cx="228600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F7ACD39E-C66D-4B24-BE6E-DA9C81DB21DC}"/>
                </a:ext>
              </a:extLst>
            </p:cNvPr>
            <p:cNvSpPr/>
            <p:nvPr/>
          </p:nvSpPr>
          <p:spPr>
            <a:xfrm>
              <a:off x="9464040" y="2660904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93.75%</a:t>
              </a:r>
              <a:endParaRPr lang="en-US" sz="1050" dirty="0"/>
            </a:p>
          </p:txBody>
        </p:sp>
        <p:sp>
          <p:nvSpPr>
            <p:cNvPr id="54" name="Shape 32">
              <a:extLst>
                <a:ext uri="{FF2B5EF4-FFF2-40B4-BE49-F238E27FC236}">
                  <a16:creationId xmlns:a16="http://schemas.microsoft.com/office/drawing/2014/main" id="{9938AE2E-EEB7-418A-A74B-029D01988DE9}"/>
                </a:ext>
              </a:extLst>
            </p:cNvPr>
            <p:cNvSpPr/>
            <p:nvPr/>
          </p:nvSpPr>
          <p:spPr>
            <a:xfrm>
              <a:off x="457200" y="2990088"/>
              <a:ext cx="292608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56" name="Text 33">
              <a:extLst>
                <a:ext uri="{FF2B5EF4-FFF2-40B4-BE49-F238E27FC236}">
                  <a16:creationId xmlns:a16="http://schemas.microsoft.com/office/drawing/2014/main" id="{2E83DB74-60DD-4051-B7C9-4C4B5D2D210C}"/>
                </a:ext>
              </a:extLst>
            </p:cNvPr>
            <p:cNvSpPr/>
            <p:nvPr/>
          </p:nvSpPr>
          <p:spPr>
            <a:xfrm>
              <a:off x="502920" y="2990088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</a:t>
              </a:r>
              <a:endParaRPr lang="en-US" sz="1050" dirty="0"/>
            </a:p>
          </p:txBody>
        </p:sp>
        <p:sp>
          <p:nvSpPr>
            <p:cNvPr id="57" name="Shape 34">
              <a:extLst>
                <a:ext uri="{FF2B5EF4-FFF2-40B4-BE49-F238E27FC236}">
                  <a16:creationId xmlns:a16="http://schemas.microsoft.com/office/drawing/2014/main" id="{F959296C-87E5-4C14-913D-82522353E3C4}"/>
                </a:ext>
              </a:extLst>
            </p:cNvPr>
            <p:cNvSpPr/>
            <p:nvPr/>
          </p:nvSpPr>
          <p:spPr>
            <a:xfrm>
              <a:off x="3383280" y="2990088"/>
              <a:ext cx="27432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58" name="Text 35">
              <a:extLst>
                <a:ext uri="{FF2B5EF4-FFF2-40B4-BE49-F238E27FC236}">
                  <a16:creationId xmlns:a16="http://schemas.microsoft.com/office/drawing/2014/main" id="{F37FA112-9789-4DDC-BB35-E3B01CBAC6C0}"/>
                </a:ext>
              </a:extLst>
            </p:cNvPr>
            <p:cNvSpPr/>
            <p:nvPr/>
          </p:nvSpPr>
          <p:spPr>
            <a:xfrm>
              <a:off x="3429000" y="2990088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97.00%</a:t>
              </a:r>
              <a:endParaRPr lang="en-US" sz="1050" dirty="0"/>
            </a:p>
          </p:txBody>
        </p:sp>
        <p:sp>
          <p:nvSpPr>
            <p:cNvPr id="61" name="Shape 36">
              <a:extLst>
                <a:ext uri="{FF2B5EF4-FFF2-40B4-BE49-F238E27FC236}">
                  <a16:creationId xmlns:a16="http://schemas.microsoft.com/office/drawing/2014/main" id="{E3254279-EF75-4B11-AB8F-F1677ED2116C}"/>
                </a:ext>
              </a:extLst>
            </p:cNvPr>
            <p:cNvSpPr/>
            <p:nvPr/>
          </p:nvSpPr>
          <p:spPr>
            <a:xfrm>
              <a:off x="6126480" y="2990088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63" name="Text 37">
              <a:extLst>
                <a:ext uri="{FF2B5EF4-FFF2-40B4-BE49-F238E27FC236}">
                  <a16:creationId xmlns:a16="http://schemas.microsoft.com/office/drawing/2014/main" id="{BB43F67E-8CDF-42E8-9628-73AD615A156D}"/>
                </a:ext>
              </a:extLst>
            </p:cNvPr>
            <p:cNvSpPr/>
            <p:nvPr/>
          </p:nvSpPr>
          <p:spPr>
            <a:xfrm>
              <a:off x="6172200" y="2990088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97.39%</a:t>
              </a:r>
              <a:endParaRPr lang="en-US" sz="1050" dirty="0"/>
            </a:p>
          </p:txBody>
        </p:sp>
        <p:sp>
          <p:nvSpPr>
            <p:cNvPr id="64" name="Shape 38">
              <a:extLst>
                <a:ext uri="{FF2B5EF4-FFF2-40B4-BE49-F238E27FC236}">
                  <a16:creationId xmlns:a16="http://schemas.microsoft.com/office/drawing/2014/main" id="{2219E6AF-B067-4A8E-AAFB-A62650F3CEFC}"/>
                </a:ext>
              </a:extLst>
            </p:cNvPr>
            <p:cNvSpPr/>
            <p:nvPr/>
          </p:nvSpPr>
          <p:spPr>
            <a:xfrm>
              <a:off x="9418320" y="2990088"/>
              <a:ext cx="22860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65" name="Text 39">
              <a:extLst>
                <a:ext uri="{FF2B5EF4-FFF2-40B4-BE49-F238E27FC236}">
                  <a16:creationId xmlns:a16="http://schemas.microsoft.com/office/drawing/2014/main" id="{5A67A209-D186-4AA1-B6E9-AF0D5B8C1BEE}"/>
                </a:ext>
              </a:extLst>
            </p:cNvPr>
            <p:cNvSpPr/>
            <p:nvPr/>
          </p:nvSpPr>
          <p:spPr>
            <a:xfrm>
              <a:off x="9464040" y="2990088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93.62%</a:t>
              </a:r>
              <a:endParaRPr lang="en-US" sz="1050" dirty="0"/>
            </a:p>
          </p:txBody>
        </p:sp>
        <p:sp>
          <p:nvSpPr>
            <p:cNvPr id="66" name="Shape 40">
              <a:extLst>
                <a:ext uri="{FF2B5EF4-FFF2-40B4-BE49-F238E27FC236}">
                  <a16:creationId xmlns:a16="http://schemas.microsoft.com/office/drawing/2014/main" id="{3FABAE0F-43C6-4FD3-8284-6294DDB94001}"/>
                </a:ext>
              </a:extLst>
            </p:cNvPr>
            <p:cNvSpPr/>
            <p:nvPr/>
          </p:nvSpPr>
          <p:spPr>
            <a:xfrm>
              <a:off x="457200" y="3319272"/>
              <a:ext cx="292608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67" name="Text 41">
              <a:extLst>
                <a:ext uri="{FF2B5EF4-FFF2-40B4-BE49-F238E27FC236}">
                  <a16:creationId xmlns:a16="http://schemas.microsoft.com/office/drawing/2014/main" id="{334D2D8B-5D0F-42BB-8AF9-BB8D316CA0C0}"/>
                </a:ext>
              </a:extLst>
            </p:cNvPr>
            <p:cNvSpPr/>
            <p:nvPr/>
          </p:nvSpPr>
          <p:spPr>
            <a:xfrm>
              <a:off x="502920" y="3319272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</a:t>
              </a:r>
              <a:endParaRPr lang="en-US" sz="1050" dirty="0"/>
            </a:p>
          </p:txBody>
        </p:sp>
        <p:sp>
          <p:nvSpPr>
            <p:cNvPr id="68" name="Shape 42">
              <a:extLst>
                <a:ext uri="{FF2B5EF4-FFF2-40B4-BE49-F238E27FC236}">
                  <a16:creationId xmlns:a16="http://schemas.microsoft.com/office/drawing/2014/main" id="{3E1930FB-D3B4-4F79-9F44-4586467BEE00}"/>
                </a:ext>
              </a:extLst>
            </p:cNvPr>
            <p:cNvSpPr/>
            <p:nvPr/>
          </p:nvSpPr>
          <p:spPr>
            <a:xfrm>
              <a:off x="3383280" y="3319272"/>
              <a:ext cx="274320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69" name="Text 43">
              <a:extLst>
                <a:ext uri="{FF2B5EF4-FFF2-40B4-BE49-F238E27FC236}">
                  <a16:creationId xmlns:a16="http://schemas.microsoft.com/office/drawing/2014/main" id="{3A2C2EF5-0793-4652-889A-F2D245FF47C1}"/>
                </a:ext>
              </a:extLst>
            </p:cNvPr>
            <p:cNvSpPr/>
            <p:nvPr/>
          </p:nvSpPr>
          <p:spPr>
            <a:xfrm>
              <a:off x="3429000" y="3319272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96.65%</a:t>
              </a:r>
              <a:endParaRPr lang="en-US" sz="1050" dirty="0"/>
            </a:p>
          </p:txBody>
        </p:sp>
        <p:sp>
          <p:nvSpPr>
            <p:cNvPr id="70" name="Shape 44">
              <a:extLst>
                <a:ext uri="{FF2B5EF4-FFF2-40B4-BE49-F238E27FC236}">
                  <a16:creationId xmlns:a16="http://schemas.microsoft.com/office/drawing/2014/main" id="{7B09C304-2FD0-4672-AA4D-6953D88E391B}"/>
                </a:ext>
              </a:extLst>
            </p:cNvPr>
            <p:cNvSpPr/>
            <p:nvPr/>
          </p:nvSpPr>
          <p:spPr>
            <a:xfrm>
              <a:off x="6126480" y="3319272"/>
              <a:ext cx="329184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71" name="Text 45">
              <a:extLst>
                <a:ext uri="{FF2B5EF4-FFF2-40B4-BE49-F238E27FC236}">
                  <a16:creationId xmlns:a16="http://schemas.microsoft.com/office/drawing/2014/main" id="{A34A6B16-DD76-4470-A034-AF3FC551F13B}"/>
                </a:ext>
              </a:extLst>
            </p:cNvPr>
            <p:cNvSpPr/>
            <p:nvPr/>
          </p:nvSpPr>
          <p:spPr>
            <a:xfrm>
              <a:off x="6172200" y="3319272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97.12%</a:t>
              </a:r>
              <a:endParaRPr lang="en-US" sz="1050" dirty="0"/>
            </a:p>
          </p:txBody>
        </p:sp>
        <p:sp>
          <p:nvSpPr>
            <p:cNvPr id="72" name="Shape 46">
              <a:extLst>
                <a:ext uri="{FF2B5EF4-FFF2-40B4-BE49-F238E27FC236}">
                  <a16:creationId xmlns:a16="http://schemas.microsoft.com/office/drawing/2014/main" id="{405227FB-2DD1-404F-BA5A-F0432C286D40}"/>
                </a:ext>
              </a:extLst>
            </p:cNvPr>
            <p:cNvSpPr/>
            <p:nvPr/>
          </p:nvSpPr>
          <p:spPr>
            <a:xfrm>
              <a:off x="9418320" y="3319272"/>
              <a:ext cx="228600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73" name="Text 47">
              <a:extLst>
                <a:ext uri="{FF2B5EF4-FFF2-40B4-BE49-F238E27FC236}">
                  <a16:creationId xmlns:a16="http://schemas.microsoft.com/office/drawing/2014/main" id="{5697A83B-F021-43C2-872B-8019F8F723E9}"/>
                </a:ext>
              </a:extLst>
            </p:cNvPr>
            <p:cNvSpPr/>
            <p:nvPr/>
          </p:nvSpPr>
          <p:spPr>
            <a:xfrm>
              <a:off x="9464040" y="3319272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93.31%</a:t>
              </a:r>
              <a:endParaRPr lang="en-US" sz="1050" dirty="0"/>
            </a:p>
          </p:txBody>
        </p:sp>
        <p:sp>
          <p:nvSpPr>
            <p:cNvPr id="74" name="Shape 48">
              <a:extLst>
                <a:ext uri="{FF2B5EF4-FFF2-40B4-BE49-F238E27FC236}">
                  <a16:creationId xmlns:a16="http://schemas.microsoft.com/office/drawing/2014/main" id="{18F5B6F1-645D-499D-A2C0-BD00A1D965C8}"/>
                </a:ext>
              </a:extLst>
            </p:cNvPr>
            <p:cNvSpPr/>
            <p:nvPr/>
          </p:nvSpPr>
          <p:spPr>
            <a:xfrm>
              <a:off x="457200" y="3648456"/>
              <a:ext cx="292608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75" name="Text 49">
              <a:extLst>
                <a:ext uri="{FF2B5EF4-FFF2-40B4-BE49-F238E27FC236}">
                  <a16:creationId xmlns:a16="http://schemas.microsoft.com/office/drawing/2014/main" id="{0AB8FCCC-BB29-4D1F-9EE2-FC9CD4412D2A}"/>
                </a:ext>
              </a:extLst>
            </p:cNvPr>
            <p:cNvSpPr/>
            <p:nvPr/>
          </p:nvSpPr>
          <p:spPr>
            <a:xfrm>
              <a:off x="502920" y="3648456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</a:t>
              </a:r>
              <a:endParaRPr lang="en-US" sz="1050" dirty="0"/>
            </a:p>
          </p:txBody>
        </p:sp>
        <p:sp>
          <p:nvSpPr>
            <p:cNvPr id="76" name="Shape 50">
              <a:extLst>
                <a:ext uri="{FF2B5EF4-FFF2-40B4-BE49-F238E27FC236}">
                  <a16:creationId xmlns:a16="http://schemas.microsoft.com/office/drawing/2014/main" id="{F4C68884-063F-41CA-AA4C-2DEDFDEFEDEB}"/>
                </a:ext>
              </a:extLst>
            </p:cNvPr>
            <p:cNvSpPr/>
            <p:nvPr/>
          </p:nvSpPr>
          <p:spPr>
            <a:xfrm>
              <a:off x="3383280" y="3648456"/>
              <a:ext cx="27432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77" name="Text 51">
              <a:extLst>
                <a:ext uri="{FF2B5EF4-FFF2-40B4-BE49-F238E27FC236}">
                  <a16:creationId xmlns:a16="http://schemas.microsoft.com/office/drawing/2014/main" id="{84573C4D-984D-41DE-8E32-CB65A91FBE9B}"/>
                </a:ext>
              </a:extLst>
            </p:cNvPr>
            <p:cNvSpPr/>
            <p:nvPr/>
          </p:nvSpPr>
          <p:spPr>
            <a:xfrm>
              <a:off x="3429000" y="3648456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96.90%</a:t>
              </a:r>
              <a:endParaRPr lang="en-US" sz="1050" dirty="0"/>
            </a:p>
          </p:txBody>
        </p:sp>
        <p:sp>
          <p:nvSpPr>
            <p:cNvPr id="78" name="Shape 52">
              <a:extLst>
                <a:ext uri="{FF2B5EF4-FFF2-40B4-BE49-F238E27FC236}">
                  <a16:creationId xmlns:a16="http://schemas.microsoft.com/office/drawing/2014/main" id="{44AE078E-258F-495A-8830-12D4FF5E2135}"/>
                </a:ext>
              </a:extLst>
            </p:cNvPr>
            <p:cNvSpPr/>
            <p:nvPr/>
          </p:nvSpPr>
          <p:spPr>
            <a:xfrm>
              <a:off x="6126480" y="3648456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79" name="Text 53">
              <a:extLst>
                <a:ext uri="{FF2B5EF4-FFF2-40B4-BE49-F238E27FC236}">
                  <a16:creationId xmlns:a16="http://schemas.microsoft.com/office/drawing/2014/main" id="{2D68832D-5EC8-41B2-95CD-232E894E85A6}"/>
                </a:ext>
              </a:extLst>
            </p:cNvPr>
            <p:cNvSpPr/>
            <p:nvPr/>
          </p:nvSpPr>
          <p:spPr>
            <a:xfrm>
              <a:off x="6172200" y="3648456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97.13%</a:t>
              </a:r>
              <a:endParaRPr lang="en-US" sz="1050" dirty="0"/>
            </a:p>
          </p:txBody>
        </p:sp>
        <p:sp>
          <p:nvSpPr>
            <p:cNvPr id="80" name="Shape 54">
              <a:extLst>
                <a:ext uri="{FF2B5EF4-FFF2-40B4-BE49-F238E27FC236}">
                  <a16:creationId xmlns:a16="http://schemas.microsoft.com/office/drawing/2014/main" id="{05506642-EE5F-4F3C-A08D-9283492ED3FA}"/>
                </a:ext>
              </a:extLst>
            </p:cNvPr>
            <p:cNvSpPr/>
            <p:nvPr/>
          </p:nvSpPr>
          <p:spPr>
            <a:xfrm>
              <a:off x="9418320" y="3648456"/>
              <a:ext cx="22860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81" name="Text 55">
              <a:extLst>
                <a:ext uri="{FF2B5EF4-FFF2-40B4-BE49-F238E27FC236}">
                  <a16:creationId xmlns:a16="http://schemas.microsoft.com/office/drawing/2014/main" id="{2F6DA29F-9CD3-434A-9032-2655263349BE}"/>
                </a:ext>
              </a:extLst>
            </p:cNvPr>
            <p:cNvSpPr/>
            <p:nvPr/>
          </p:nvSpPr>
          <p:spPr>
            <a:xfrm>
              <a:off x="9464040" y="3648456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93.18%</a:t>
              </a:r>
              <a:endParaRPr lang="en-US" sz="1050" dirty="0"/>
            </a:p>
          </p:txBody>
        </p:sp>
        <p:sp>
          <p:nvSpPr>
            <p:cNvPr id="82" name="Text 56">
              <a:extLst>
                <a:ext uri="{FF2B5EF4-FFF2-40B4-BE49-F238E27FC236}">
                  <a16:creationId xmlns:a16="http://schemas.microsoft.com/office/drawing/2014/main" id="{D489FF41-A0B5-40AF-812F-3E3811EA84C4}"/>
                </a:ext>
              </a:extLst>
            </p:cNvPr>
            <p:cNvSpPr/>
            <p:nvPr/>
          </p:nvSpPr>
          <p:spPr>
            <a:xfrm>
              <a:off x="457200" y="4160520"/>
              <a:ext cx="11247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239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Table III — Robustness to channel distribution shift  (K=10)</a:t>
              </a:r>
              <a:endParaRPr lang="en-US" sz="1250" dirty="0"/>
            </a:p>
          </p:txBody>
        </p:sp>
        <p:sp>
          <p:nvSpPr>
            <p:cNvPr id="83" name="Shape 57">
              <a:extLst>
                <a:ext uri="{FF2B5EF4-FFF2-40B4-BE49-F238E27FC236}">
                  <a16:creationId xmlns:a16="http://schemas.microsoft.com/office/drawing/2014/main" id="{84830EA1-B0E5-4202-B667-C0AB01FC5F5D}"/>
                </a:ext>
              </a:extLst>
            </p:cNvPr>
            <p:cNvSpPr/>
            <p:nvPr/>
          </p:nvSpPr>
          <p:spPr>
            <a:xfrm>
              <a:off x="457200" y="4526280"/>
              <a:ext cx="329184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84" name="Text 58">
              <a:extLst>
                <a:ext uri="{FF2B5EF4-FFF2-40B4-BE49-F238E27FC236}">
                  <a16:creationId xmlns:a16="http://schemas.microsoft.com/office/drawing/2014/main" id="{F7CDA701-12FD-4B0E-B622-DF873D7FF86A}"/>
                </a:ext>
              </a:extLst>
            </p:cNvPr>
            <p:cNvSpPr/>
            <p:nvPr/>
          </p:nvSpPr>
          <p:spPr>
            <a:xfrm>
              <a:off x="502920" y="452628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</a:t>
              </a:r>
              <a:endParaRPr lang="en-US" sz="1050" dirty="0"/>
            </a:p>
          </p:txBody>
        </p:sp>
        <p:sp>
          <p:nvSpPr>
            <p:cNvPr id="85" name="Shape 59">
              <a:extLst>
                <a:ext uri="{FF2B5EF4-FFF2-40B4-BE49-F238E27FC236}">
                  <a16:creationId xmlns:a16="http://schemas.microsoft.com/office/drawing/2014/main" id="{9E66089A-01B8-4878-A53D-43DC2244012C}"/>
                </a:ext>
              </a:extLst>
            </p:cNvPr>
            <p:cNvSpPr/>
            <p:nvPr/>
          </p:nvSpPr>
          <p:spPr>
            <a:xfrm>
              <a:off x="3749040" y="4526280"/>
              <a:ext cx="237744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86" name="Text 60">
              <a:extLst>
                <a:ext uri="{FF2B5EF4-FFF2-40B4-BE49-F238E27FC236}">
                  <a16:creationId xmlns:a16="http://schemas.microsoft.com/office/drawing/2014/main" id="{369749FA-6101-4047-B7FC-96B8E3B105B5}"/>
                </a:ext>
              </a:extLst>
            </p:cNvPr>
            <p:cNvSpPr/>
            <p:nvPr/>
          </p:nvSpPr>
          <p:spPr>
            <a:xfrm>
              <a:off x="3794760" y="452628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PCGNN</a:t>
              </a:r>
              <a:endParaRPr lang="en-US" sz="1050" dirty="0"/>
            </a:p>
          </p:txBody>
        </p:sp>
        <p:sp>
          <p:nvSpPr>
            <p:cNvPr id="87" name="Shape 61">
              <a:extLst>
                <a:ext uri="{FF2B5EF4-FFF2-40B4-BE49-F238E27FC236}">
                  <a16:creationId xmlns:a16="http://schemas.microsoft.com/office/drawing/2014/main" id="{F59926BA-782B-4BF4-89FF-DF8DF20675AF}"/>
                </a:ext>
              </a:extLst>
            </p:cNvPr>
            <p:cNvSpPr/>
            <p:nvPr/>
          </p:nvSpPr>
          <p:spPr>
            <a:xfrm>
              <a:off x="6126480" y="4526280"/>
              <a:ext cx="329184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88" name="Text 62">
              <a:extLst>
                <a:ext uri="{FF2B5EF4-FFF2-40B4-BE49-F238E27FC236}">
                  <a16:creationId xmlns:a16="http://schemas.microsoft.com/office/drawing/2014/main" id="{3D1B4247-14DD-49EA-92F6-1D4CB49208EC}"/>
                </a:ext>
              </a:extLst>
            </p:cNvPr>
            <p:cNvSpPr/>
            <p:nvPr/>
          </p:nvSpPr>
          <p:spPr>
            <a:xfrm>
              <a:off x="6172200" y="452628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PCGNN (Full Training)</a:t>
              </a:r>
              <a:endParaRPr lang="en-US" sz="1050" dirty="0"/>
            </a:p>
          </p:txBody>
        </p:sp>
        <p:sp>
          <p:nvSpPr>
            <p:cNvPr id="89" name="Shape 63">
              <a:extLst>
                <a:ext uri="{FF2B5EF4-FFF2-40B4-BE49-F238E27FC236}">
                  <a16:creationId xmlns:a16="http://schemas.microsoft.com/office/drawing/2014/main" id="{7AA0C015-A8EB-4F73-B15F-2612987C8DE6}"/>
                </a:ext>
              </a:extLst>
            </p:cNvPr>
            <p:cNvSpPr/>
            <p:nvPr/>
          </p:nvSpPr>
          <p:spPr>
            <a:xfrm>
              <a:off x="9418320" y="4526280"/>
              <a:ext cx="2286000" cy="365760"/>
            </a:xfrm>
            <a:prstGeom prst="rect">
              <a:avLst/>
            </a:prstGeom>
            <a:solidFill>
              <a:srgbClr val="12395B"/>
            </a:solidFill>
            <a:ln/>
          </p:spPr>
        </p:sp>
        <p:sp>
          <p:nvSpPr>
            <p:cNvPr id="90" name="Text 64">
              <a:extLst>
                <a:ext uri="{FF2B5EF4-FFF2-40B4-BE49-F238E27FC236}">
                  <a16:creationId xmlns:a16="http://schemas.microsoft.com/office/drawing/2014/main" id="{D3878664-84D2-47EA-A25E-FDBD3E3D6F41}"/>
                </a:ext>
              </a:extLst>
            </p:cNvPr>
            <p:cNvSpPr/>
            <p:nvPr/>
          </p:nvSpPr>
          <p:spPr>
            <a:xfrm>
              <a:off x="9464040" y="45262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FPlinQ</a:t>
              </a:r>
              <a:endParaRPr lang="en-US" sz="1050" dirty="0"/>
            </a:p>
          </p:txBody>
        </p:sp>
        <p:sp>
          <p:nvSpPr>
            <p:cNvPr id="91" name="Shape 65">
              <a:extLst>
                <a:ext uri="{FF2B5EF4-FFF2-40B4-BE49-F238E27FC236}">
                  <a16:creationId xmlns:a16="http://schemas.microsoft.com/office/drawing/2014/main" id="{39067D73-A65C-4C77-AA97-47B8CADB2F28}"/>
                </a:ext>
              </a:extLst>
            </p:cNvPr>
            <p:cNvSpPr/>
            <p:nvPr/>
          </p:nvSpPr>
          <p:spPr>
            <a:xfrm>
              <a:off x="457200" y="4892040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92" name="Text 66">
              <a:extLst>
                <a:ext uri="{FF2B5EF4-FFF2-40B4-BE49-F238E27FC236}">
                  <a16:creationId xmlns:a16="http://schemas.microsoft.com/office/drawing/2014/main" id="{D0D06505-2C09-4E18-A2D9-DDEADF5F8E52}"/>
                </a:ext>
              </a:extLst>
            </p:cNvPr>
            <p:cNvSpPr/>
            <p:nvPr/>
          </p:nvSpPr>
          <p:spPr>
            <a:xfrm>
              <a:off x="502920" y="4892040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distribution shift</a:t>
              </a:r>
              <a:endParaRPr lang="en-US" sz="1050" dirty="0"/>
            </a:p>
          </p:txBody>
        </p:sp>
        <p:sp>
          <p:nvSpPr>
            <p:cNvPr id="93" name="Shape 67">
              <a:extLst>
                <a:ext uri="{FF2B5EF4-FFF2-40B4-BE49-F238E27FC236}">
                  <a16:creationId xmlns:a16="http://schemas.microsoft.com/office/drawing/2014/main" id="{FE246562-F946-49E2-B748-881E3182E6C2}"/>
                </a:ext>
              </a:extLst>
            </p:cNvPr>
            <p:cNvSpPr/>
            <p:nvPr/>
          </p:nvSpPr>
          <p:spPr>
            <a:xfrm>
              <a:off x="3749040" y="4892040"/>
              <a:ext cx="23774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94" name="Text 68">
              <a:extLst>
                <a:ext uri="{FF2B5EF4-FFF2-40B4-BE49-F238E27FC236}">
                  <a16:creationId xmlns:a16="http://schemas.microsoft.com/office/drawing/2014/main" id="{A59E6ACF-422F-437E-A6F4-4FB5EB00FD98}"/>
                </a:ext>
              </a:extLst>
            </p:cNvPr>
            <p:cNvSpPr/>
            <p:nvPr/>
          </p:nvSpPr>
          <p:spPr>
            <a:xfrm>
              <a:off x="3794760" y="4892040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97.62%</a:t>
              </a:r>
              <a:endParaRPr lang="en-US" sz="1050" dirty="0"/>
            </a:p>
          </p:txBody>
        </p:sp>
        <p:sp>
          <p:nvSpPr>
            <p:cNvPr id="95" name="Shape 69">
              <a:extLst>
                <a:ext uri="{FF2B5EF4-FFF2-40B4-BE49-F238E27FC236}">
                  <a16:creationId xmlns:a16="http://schemas.microsoft.com/office/drawing/2014/main" id="{244C866B-968B-4775-90D9-341CBC4392CA}"/>
                </a:ext>
              </a:extLst>
            </p:cNvPr>
            <p:cNvSpPr/>
            <p:nvPr/>
          </p:nvSpPr>
          <p:spPr>
            <a:xfrm>
              <a:off x="6126480" y="4892040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96" name="Text 70">
              <a:extLst>
                <a:ext uri="{FF2B5EF4-FFF2-40B4-BE49-F238E27FC236}">
                  <a16:creationId xmlns:a16="http://schemas.microsoft.com/office/drawing/2014/main" id="{8C8412DB-1CA4-4CE7-A849-74E2C42F5762}"/>
                </a:ext>
              </a:extLst>
            </p:cNvPr>
            <p:cNvSpPr/>
            <p:nvPr/>
          </p:nvSpPr>
          <p:spPr>
            <a:xfrm>
              <a:off x="6172200" y="4892040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97.78%</a:t>
              </a:r>
              <a:endParaRPr lang="en-US" sz="1050" dirty="0"/>
            </a:p>
          </p:txBody>
        </p:sp>
        <p:sp>
          <p:nvSpPr>
            <p:cNvPr id="97" name="Shape 71">
              <a:extLst>
                <a:ext uri="{FF2B5EF4-FFF2-40B4-BE49-F238E27FC236}">
                  <a16:creationId xmlns:a16="http://schemas.microsoft.com/office/drawing/2014/main" id="{D298C90A-51AD-4D63-821C-74514B19AAF0}"/>
                </a:ext>
              </a:extLst>
            </p:cNvPr>
            <p:cNvSpPr/>
            <p:nvPr/>
          </p:nvSpPr>
          <p:spPr>
            <a:xfrm>
              <a:off x="9418320" y="4892040"/>
              <a:ext cx="22860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98" name="Text 72">
              <a:extLst>
                <a:ext uri="{FF2B5EF4-FFF2-40B4-BE49-F238E27FC236}">
                  <a16:creationId xmlns:a16="http://schemas.microsoft.com/office/drawing/2014/main" id="{5E57A3CE-D97C-4C96-A20C-30104E14919B}"/>
                </a:ext>
              </a:extLst>
            </p:cNvPr>
            <p:cNvSpPr/>
            <p:nvPr/>
          </p:nvSpPr>
          <p:spPr>
            <a:xfrm>
              <a:off x="9464040" y="4892040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93.51%</a:t>
              </a:r>
              <a:endParaRPr lang="en-US" sz="1050" dirty="0"/>
            </a:p>
          </p:txBody>
        </p:sp>
        <p:sp>
          <p:nvSpPr>
            <p:cNvPr id="99" name="Shape 73">
              <a:extLst>
                <a:ext uri="{FF2B5EF4-FFF2-40B4-BE49-F238E27FC236}">
                  <a16:creationId xmlns:a16="http://schemas.microsoft.com/office/drawing/2014/main" id="{6DCECFAF-1492-416C-A78D-BE721F9710A0}"/>
                </a:ext>
              </a:extLst>
            </p:cNvPr>
            <p:cNvSpPr/>
            <p:nvPr/>
          </p:nvSpPr>
          <p:spPr>
            <a:xfrm>
              <a:off x="457200" y="5221224"/>
              <a:ext cx="329184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00" name="Text 74">
              <a:extLst>
                <a:ext uri="{FF2B5EF4-FFF2-40B4-BE49-F238E27FC236}">
                  <a16:creationId xmlns:a16="http://schemas.microsoft.com/office/drawing/2014/main" id="{E082FD25-939A-403F-B33A-E65480A2051B}"/>
                </a:ext>
              </a:extLst>
            </p:cNvPr>
            <p:cNvSpPr/>
            <p:nvPr/>
          </p:nvSpPr>
          <p:spPr>
            <a:xfrm>
              <a:off x="502920" y="5221224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Antenna height shift</a:t>
              </a:r>
              <a:endParaRPr lang="en-US" sz="1050" dirty="0"/>
            </a:p>
          </p:txBody>
        </p:sp>
        <p:sp>
          <p:nvSpPr>
            <p:cNvPr id="101" name="Shape 75">
              <a:extLst>
                <a:ext uri="{FF2B5EF4-FFF2-40B4-BE49-F238E27FC236}">
                  <a16:creationId xmlns:a16="http://schemas.microsoft.com/office/drawing/2014/main" id="{675AE8F7-0C8C-480D-A27C-6DBCB5279A3C}"/>
                </a:ext>
              </a:extLst>
            </p:cNvPr>
            <p:cNvSpPr/>
            <p:nvPr/>
          </p:nvSpPr>
          <p:spPr>
            <a:xfrm>
              <a:off x="3749040" y="5221224"/>
              <a:ext cx="237744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02" name="Text 76">
              <a:extLst>
                <a:ext uri="{FF2B5EF4-FFF2-40B4-BE49-F238E27FC236}">
                  <a16:creationId xmlns:a16="http://schemas.microsoft.com/office/drawing/2014/main" id="{54A22214-E373-4625-BC8A-FC0087E179A0}"/>
                </a:ext>
              </a:extLst>
            </p:cNvPr>
            <p:cNvSpPr/>
            <p:nvPr/>
          </p:nvSpPr>
          <p:spPr>
            <a:xfrm>
              <a:off x="3794760" y="5221224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97.63%</a:t>
              </a:r>
              <a:endParaRPr lang="en-US" sz="1050" dirty="0"/>
            </a:p>
          </p:txBody>
        </p:sp>
        <p:sp>
          <p:nvSpPr>
            <p:cNvPr id="103" name="Shape 77">
              <a:extLst>
                <a:ext uri="{FF2B5EF4-FFF2-40B4-BE49-F238E27FC236}">
                  <a16:creationId xmlns:a16="http://schemas.microsoft.com/office/drawing/2014/main" id="{DEFD2AA0-415B-48C5-A70C-253EE83060FC}"/>
                </a:ext>
              </a:extLst>
            </p:cNvPr>
            <p:cNvSpPr/>
            <p:nvPr/>
          </p:nvSpPr>
          <p:spPr>
            <a:xfrm>
              <a:off x="6126480" y="5221224"/>
              <a:ext cx="329184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04" name="Text 78">
              <a:extLst>
                <a:ext uri="{FF2B5EF4-FFF2-40B4-BE49-F238E27FC236}">
                  <a16:creationId xmlns:a16="http://schemas.microsoft.com/office/drawing/2014/main" id="{85AB80FC-93A8-4F2E-B6DE-63C74C2F320E}"/>
                </a:ext>
              </a:extLst>
            </p:cNvPr>
            <p:cNvSpPr/>
            <p:nvPr/>
          </p:nvSpPr>
          <p:spPr>
            <a:xfrm>
              <a:off x="6172200" y="5221224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97.63%</a:t>
              </a:r>
              <a:endParaRPr lang="en-US" sz="1050" dirty="0"/>
            </a:p>
          </p:txBody>
        </p:sp>
        <p:sp>
          <p:nvSpPr>
            <p:cNvPr id="105" name="Shape 79">
              <a:extLst>
                <a:ext uri="{FF2B5EF4-FFF2-40B4-BE49-F238E27FC236}">
                  <a16:creationId xmlns:a16="http://schemas.microsoft.com/office/drawing/2014/main" id="{682954CA-6FFC-4B1E-AFE8-1F683837CF0C}"/>
                </a:ext>
              </a:extLst>
            </p:cNvPr>
            <p:cNvSpPr/>
            <p:nvPr/>
          </p:nvSpPr>
          <p:spPr>
            <a:xfrm>
              <a:off x="9418320" y="5221224"/>
              <a:ext cx="2286000" cy="32918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07" name="Text 80">
              <a:extLst>
                <a:ext uri="{FF2B5EF4-FFF2-40B4-BE49-F238E27FC236}">
                  <a16:creationId xmlns:a16="http://schemas.microsoft.com/office/drawing/2014/main" id="{A827A01F-B089-4CFD-B9B0-3C0D4C5B313B}"/>
                </a:ext>
              </a:extLst>
            </p:cNvPr>
            <p:cNvSpPr/>
            <p:nvPr/>
          </p:nvSpPr>
          <p:spPr>
            <a:xfrm>
              <a:off x="9464040" y="5221224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93.66%</a:t>
              </a:r>
              <a:endParaRPr lang="en-US" sz="1050" dirty="0"/>
            </a:p>
          </p:txBody>
        </p:sp>
        <p:sp>
          <p:nvSpPr>
            <p:cNvPr id="108" name="Shape 81">
              <a:extLst>
                <a:ext uri="{FF2B5EF4-FFF2-40B4-BE49-F238E27FC236}">
                  <a16:creationId xmlns:a16="http://schemas.microsoft.com/office/drawing/2014/main" id="{7F59CD2D-CDCF-4704-B19F-89F82E34ED99}"/>
                </a:ext>
              </a:extLst>
            </p:cNvPr>
            <p:cNvSpPr/>
            <p:nvPr/>
          </p:nvSpPr>
          <p:spPr>
            <a:xfrm>
              <a:off x="457200" y="5550408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09" name="Text 82">
              <a:extLst>
                <a:ext uri="{FF2B5EF4-FFF2-40B4-BE49-F238E27FC236}">
                  <a16:creationId xmlns:a16="http://schemas.microsoft.com/office/drawing/2014/main" id="{B0A0BC00-AB1D-411A-9B2C-6EFF5DB83E69}"/>
                </a:ext>
              </a:extLst>
            </p:cNvPr>
            <p:cNvSpPr/>
            <p:nvPr/>
          </p:nvSpPr>
          <p:spPr>
            <a:xfrm>
              <a:off x="502920" y="5550408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→ NLoS</a:t>
              </a:r>
              <a:endParaRPr lang="en-US" sz="1050" dirty="0"/>
            </a:p>
          </p:txBody>
        </p:sp>
        <p:sp>
          <p:nvSpPr>
            <p:cNvPr id="110" name="Shape 83">
              <a:extLst>
                <a:ext uri="{FF2B5EF4-FFF2-40B4-BE49-F238E27FC236}">
                  <a16:creationId xmlns:a16="http://schemas.microsoft.com/office/drawing/2014/main" id="{EDDBE547-52EF-4890-B398-681C98D0D295}"/>
                </a:ext>
              </a:extLst>
            </p:cNvPr>
            <p:cNvSpPr/>
            <p:nvPr/>
          </p:nvSpPr>
          <p:spPr>
            <a:xfrm>
              <a:off x="3749040" y="5550408"/>
              <a:ext cx="23774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11" name="Text 84">
              <a:extLst>
                <a:ext uri="{FF2B5EF4-FFF2-40B4-BE49-F238E27FC236}">
                  <a16:creationId xmlns:a16="http://schemas.microsoft.com/office/drawing/2014/main" id="{22F2C368-6CDC-489F-A583-C4BFFAA54017}"/>
                </a:ext>
              </a:extLst>
            </p:cNvPr>
            <p:cNvSpPr/>
            <p:nvPr/>
          </p:nvSpPr>
          <p:spPr>
            <a:xfrm>
              <a:off x="3794760" y="5550408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94.43%</a:t>
              </a:r>
              <a:endParaRPr lang="en-US" sz="1050" dirty="0"/>
            </a:p>
          </p:txBody>
        </p:sp>
        <p:sp>
          <p:nvSpPr>
            <p:cNvPr id="112" name="Shape 85">
              <a:extLst>
                <a:ext uri="{FF2B5EF4-FFF2-40B4-BE49-F238E27FC236}">
                  <a16:creationId xmlns:a16="http://schemas.microsoft.com/office/drawing/2014/main" id="{12FB16BA-9992-493B-B1DA-33E127F38605}"/>
                </a:ext>
              </a:extLst>
            </p:cNvPr>
            <p:cNvSpPr/>
            <p:nvPr/>
          </p:nvSpPr>
          <p:spPr>
            <a:xfrm>
              <a:off x="6126480" y="5550408"/>
              <a:ext cx="329184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13" name="Text 86">
              <a:extLst>
                <a:ext uri="{FF2B5EF4-FFF2-40B4-BE49-F238E27FC236}">
                  <a16:creationId xmlns:a16="http://schemas.microsoft.com/office/drawing/2014/main" id="{69C07FB6-B731-40C7-8B2C-1879BD223232}"/>
                </a:ext>
              </a:extLst>
            </p:cNvPr>
            <p:cNvSpPr/>
            <p:nvPr/>
          </p:nvSpPr>
          <p:spPr>
            <a:xfrm>
              <a:off x="6172200" y="5550408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97.53%</a:t>
              </a:r>
              <a:endParaRPr lang="en-US" sz="1050" dirty="0"/>
            </a:p>
          </p:txBody>
        </p:sp>
        <p:sp>
          <p:nvSpPr>
            <p:cNvPr id="114" name="Shape 87">
              <a:extLst>
                <a:ext uri="{FF2B5EF4-FFF2-40B4-BE49-F238E27FC236}">
                  <a16:creationId xmlns:a16="http://schemas.microsoft.com/office/drawing/2014/main" id="{2FCE5C05-6312-4B48-929D-02F2B58B371B}"/>
                </a:ext>
              </a:extLst>
            </p:cNvPr>
            <p:cNvSpPr/>
            <p:nvPr/>
          </p:nvSpPr>
          <p:spPr>
            <a:xfrm>
              <a:off x="9418320" y="5550408"/>
              <a:ext cx="2286000" cy="329184"/>
            </a:xfrm>
            <a:prstGeom prst="rect">
              <a:avLst/>
            </a:prstGeom>
            <a:solidFill>
              <a:srgbClr val="F3F6FA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15" name="Text 88">
              <a:extLst>
                <a:ext uri="{FF2B5EF4-FFF2-40B4-BE49-F238E27FC236}">
                  <a16:creationId xmlns:a16="http://schemas.microsoft.com/office/drawing/2014/main" id="{FDF3C6C3-21C0-47E2-83FC-9B1AECF2DA42}"/>
                </a:ext>
              </a:extLst>
            </p:cNvPr>
            <p:cNvSpPr/>
            <p:nvPr/>
          </p:nvSpPr>
          <p:spPr>
            <a:xfrm>
              <a:off x="9464040" y="5550408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B1F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93.51%</a:t>
              </a:r>
              <a:endParaRPr lang="en-US" sz="1050" dirty="0"/>
            </a:p>
          </p:txBody>
        </p:sp>
        <p:sp>
          <p:nvSpPr>
            <p:cNvPr id="116" name="Shape 89">
              <a:extLst>
                <a:ext uri="{FF2B5EF4-FFF2-40B4-BE49-F238E27FC236}">
                  <a16:creationId xmlns:a16="http://schemas.microsoft.com/office/drawing/2014/main" id="{A93E896C-2168-49F7-96A4-8527EE398A43}"/>
                </a:ext>
              </a:extLst>
            </p:cNvPr>
            <p:cNvSpPr/>
            <p:nvPr/>
          </p:nvSpPr>
          <p:spPr>
            <a:xfrm>
              <a:off x="457200" y="5879592"/>
              <a:ext cx="3291840" cy="329184"/>
            </a:xfrm>
            <a:prstGeom prst="rect">
              <a:avLst/>
            </a:prstGeom>
            <a:solidFill>
              <a:srgbClr val="FDEDE6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17" name="Text 90">
              <a:extLst>
                <a:ext uri="{FF2B5EF4-FFF2-40B4-BE49-F238E27FC236}">
                  <a16:creationId xmlns:a16="http://schemas.microsoft.com/office/drawing/2014/main" id="{3E5F0CF3-F4B2-4C45-A2F5-4ED04216477D}"/>
                </a:ext>
              </a:extLst>
            </p:cNvPr>
            <p:cNvSpPr/>
            <p:nvPr/>
          </p:nvSpPr>
          <p:spPr>
            <a:xfrm>
              <a:off x="502920" y="5879592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6B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ITU → LTE</a:t>
              </a:r>
              <a:endParaRPr lang="en-US" sz="1050" dirty="0"/>
            </a:p>
          </p:txBody>
        </p:sp>
        <p:sp>
          <p:nvSpPr>
            <p:cNvPr id="118" name="Shape 91">
              <a:extLst>
                <a:ext uri="{FF2B5EF4-FFF2-40B4-BE49-F238E27FC236}">
                  <a16:creationId xmlns:a16="http://schemas.microsoft.com/office/drawing/2014/main" id="{E6C136EA-C346-454A-AEFF-FDB588E6E1E1}"/>
                </a:ext>
              </a:extLst>
            </p:cNvPr>
            <p:cNvSpPr/>
            <p:nvPr/>
          </p:nvSpPr>
          <p:spPr>
            <a:xfrm>
              <a:off x="3749040" y="5879592"/>
              <a:ext cx="2377440" cy="329184"/>
            </a:xfrm>
            <a:prstGeom prst="rect">
              <a:avLst/>
            </a:prstGeom>
            <a:solidFill>
              <a:srgbClr val="FDEDE6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19" name="Text 92">
              <a:extLst>
                <a:ext uri="{FF2B5EF4-FFF2-40B4-BE49-F238E27FC236}">
                  <a16:creationId xmlns:a16="http://schemas.microsoft.com/office/drawing/2014/main" id="{1CC23082-10BD-4992-BF86-A94EE2E3E0EC}"/>
                </a:ext>
              </a:extLst>
            </p:cNvPr>
            <p:cNvSpPr/>
            <p:nvPr/>
          </p:nvSpPr>
          <p:spPr>
            <a:xfrm>
              <a:off x="3794760" y="5879592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6B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88.71%</a:t>
              </a:r>
              <a:endParaRPr lang="en-US" sz="1050" dirty="0"/>
            </a:p>
          </p:txBody>
        </p:sp>
        <p:sp>
          <p:nvSpPr>
            <p:cNvPr id="120" name="Shape 93">
              <a:extLst>
                <a:ext uri="{FF2B5EF4-FFF2-40B4-BE49-F238E27FC236}">
                  <a16:creationId xmlns:a16="http://schemas.microsoft.com/office/drawing/2014/main" id="{05BB87A8-AE59-4F0A-B8A5-BD6023EE0D0B}"/>
                </a:ext>
              </a:extLst>
            </p:cNvPr>
            <p:cNvSpPr/>
            <p:nvPr/>
          </p:nvSpPr>
          <p:spPr>
            <a:xfrm>
              <a:off x="6126480" y="5879592"/>
              <a:ext cx="3291840" cy="329184"/>
            </a:xfrm>
            <a:prstGeom prst="rect">
              <a:avLst/>
            </a:prstGeom>
            <a:solidFill>
              <a:srgbClr val="FDEDE6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21" name="Text 94">
              <a:extLst>
                <a:ext uri="{FF2B5EF4-FFF2-40B4-BE49-F238E27FC236}">
                  <a16:creationId xmlns:a16="http://schemas.microsoft.com/office/drawing/2014/main" id="{600EB7C6-875E-420B-8C30-1A04B39BACBB}"/>
                </a:ext>
              </a:extLst>
            </p:cNvPr>
            <p:cNvSpPr/>
            <p:nvPr/>
          </p:nvSpPr>
          <p:spPr>
            <a:xfrm>
              <a:off x="6172200" y="5879592"/>
              <a:ext cx="3200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6B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96.57%</a:t>
              </a:r>
              <a:endParaRPr lang="en-US" sz="1050" dirty="0"/>
            </a:p>
          </p:txBody>
        </p:sp>
        <p:sp>
          <p:nvSpPr>
            <p:cNvPr id="122" name="Shape 95">
              <a:extLst>
                <a:ext uri="{FF2B5EF4-FFF2-40B4-BE49-F238E27FC236}">
                  <a16:creationId xmlns:a16="http://schemas.microsoft.com/office/drawing/2014/main" id="{7E91A6FA-121A-448F-9907-D8BB398DAE3F}"/>
                </a:ext>
              </a:extLst>
            </p:cNvPr>
            <p:cNvSpPr/>
            <p:nvPr/>
          </p:nvSpPr>
          <p:spPr>
            <a:xfrm>
              <a:off x="9418320" y="5879592"/>
              <a:ext cx="2286000" cy="329184"/>
            </a:xfrm>
            <a:prstGeom prst="rect">
              <a:avLst/>
            </a:prstGeom>
            <a:solidFill>
              <a:srgbClr val="FDEDE6"/>
            </a:solidFill>
            <a:ln w="6350">
              <a:solidFill>
                <a:srgbClr val="E3E9F0"/>
              </a:solidFill>
              <a:prstDash val="solid"/>
            </a:ln>
          </p:spPr>
        </p:sp>
        <p:sp>
          <p:nvSpPr>
            <p:cNvPr id="123" name="Text 96">
              <a:extLst>
                <a:ext uri="{FF2B5EF4-FFF2-40B4-BE49-F238E27FC236}">
                  <a16:creationId xmlns:a16="http://schemas.microsoft.com/office/drawing/2014/main" id="{37E04F31-5A0C-46F0-9587-EF8F787B1E08}"/>
                </a:ext>
              </a:extLst>
            </p:cNvPr>
            <p:cNvSpPr/>
            <p:nvPr/>
          </p:nvSpPr>
          <p:spPr>
            <a:xfrm>
              <a:off x="9464040" y="5879592"/>
              <a:ext cx="21945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6B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94.32%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0905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34/40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13D2086-9272-5F7B-A720-E83BEBCF7368}"/>
              </a:ext>
            </a:extLst>
          </p:cNvPr>
          <p:cNvSpPr txBox="1"/>
          <p:nvPr/>
        </p:nvSpPr>
        <p:spPr>
          <a:xfrm>
            <a:off x="811314" y="6115584"/>
            <a:ext cx="105693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i="0" dirty="0" err="1">
                <a:effectLst/>
              </a:rPr>
              <a:t>Yifei</a:t>
            </a:r>
            <a:r>
              <a:rPr lang="en-US" sz="1200" i="0" dirty="0">
                <a:effectLst/>
              </a:rPr>
              <a:t> Shen</a:t>
            </a:r>
            <a:r>
              <a:rPr lang="en-US" sz="1200" dirty="0"/>
              <a:t>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et al.</a:t>
            </a:r>
            <a:r>
              <a:rPr lang="en-US" sz="1200" dirty="0">
                <a:effectLst/>
                <a:ea typeface="Calibri" panose="020F0502020204030204" pitchFamily="34" charset="0"/>
              </a:rPr>
              <a:t>, </a:t>
            </a:r>
            <a:r>
              <a:rPr lang="en-US" sz="1200" i="0" dirty="0">
                <a:effectLst/>
              </a:rPr>
              <a:t>"Graph Neural Networks for Wireless Communications: From Theory to Practice," in </a:t>
            </a:r>
            <a:r>
              <a:rPr lang="en-US" sz="1200" i="1" dirty="0">
                <a:effectLst/>
              </a:rPr>
              <a:t>IEEE Transactions on Wireless Communications</a:t>
            </a:r>
            <a:r>
              <a:rPr lang="en-US" sz="1200" i="0" dirty="0">
                <a:effectLst/>
              </a:rPr>
              <a:t>, May 2023.</a:t>
            </a:r>
            <a:endParaRPr lang="fa-IR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4A1F5D2-3BBD-4A20-A6FA-881DA7608155}"/>
              </a:ext>
            </a:extLst>
          </p:cNvPr>
          <p:cNvSpPr/>
          <p:nvPr/>
        </p:nvSpPr>
        <p:spPr>
          <a:xfrm>
            <a:off x="457200" y="56692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Cell-Free Massive MIMO Power Control</a:t>
            </a:r>
            <a:endParaRPr lang="en-US" sz="3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FBCCB9F-D256-4565-8469-8C51F8ECFC3A}"/>
              </a:ext>
            </a:extLst>
          </p:cNvPr>
          <p:cNvSpPr/>
          <p:nvPr/>
        </p:nvSpPr>
        <p:spPr>
          <a:xfrm>
            <a:off x="457200" y="1209675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IV — Average minimum rate, normalized by the optimal algorithm  (M = 30 APs)</a:t>
            </a:r>
            <a:endParaRPr lang="en-US" sz="12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50B7FAFE-2183-4D1C-8BB9-32CC841FCEDD}"/>
              </a:ext>
            </a:extLst>
          </p:cNvPr>
          <p:cNvSpPr/>
          <p:nvPr/>
        </p:nvSpPr>
        <p:spPr>
          <a:xfrm>
            <a:off x="457200" y="1575435"/>
            <a:ext cx="1463040" cy="365760"/>
          </a:xfrm>
          <a:prstGeom prst="rect">
            <a:avLst/>
          </a:prstGeom>
          <a:solidFill>
            <a:srgbClr val="12395B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3090DD7-9D67-4A82-95F5-79D95AE22F87}"/>
              </a:ext>
            </a:extLst>
          </p:cNvPr>
          <p:cNvSpPr/>
          <p:nvPr/>
        </p:nvSpPr>
        <p:spPr>
          <a:xfrm>
            <a:off x="502920" y="1575435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05E847B-DDD0-4D06-8981-6D3F4C9FCC3D}"/>
              </a:ext>
            </a:extLst>
          </p:cNvPr>
          <p:cNvSpPr/>
          <p:nvPr/>
        </p:nvSpPr>
        <p:spPr>
          <a:xfrm>
            <a:off x="1920240" y="1575435"/>
            <a:ext cx="2377440" cy="365760"/>
          </a:xfrm>
          <a:prstGeom prst="rect">
            <a:avLst/>
          </a:prstGeom>
          <a:solidFill>
            <a:srgbClr val="12395B"/>
          </a:solidFill>
          <a:ln/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2E6D581-F8A4-40FA-B9BF-8416F879C2F9}"/>
              </a:ext>
            </a:extLst>
          </p:cNvPr>
          <p:cNvSpPr/>
          <p:nvPr/>
        </p:nvSpPr>
        <p:spPr>
          <a:xfrm>
            <a:off x="1965960" y="1575435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11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11F4A81-77AA-4E48-94B7-EE11E435A0DF}"/>
              </a:ext>
            </a:extLst>
          </p:cNvPr>
          <p:cNvSpPr/>
          <p:nvPr/>
        </p:nvSpPr>
        <p:spPr>
          <a:xfrm>
            <a:off x="4297680" y="1575435"/>
            <a:ext cx="2194560" cy="365760"/>
          </a:xfrm>
          <a:prstGeom prst="rect">
            <a:avLst/>
          </a:prstGeom>
          <a:solidFill>
            <a:srgbClr val="12395B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C04F48D9-0504-47AE-B88B-B07A0DA595B7}"/>
              </a:ext>
            </a:extLst>
          </p:cNvPr>
          <p:cNvSpPr/>
          <p:nvPr/>
        </p:nvSpPr>
        <p:spPr>
          <a:xfrm>
            <a:off x="4343400" y="1575435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94C0DE0B-36EE-4D9A-BE0E-7AF029793056}"/>
              </a:ext>
            </a:extLst>
          </p:cNvPr>
          <p:cNvSpPr/>
          <p:nvPr/>
        </p:nvSpPr>
        <p:spPr>
          <a:xfrm>
            <a:off x="6492240" y="1575435"/>
            <a:ext cx="2377440" cy="365760"/>
          </a:xfrm>
          <a:prstGeom prst="rect">
            <a:avLst/>
          </a:prstGeom>
          <a:solidFill>
            <a:srgbClr val="12395B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E729F9C4-81D7-477D-901F-93832D83F013}"/>
              </a:ext>
            </a:extLst>
          </p:cNvPr>
          <p:cNvSpPr/>
          <p:nvPr/>
        </p:nvSpPr>
        <p:spPr>
          <a:xfrm>
            <a:off x="6537960" y="1575435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HetGNN</a:t>
            </a:r>
            <a:endParaRPr lang="en-US" sz="11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B98D888D-C0BB-4984-9026-A5716BB7995D}"/>
              </a:ext>
            </a:extLst>
          </p:cNvPr>
          <p:cNvSpPr/>
          <p:nvPr/>
        </p:nvSpPr>
        <p:spPr>
          <a:xfrm>
            <a:off x="8869680" y="1575435"/>
            <a:ext cx="2468880" cy="365760"/>
          </a:xfrm>
          <a:prstGeom prst="rect">
            <a:avLst/>
          </a:prstGeom>
          <a:solidFill>
            <a:srgbClr val="12395B"/>
          </a:solidFill>
          <a:ln/>
        </p:spPr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331AA22-C0B4-4814-8809-7CFADC1ABCE2}"/>
              </a:ext>
            </a:extLst>
          </p:cNvPr>
          <p:cNvSpPr/>
          <p:nvPr/>
        </p:nvSpPr>
        <p:spPr>
          <a:xfrm>
            <a:off x="8915400" y="1575435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CF-PCGNN</a:t>
            </a:r>
            <a:endParaRPr lang="en-US" sz="11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94DB9512-ECDA-4565-8BC8-7015814D22DD}"/>
              </a:ext>
            </a:extLst>
          </p:cNvPr>
          <p:cNvSpPr/>
          <p:nvPr/>
        </p:nvSpPr>
        <p:spPr>
          <a:xfrm>
            <a:off x="457200" y="1941195"/>
            <a:ext cx="14630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0952C8F1-C39A-4FCE-B31C-8CCEE1B89E2E}"/>
              </a:ext>
            </a:extLst>
          </p:cNvPr>
          <p:cNvSpPr/>
          <p:nvPr/>
        </p:nvSpPr>
        <p:spPr>
          <a:xfrm>
            <a:off x="502920" y="1941195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BFE3395-ABD2-458F-B638-01562094464E}"/>
              </a:ext>
            </a:extLst>
          </p:cNvPr>
          <p:cNvSpPr/>
          <p:nvPr/>
        </p:nvSpPr>
        <p:spPr>
          <a:xfrm>
            <a:off x="1920240" y="1941195"/>
            <a:ext cx="23774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7347DD37-05DB-4900-AA2A-C8528C46657B}"/>
              </a:ext>
            </a:extLst>
          </p:cNvPr>
          <p:cNvSpPr/>
          <p:nvPr/>
        </p:nvSpPr>
        <p:spPr>
          <a:xfrm>
            <a:off x="1965960" y="1941195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110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5306EFC0-FE87-4E2A-B176-BC3D697E60E3}"/>
              </a:ext>
            </a:extLst>
          </p:cNvPr>
          <p:cNvSpPr/>
          <p:nvPr/>
        </p:nvSpPr>
        <p:spPr>
          <a:xfrm>
            <a:off x="4297680" y="1941195"/>
            <a:ext cx="219456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536FDDC8-2325-4B28-A912-D408C09FA523}"/>
              </a:ext>
            </a:extLst>
          </p:cNvPr>
          <p:cNvSpPr/>
          <p:nvPr/>
        </p:nvSpPr>
        <p:spPr>
          <a:xfrm>
            <a:off x="4343400" y="1941195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1100" dirty="0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216FDB10-F284-4613-9A7C-302D5C65C3F4}"/>
              </a:ext>
            </a:extLst>
          </p:cNvPr>
          <p:cNvSpPr/>
          <p:nvPr/>
        </p:nvSpPr>
        <p:spPr>
          <a:xfrm>
            <a:off x="6492240" y="1941195"/>
            <a:ext cx="23774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4676A70A-2DE5-4721-BF8C-B30FE344C67F}"/>
              </a:ext>
            </a:extLst>
          </p:cNvPr>
          <p:cNvSpPr/>
          <p:nvPr/>
        </p:nvSpPr>
        <p:spPr>
          <a:xfrm>
            <a:off x="6537960" y="1941195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110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B78A2022-9CA4-40E5-AC6C-A43477D8845C}"/>
              </a:ext>
            </a:extLst>
          </p:cNvPr>
          <p:cNvSpPr/>
          <p:nvPr/>
        </p:nvSpPr>
        <p:spPr>
          <a:xfrm>
            <a:off x="8869680" y="1941195"/>
            <a:ext cx="246888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086EAF71-1518-4294-9378-4F5DD447C92A}"/>
              </a:ext>
            </a:extLst>
          </p:cNvPr>
          <p:cNvSpPr/>
          <p:nvPr/>
        </p:nvSpPr>
        <p:spPr>
          <a:xfrm>
            <a:off x="8915400" y="1941195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1100" dirty="0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D67662EE-18A0-46A2-8DF8-CED1C46B2192}"/>
              </a:ext>
            </a:extLst>
          </p:cNvPr>
          <p:cNvSpPr/>
          <p:nvPr/>
        </p:nvSpPr>
        <p:spPr>
          <a:xfrm>
            <a:off x="457200" y="2325243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E4AC9B4B-580D-473C-8807-478DAAB9D71E}"/>
              </a:ext>
            </a:extLst>
          </p:cNvPr>
          <p:cNvSpPr/>
          <p:nvPr/>
        </p:nvSpPr>
        <p:spPr>
          <a:xfrm>
            <a:off x="502920" y="2325243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EABC10A3-EC68-499E-BEF2-EB0F9677BCDE}"/>
              </a:ext>
            </a:extLst>
          </p:cNvPr>
          <p:cNvSpPr/>
          <p:nvPr/>
        </p:nvSpPr>
        <p:spPr>
          <a:xfrm>
            <a:off x="1920240" y="2325243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B2A9C197-AA31-4EE4-88A5-695B57DB8DCF}"/>
              </a:ext>
            </a:extLst>
          </p:cNvPr>
          <p:cNvSpPr/>
          <p:nvPr/>
        </p:nvSpPr>
        <p:spPr>
          <a:xfrm>
            <a:off x="1965960" y="2325243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1100" dirty="0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B90349C1-1069-43D6-B0D2-912B79737EEA}"/>
              </a:ext>
            </a:extLst>
          </p:cNvPr>
          <p:cNvSpPr/>
          <p:nvPr/>
        </p:nvSpPr>
        <p:spPr>
          <a:xfrm>
            <a:off x="4297680" y="2325243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A333FF78-B939-4B98-99B3-E5603CB588DC}"/>
              </a:ext>
            </a:extLst>
          </p:cNvPr>
          <p:cNvSpPr/>
          <p:nvPr/>
        </p:nvSpPr>
        <p:spPr>
          <a:xfrm>
            <a:off x="4343400" y="2325243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1100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15303674-0E17-4669-B8E4-2414C1788F19}"/>
              </a:ext>
            </a:extLst>
          </p:cNvPr>
          <p:cNvSpPr/>
          <p:nvPr/>
        </p:nvSpPr>
        <p:spPr>
          <a:xfrm>
            <a:off x="6492240" y="2325243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661AE2DE-1839-4F08-B9DC-2033E5A59A2A}"/>
              </a:ext>
            </a:extLst>
          </p:cNvPr>
          <p:cNvSpPr/>
          <p:nvPr/>
        </p:nvSpPr>
        <p:spPr>
          <a:xfrm>
            <a:off x="6537960" y="2325243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100" dirty="0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7D471F9F-58C4-429E-95CD-511B59AED410}"/>
              </a:ext>
            </a:extLst>
          </p:cNvPr>
          <p:cNvSpPr/>
          <p:nvPr/>
        </p:nvSpPr>
        <p:spPr>
          <a:xfrm>
            <a:off x="8869680" y="2325243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5443C5A2-7F2D-4263-AB5C-D5DD0AEE1670}"/>
              </a:ext>
            </a:extLst>
          </p:cNvPr>
          <p:cNvSpPr/>
          <p:nvPr/>
        </p:nvSpPr>
        <p:spPr>
          <a:xfrm>
            <a:off x="8915400" y="2325243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100" dirty="0"/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BABDA04A-E22E-4604-B6FE-E658AE99BC56}"/>
              </a:ext>
            </a:extLst>
          </p:cNvPr>
          <p:cNvSpPr/>
          <p:nvPr/>
        </p:nvSpPr>
        <p:spPr>
          <a:xfrm>
            <a:off x="457200" y="2709291"/>
            <a:ext cx="14630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4E810D84-E38F-45B2-B4A5-D746E14BA9FA}"/>
              </a:ext>
            </a:extLst>
          </p:cNvPr>
          <p:cNvSpPr/>
          <p:nvPr/>
        </p:nvSpPr>
        <p:spPr>
          <a:xfrm>
            <a:off x="502920" y="2709291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6" name="Shape 40">
            <a:extLst>
              <a:ext uri="{FF2B5EF4-FFF2-40B4-BE49-F238E27FC236}">
                <a16:creationId xmlns:a16="http://schemas.microsoft.com/office/drawing/2014/main" id="{36A2DA27-376F-4640-AEA7-B9AEC77AE078}"/>
              </a:ext>
            </a:extLst>
          </p:cNvPr>
          <p:cNvSpPr/>
          <p:nvPr/>
        </p:nvSpPr>
        <p:spPr>
          <a:xfrm>
            <a:off x="1920240" y="2709291"/>
            <a:ext cx="23774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ABB44B36-C4E7-4A33-8301-B9359A706039}"/>
              </a:ext>
            </a:extLst>
          </p:cNvPr>
          <p:cNvSpPr/>
          <p:nvPr/>
        </p:nvSpPr>
        <p:spPr>
          <a:xfrm>
            <a:off x="1965960" y="2709291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</a:t>
            </a:r>
            <a:endParaRPr lang="en-US" sz="1100" dirty="0"/>
          </a:p>
        </p:txBody>
      </p:sp>
      <p:sp>
        <p:nvSpPr>
          <p:cNvPr id="68" name="Shape 42">
            <a:extLst>
              <a:ext uri="{FF2B5EF4-FFF2-40B4-BE49-F238E27FC236}">
                <a16:creationId xmlns:a16="http://schemas.microsoft.com/office/drawing/2014/main" id="{BBB3BE4A-EA54-455F-B040-1BFD2F49C3A2}"/>
              </a:ext>
            </a:extLst>
          </p:cNvPr>
          <p:cNvSpPr/>
          <p:nvPr/>
        </p:nvSpPr>
        <p:spPr>
          <a:xfrm>
            <a:off x="4297680" y="2709291"/>
            <a:ext cx="219456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48BAF050-D198-4B42-A021-3CD21E4153F6}"/>
              </a:ext>
            </a:extLst>
          </p:cNvPr>
          <p:cNvSpPr/>
          <p:nvPr/>
        </p:nvSpPr>
        <p:spPr>
          <a:xfrm>
            <a:off x="4343400" y="2709291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1100" dirty="0"/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4994B9CE-D453-46AC-BF4B-9FF7448851D7}"/>
              </a:ext>
            </a:extLst>
          </p:cNvPr>
          <p:cNvSpPr/>
          <p:nvPr/>
        </p:nvSpPr>
        <p:spPr>
          <a:xfrm>
            <a:off x="6492240" y="2709291"/>
            <a:ext cx="237744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F892A4BB-D263-4C91-843A-75AEF95BBBBB}"/>
              </a:ext>
            </a:extLst>
          </p:cNvPr>
          <p:cNvSpPr/>
          <p:nvPr/>
        </p:nvSpPr>
        <p:spPr>
          <a:xfrm>
            <a:off x="6537960" y="2709291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100" dirty="0"/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D41E9CFB-0D33-4D4E-87E3-3A5F945042A4}"/>
              </a:ext>
            </a:extLst>
          </p:cNvPr>
          <p:cNvSpPr/>
          <p:nvPr/>
        </p:nvSpPr>
        <p:spPr>
          <a:xfrm>
            <a:off x="8869680" y="2709291"/>
            <a:ext cx="2468880" cy="384048"/>
          </a:xfrm>
          <a:prstGeom prst="rect">
            <a:avLst/>
          </a:prstGeom>
          <a:solidFill>
            <a:srgbClr val="F3F6FA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73" name="Text 47">
            <a:extLst>
              <a:ext uri="{FF2B5EF4-FFF2-40B4-BE49-F238E27FC236}">
                <a16:creationId xmlns:a16="http://schemas.microsoft.com/office/drawing/2014/main" id="{56C38600-6197-4FBB-8391-C668D26D9F58}"/>
              </a:ext>
            </a:extLst>
          </p:cNvPr>
          <p:cNvSpPr/>
          <p:nvPr/>
        </p:nvSpPr>
        <p:spPr>
          <a:xfrm>
            <a:off x="8915400" y="270929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1100" dirty="0"/>
          </a:p>
        </p:txBody>
      </p:sp>
      <p:graphicFrame>
        <p:nvGraphicFramePr>
          <p:cNvPr id="74" name="Chart 0">
            <a:extLst>
              <a:ext uri="{FF2B5EF4-FFF2-40B4-BE49-F238E27FC236}">
                <a16:creationId xmlns:a16="http://schemas.microsoft.com/office/drawing/2014/main" id="{89CDB50F-89F9-4DDA-8588-821C99E2F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178208"/>
              </p:ext>
            </p:extLst>
          </p:nvPr>
        </p:nvGraphicFramePr>
        <p:xfrm>
          <a:off x="457200" y="3495675"/>
          <a:ext cx="6492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5" name="Shape 48">
            <a:extLst>
              <a:ext uri="{FF2B5EF4-FFF2-40B4-BE49-F238E27FC236}">
                <a16:creationId xmlns:a16="http://schemas.microsoft.com/office/drawing/2014/main" id="{A564BE76-77EF-4D0A-802C-02599C598A4C}"/>
              </a:ext>
            </a:extLst>
          </p:cNvPr>
          <p:cNvSpPr/>
          <p:nvPr/>
        </p:nvSpPr>
        <p:spPr>
          <a:xfrm>
            <a:off x="7223760" y="3495675"/>
            <a:ext cx="4114800" cy="2377440"/>
          </a:xfrm>
          <a:prstGeom prst="roundRect">
            <a:avLst>
              <a:gd name="adj" fmla="val 3462"/>
            </a:avLst>
          </a:prstGeom>
          <a:solidFill>
            <a:srgbClr val="0B1F3A"/>
          </a:solidFill>
          <a:ln/>
        </p:spPr>
      </p:sp>
      <p:sp>
        <p:nvSpPr>
          <p:cNvPr id="76" name="Text 49">
            <a:extLst>
              <a:ext uri="{FF2B5EF4-FFF2-40B4-BE49-F238E27FC236}">
                <a16:creationId xmlns:a16="http://schemas.microsoft.com/office/drawing/2014/main" id="{FB4183FA-C50B-4AF1-8EE0-7CEBAB733E98}"/>
              </a:ext>
            </a:extLst>
          </p:cNvPr>
          <p:cNvSpPr/>
          <p:nvPr/>
        </p:nvSpPr>
        <p:spPr>
          <a:xfrm>
            <a:off x="7452360" y="3724275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CF-PCGNN also generalizes: trained on K=6 users, it keeps 90% + performance when tested on K=6–10 — and gains over MLP grow with 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61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35/40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090116" y="108279"/>
            <a:ext cx="205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Article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90CE8-0042-4357-8BCA-1292C67C274C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FAF2C13-D459-4884-9C9A-2FA4BCF9D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892" y="1198586"/>
            <a:ext cx="6882216" cy="444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40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98032-A849-D34E-F86B-F0D3279787F7}"/>
              </a:ext>
            </a:extLst>
          </p:cNvPr>
          <p:cNvSpPr txBox="1"/>
          <p:nvPr/>
        </p:nvSpPr>
        <p:spPr>
          <a:xfrm>
            <a:off x="2823133" y="2367171"/>
            <a:ext cx="65457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/>
                </a:solidFill>
                <a:cs typeface="B Nazanin" panose="00000400000000000000" pitchFamily="2" charset="-78"/>
              </a:rPr>
              <a:t>Future work and Conclusion</a:t>
            </a:r>
            <a:endParaRPr lang="fa-IR" sz="6600" b="1" dirty="0">
              <a:solidFill>
                <a:schemeClr val="accent6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7916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37/40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4430066" y="124987"/>
            <a:ext cx="333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Future work and Conclusion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2F752-8BE5-43EB-B78A-D1DE49961F68}"/>
              </a:ext>
            </a:extLst>
          </p:cNvPr>
          <p:cNvGrpSpPr/>
          <p:nvPr/>
        </p:nvGrpSpPr>
        <p:grpSpPr>
          <a:xfrm>
            <a:off x="6275070" y="1325880"/>
            <a:ext cx="5486400" cy="4206240"/>
            <a:chOff x="502920" y="1485900"/>
            <a:chExt cx="5486400" cy="4206240"/>
          </a:xfrm>
        </p:grpSpPr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7E6DF45E-0966-4A68-BF71-52C0EAA92EB2}"/>
                </a:ext>
              </a:extLst>
            </p:cNvPr>
            <p:cNvSpPr/>
            <p:nvPr/>
          </p:nvSpPr>
          <p:spPr>
            <a:xfrm>
              <a:off x="502920" y="1485900"/>
              <a:ext cx="5486400" cy="4206240"/>
            </a:xfrm>
            <a:prstGeom prst="roundRect">
              <a:avLst>
                <a:gd name="adj" fmla="val 1957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fa-IR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C5B1D1D-2A70-42E1-93CF-ABF10E6C0C7C}"/>
                </a:ext>
              </a:extLst>
            </p:cNvPr>
            <p:cNvSpPr/>
            <p:nvPr/>
          </p:nvSpPr>
          <p:spPr>
            <a:xfrm>
              <a:off x="777240" y="1668780"/>
              <a:ext cx="4937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Future Directions</a:t>
              </a:r>
              <a:endParaRPr lang="en-US" sz="24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23696105-5372-4753-AD25-1AAEABBF4C15}"/>
                </a:ext>
              </a:extLst>
            </p:cNvPr>
            <p:cNvSpPr/>
            <p:nvPr/>
          </p:nvSpPr>
          <p:spPr>
            <a:xfrm>
              <a:off x="1051560" y="2144268"/>
              <a:ext cx="47548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Extend the graph-modeling &amp; design framework to more wireless problems beyond D2D, cell-free, and hybrid precoding</a:t>
              </a:r>
              <a:endParaRPr lang="en-US" sz="16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1632E63-5597-488F-8248-44AFC5AA00E2}"/>
                </a:ext>
              </a:extLst>
            </p:cNvPr>
            <p:cNvGrpSpPr/>
            <p:nvPr/>
          </p:nvGrpSpPr>
          <p:grpSpPr>
            <a:xfrm>
              <a:off x="822960" y="2290572"/>
              <a:ext cx="4983480" cy="3008376"/>
              <a:chOff x="822960" y="2290572"/>
              <a:chExt cx="4983480" cy="3008376"/>
            </a:xfrm>
          </p:grpSpPr>
          <p:sp>
            <p:nvSpPr>
              <p:cNvPr id="16" name="Shape 9">
                <a:extLst>
                  <a:ext uri="{FF2B5EF4-FFF2-40B4-BE49-F238E27FC236}">
                    <a16:creationId xmlns:a16="http://schemas.microsoft.com/office/drawing/2014/main" id="{812B7B48-4EB8-4603-8529-A3EB4BB9C076}"/>
                  </a:ext>
                </a:extLst>
              </p:cNvPr>
              <p:cNvSpPr/>
              <p:nvPr/>
            </p:nvSpPr>
            <p:spPr>
              <a:xfrm>
                <a:off x="822960" y="2290572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18" name="Shape 11">
                <a:extLst>
                  <a:ext uri="{FF2B5EF4-FFF2-40B4-BE49-F238E27FC236}">
                    <a16:creationId xmlns:a16="http://schemas.microsoft.com/office/drawing/2014/main" id="{FC100060-AD63-470B-B1F9-9AE99A1FD39F}"/>
                  </a:ext>
                </a:extLst>
              </p:cNvPr>
              <p:cNvSpPr/>
              <p:nvPr/>
            </p:nvSpPr>
            <p:spPr>
              <a:xfrm>
                <a:off x="822960" y="3387852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F74FD264-3AF3-4AC3-8FEC-0BDD2350429E}"/>
                  </a:ext>
                </a:extLst>
              </p:cNvPr>
              <p:cNvSpPr/>
              <p:nvPr/>
            </p:nvSpPr>
            <p:spPr>
              <a:xfrm>
                <a:off x="1051560" y="3241548"/>
                <a:ext cx="47548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Combine GNNs with model-driven deep learning for tasks where reconstructing the underlying variable is easy</a:t>
                </a:r>
                <a:endParaRPr lang="en-US" sz="1600" dirty="0"/>
              </a:p>
            </p:txBody>
          </p:sp>
          <p:sp>
            <p:nvSpPr>
              <p:cNvPr id="20" name="Shape 13">
                <a:extLst>
                  <a:ext uri="{FF2B5EF4-FFF2-40B4-BE49-F238E27FC236}">
                    <a16:creationId xmlns:a16="http://schemas.microsoft.com/office/drawing/2014/main" id="{85C7B5A8-A881-4938-B938-9FFC6C68F850}"/>
                  </a:ext>
                </a:extLst>
              </p:cNvPr>
              <p:cNvSpPr/>
              <p:nvPr/>
            </p:nvSpPr>
            <p:spPr>
              <a:xfrm>
                <a:off x="822960" y="4485132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21" name="Text 14">
                <a:extLst>
                  <a:ext uri="{FF2B5EF4-FFF2-40B4-BE49-F238E27FC236}">
                    <a16:creationId xmlns:a16="http://schemas.microsoft.com/office/drawing/2014/main" id="{812F7329-0E06-4ADF-BC52-6B2DFBED9E45}"/>
                  </a:ext>
                </a:extLst>
              </p:cNvPr>
              <p:cNvSpPr/>
              <p:nvPr/>
            </p:nvSpPr>
            <p:spPr>
              <a:xfrm>
                <a:off x="1051560" y="4338828"/>
                <a:ext cx="47548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Build a full theory of robustness to channel-distribution shift, beyond same-distribution generalization guarantees</a:t>
                </a:r>
                <a:endParaRPr lang="en-US" sz="160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69E44D-811D-464C-A75F-717C5A327331}"/>
              </a:ext>
            </a:extLst>
          </p:cNvPr>
          <p:cNvGrpSpPr/>
          <p:nvPr/>
        </p:nvGrpSpPr>
        <p:grpSpPr>
          <a:xfrm>
            <a:off x="430530" y="1325880"/>
            <a:ext cx="5486400" cy="4206240"/>
            <a:chOff x="6217920" y="1485900"/>
            <a:chExt cx="5486400" cy="420624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D789A15C-21A1-4FC9-8065-2DC48E0E237B}"/>
                </a:ext>
              </a:extLst>
            </p:cNvPr>
            <p:cNvSpPr/>
            <p:nvPr/>
          </p:nvSpPr>
          <p:spPr>
            <a:xfrm>
              <a:off x="6217920" y="1485900"/>
              <a:ext cx="5486400" cy="4206240"/>
            </a:xfrm>
            <a:prstGeom prst="roundRect">
              <a:avLst>
                <a:gd name="adj" fmla="val 1957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352689B2-1A19-4FB2-A15D-893B5AFD2A19}"/>
                </a:ext>
              </a:extLst>
            </p:cNvPr>
            <p:cNvSpPr/>
            <p:nvPr/>
          </p:nvSpPr>
          <p:spPr>
            <a:xfrm>
              <a:off x="6492240" y="1668780"/>
              <a:ext cx="4937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Conclusion</a:t>
              </a:r>
              <a:endParaRPr lang="en-US" sz="24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D4F91E-DC35-421A-99E8-EB69FCB8AA42}"/>
                </a:ext>
              </a:extLst>
            </p:cNvPr>
            <p:cNvGrpSpPr/>
            <p:nvPr/>
          </p:nvGrpSpPr>
          <p:grpSpPr>
            <a:xfrm>
              <a:off x="6537960" y="2144268"/>
              <a:ext cx="4983480" cy="3173730"/>
              <a:chOff x="6537960" y="2144268"/>
              <a:chExt cx="4983480" cy="3173730"/>
            </a:xfrm>
          </p:grpSpPr>
          <p:sp>
            <p:nvSpPr>
              <p:cNvPr id="25" name="Text 18">
                <a:extLst>
                  <a:ext uri="{FF2B5EF4-FFF2-40B4-BE49-F238E27FC236}">
                    <a16:creationId xmlns:a16="http://schemas.microsoft.com/office/drawing/2014/main" id="{24399DE0-A6A9-422C-9605-6F8B151F2A07}"/>
                  </a:ext>
                </a:extLst>
              </p:cNvPr>
              <p:cNvSpPr/>
              <p:nvPr/>
            </p:nvSpPr>
            <p:spPr>
              <a:xfrm>
                <a:off x="6766560" y="2144268"/>
                <a:ext cx="47548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unified framework for applying GNNs to wireless networks: graph modeling, architecture design, and theory, together</a:t>
                </a:r>
                <a:endParaRPr lang="en-US" sz="1600" dirty="0"/>
              </a:p>
            </p:txBody>
          </p:sp>
          <p:sp>
            <p:nvSpPr>
              <p:cNvPr id="24" name="Shape 17">
                <a:extLst>
                  <a:ext uri="{FF2B5EF4-FFF2-40B4-BE49-F238E27FC236}">
                    <a16:creationId xmlns:a16="http://schemas.microsoft.com/office/drawing/2014/main" id="{837344DC-B572-442E-BAC4-AE4A7D7253A5}"/>
                  </a:ext>
                </a:extLst>
              </p:cNvPr>
              <p:cNvSpPr/>
              <p:nvPr/>
            </p:nvSpPr>
            <p:spPr>
              <a:xfrm>
                <a:off x="6537960" y="2319147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26" name="Shape 19">
                <a:extLst>
                  <a:ext uri="{FF2B5EF4-FFF2-40B4-BE49-F238E27FC236}">
                    <a16:creationId xmlns:a16="http://schemas.microsoft.com/office/drawing/2014/main" id="{92528A2B-08C0-4F9F-8418-CE81D04D8723}"/>
                  </a:ext>
                </a:extLst>
              </p:cNvPr>
              <p:cNvSpPr/>
              <p:nvPr/>
            </p:nvSpPr>
            <p:spPr>
              <a:xfrm>
                <a:off x="6537960" y="3416427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27" name="Text 20">
                <a:extLst>
                  <a:ext uri="{FF2B5EF4-FFF2-40B4-BE49-F238E27FC236}">
                    <a16:creationId xmlns:a16="http://schemas.microsoft.com/office/drawing/2014/main" id="{BAB11876-4802-48E5-978B-A4F0D4F56E74}"/>
                  </a:ext>
                </a:extLst>
              </p:cNvPr>
              <p:cNvSpPr/>
              <p:nvPr/>
            </p:nvSpPr>
            <p:spPr>
              <a:xfrm>
                <a:off x="6766560" y="3117723"/>
                <a:ext cx="47548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First quantitative proof that GNNs need O(n) times lower error and O(n²) times fewer samples than MLPs</a:t>
                </a:r>
                <a:endParaRPr lang="en-US" sz="1600" dirty="0"/>
              </a:p>
            </p:txBody>
          </p:sp>
          <p:sp>
            <p:nvSpPr>
              <p:cNvPr id="28" name="Shape 21">
                <a:extLst>
                  <a:ext uri="{FF2B5EF4-FFF2-40B4-BE49-F238E27FC236}">
                    <a16:creationId xmlns:a16="http://schemas.microsoft.com/office/drawing/2014/main" id="{F670278A-CAB9-45D8-B539-10AF6177CAA2}"/>
                  </a:ext>
                </a:extLst>
              </p:cNvPr>
              <p:cNvSpPr/>
              <p:nvPr/>
            </p:nvSpPr>
            <p:spPr>
              <a:xfrm>
                <a:off x="6537960" y="4513707"/>
                <a:ext cx="109728" cy="10972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29" name="Text 22">
                <a:extLst>
                  <a:ext uri="{FF2B5EF4-FFF2-40B4-BE49-F238E27FC236}">
                    <a16:creationId xmlns:a16="http://schemas.microsoft.com/office/drawing/2014/main" id="{DF4229D9-3A22-49BC-B6D1-B178C77DE248}"/>
                  </a:ext>
                </a:extLst>
              </p:cNvPr>
              <p:cNvSpPr/>
              <p:nvPr/>
            </p:nvSpPr>
            <p:spPr>
              <a:xfrm>
                <a:off x="6766560" y="4357878"/>
                <a:ext cx="47548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6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Extensive simulations confirm scalability, generalization, and large computational speedups over classic methods</a:t>
                </a:r>
                <a:endParaRPr lang="en-US" sz="1600" dirty="0"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825DE47-3572-4BB7-960F-EA38014877DE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602459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38/40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4573883" y="110268"/>
            <a:ext cx="3044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References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0D63B6-A919-4890-9451-F26AF073814B}"/>
              </a:ext>
            </a:extLst>
          </p:cNvPr>
          <p:cNvSpPr txBox="1"/>
          <p:nvPr/>
        </p:nvSpPr>
        <p:spPr>
          <a:xfrm>
            <a:off x="1228544" y="1166842"/>
            <a:ext cx="9734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US" b="1" dirty="0"/>
              <a:t>[1]</a:t>
            </a:r>
            <a:r>
              <a:rPr lang="en-US" dirty="0"/>
              <a:t> F. </a:t>
            </a:r>
            <a:r>
              <a:rPr lang="en-US" dirty="0" err="1"/>
              <a:t>Scarselli</a:t>
            </a:r>
            <a:r>
              <a:rPr lang="en-US" dirty="0"/>
              <a:t>, M. Gori, A. C. Tsoi, M. </a:t>
            </a:r>
            <a:r>
              <a:rPr lang="en-US" dirty="0" err="1"/>
              <a:t>Hagenbuchner</a:t>
            </a:r>
            <a:r>
              <a:rPr lang="en-US" dirty="0"/>
              <a:t>, and G. </a:t>
            </a:r>
            <a:r>
              <a:rPr lang="en-US" dirty="0" err="1"/>
              <a:t>Monfardini</a:t>
            </a:r>
            <a:r>
              <a:rPr lang="en-US" dirty="0"/>
              <a:t>, "The graph neural network model," </a:t>
            </a:r>
            <a:r>
              <a:rPr lang="en-US" i="1" dirty="0"/>
              <a:t>IEEE Trans. Neural </a:t>
            </a:r>
            <a:r>
              <a:rPr lang="en-US" i="1" dirty="0" err="1"/>
              <a:t>Netw</a:t>
            </a:r>
            <a:r>
              <a:rPr lang="en-US" i="1" dirty="0"/>
              <a:t>.</a:t>
            </a:r>
            <a:r>
              <a:rPr lang="en-US" dirty="0"/>
              <a:t>, vol. 20, no. 1, pp. 61–80, Jan. 2009.</a:t>
            </a:r>
          </a:p>
          <a:p>
            <a:pPr algn="just" rtl="0"/>
            <a:endParaRPr lang="en-US" dirty="0"/>
          </a:p>
          <a:p>
            <a:pPr algn="just" rtl="0"/>
            <a:r>
              <a:rPr lang="en-US" b="1" dirty="0"/>
              <a:t>[2]</a:t>
            </a:r>
            <a:r>
              <a:rPr lang="en-US" dirty="0"/>
              <a:t> Z. Wu, S. Pan, F. Chen, G. Long, C. Zhang, and P. S. Yu, "A comprehensive survey on graph neural networks," </a:t>
            </a:r>
            <a:r>
              <a:rPr lang="en-US" i="1" dirty="0"/>
              <a:t>IEEE Trans. Neural </a:t>
            </a:r>
            <a:r>
              <a:rPr lang="en-US" i="1" dirty="0" err="1"/>
              <a:t>Netw</a:t>
            </a:r>
            <a:r>
              <a:rPr lang="en-US" i="1" dirty="0"/>
              <a:t>. Learn. Syst.</a:t>
            </a:r>
            <a:r>
              <a:rPr lang="en-US" dirty="0"/>
              <a:t>, vol. 32, no. 1, pp. 4–24, Jan. 2021.</a:t>
            </a:r>
          </a:p>
          <a:p>
            <a:pPr algn="just" rtl="0"/>
            <a:endParaRPr lang="en-US" dirty="0"/>
          </a:p>
          <a:p>
            <a:pPr algn="just" rtl="0"/>
            <a:r>
              <a:rPr lang="en-US" b="1" dirty="0"/>
              <a:t>[3]</a:t>
            </a:r>
            <a:r>
              <a:rPr lang="en-US" dirty="0"/>
              <a:t> J. Zhou, G. Cui, S. Hu, Z. Zhang, C. Yang, Z. Liu, L. Wang, C. Li, and M. Sun, "Graph neural networks: A review of methods and applications," </a:t>
            </a:r>
            <a:r>
              <a:rPr lang="en-US" i="1" dirty="0"/>
              <a:t>AI Open</a:t>
            </a:r>
            <a:r>
              <a:rPr lang="en-US" dirty="0"/>
              <a:t>, vol. 1, pp. 57–81, 2020.</a:t>
            </a:r>
          </a:p>
          <a:p>
            <a:pPr algn="just" rtl="0"/>
            <a:endParaRPr lang="en-US" dirty="0"/>
          </a:p>
          <a:p>
            <a:pPr algn="just" rtl="0"/>
            <a:r>
              <a:rPr lang="en-US" b="1" dirty="0"/>
              <a:t>[4]</a:t>
            </a:r>
            <a:r>
              <a:rPr lang="en-US" dirty="0"/>
              <a:t> J. Suárez-Varela, P. </a:t>
            </a:r>
            <a:r>
              <a:rPr lang="en-US" dirty="0" err="1"/>
              <a:t>Almasan</a:t>
            </a:r>
            <a:r>
              <a:rPr lang="en-US" dirty="0"/>
              <a:t>, M. </a:t>
            </a:r>
            <a:r>
              <a:rPr lang="en-US" dirty="0" err="1"/>
              <a:t>Ferriol-Galmés</a:t>
            </a:r>
            <a:r>
              <a:rPr lang="en-US" dirty="0"/>
              <a:t>, K. </a:t>
            </a:r>
            <a:r>
              <a:rPr lang="en-US" dirty="0" err="1"/>
              <a:t>Rusek</a:t>
            </a:r>
            <a:r>
              <a:rPr lang="en-US" dirty="0"/>
              <a:t>, F. Geyer, X. Cheng, X. Shi, S. Xiao, F. </a:t>
            </a:r>
            <a:r>
              <a:rPr lang="en-US" dirty="0" err="1"/>
              <a:t>Scarselli</a:t>
            </a:r>
            <a:r>
              <a:rPr lang="en-US" dirty="0"/>
              <a:t>, A. </a:t>
            </a:r>
            <a:r>
              <a:rPr lang="en-US" dirty="0" err="1"/>
              <a:t>Cabellos</a:t>
            </a:r>
            <a:r>
              <a:rPr lang="en-US" dirty="0"/>
              <a:t>-Aparicio, and P. </a:t>
            </a:r>
            <a:r>
              <a:rPr lang="en-US" dirty="0" err="1"/>
              <a:t>Barlet</a:t>
            </a:r>
            <a:r>
              <a:rPr lang="en-US" dirty="0"/>
              <a:t>-Ros, "Graph neural networks for communication networks: Context, use cases and opportunities," </a:t>
            </a:r>
            <a:r>
              <a:rPr lang="en-US" i="1" dirty="0"/>
              <a:t>IEEE Network</a:t>
            </a:r>
            <a:r>
              <a:rPr lang="en-US" dirty="0"/>
              <a:t>, vol. 37, no. 3, pp. 146–153, May/June 2023.</a:t>
            </a:r>
          </a:p>
          <a:p>
            <a:pPr algn="just" rtl="0"/>
            <a:endParaRPr lang="en-US" dirty="0"/>
          </a:p>
          <a:p>
            <a:pPr algn="just" rtl="0"/>
            <a:r>
              <a:rPr lang="en-US" b="1" dirty="0"/>
              <a:t>[5]</a:t>
            </a:r>
            <a:r>
              <a:rPr lang="en-US" dirty="0"/>
              <a:t> Y. Shen, J. Zhang, S. H. Song, and K. B. </a:t>
            </a:r>
            <a:r>
              <a:rPr lang="en-US" dirty="0" err="1"/>
              <a:t>Letaief</a:t>
            </a:r>
            <a:r>
              <a:rPr lang="en-US" dirty="0"/>
              <a:t>, "Graph neural networks for wireless communications: From theory to practice," </a:t>
            </a:r>
            <a:r>
              <a:rPr lang="en-US" i="1" dirty="0"/>
              <a:t>IEEE Trans. Wireless </a:t>
            </a:r>
            <a:r>
              <a:rPr lang="en-US" i="1" dirty="0" err="1"/>
              <a:t>Commun</a:t>
            </a:r>
            <a:r>
              <a:rPr lang="en-US" i="1" dirty="0"/>
              <a:t>.</a:t>
            </a:r>
            <a:r>
              <a:rPr lang="en-US" dirty="0"/>
              <a:t>, vol. 22, no. 5, pp. 3554–3569, May 2023.</a:t>
            </a:r>
          </a:p>
          <a:p>
            <a:pPr algn="just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E5933-D7E4-4919-A2FE-3EEFE13F278D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593807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566704-D219-A777-2E0D-E7139B3C90A3}"/>
              </a:ext>
            </a:extLst>
          </p:cNvPr>
          <p:cNvCxnSpPr>
            <a:cxnSpLocks/>
          </p:cNvCxnSpPr>
          <p:nvPr/>
        </p:nvCxnSpPr>
        <p:spPr>
          <a:xfrm>
            <a:off x="0" y="583054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49D4C3-AB9F-07E3-3F0F-CDB86AB3022C}"/>
              </a:ext>
            </a:extLst>
          </p:cNvPr>
          <p:cNvSpPr/>
          <p:nvPr/>
        </p:nvSpPr>
        <p:spPr>
          <a:xfrm>
            <a:off x="11077575" y="6541939"/>
            <a:ext cx="1044449" cy="2880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</a:rPr>
              <a:t>39/40</a:t>
            </a:r>
            <a:endParaRPr lang="fa-IR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B61A9-F184-0DD1-D87A-9897867921DD}"/>
              </a:ext>
            </a:extLst>
          </p:cNvPr>
          <p:cNvCxnSpPr>
            <a:cxnSpLocks/>
          </p:cNvCxnSpPr>
          <p:nvPr/>
        </p:nvCxnSpPr>
        <p:spPr>
          <a:xfrm>
            <a:off x="0" y="6502951"/>
            <a:ext cx="12192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C9F881A-DCDD-4B32-BEDB-DD369B4ADAA2}"/>
              </a:ext>
            </a:extLst>
          </p:cNvPr>
          <p:cNvSpPr txBox="1"/>
          <p:nvPr/>
        </p:nvSpPr>
        <p:spPr>
          <a:xfrm>
            <a:off x="5760067" y="116139"/>
            <a:ext cx="671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Quiz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Picture 2" descr="Logo">
            <a:extLst>
              <a:ext uri="{FF2B5EF4-FFF2-40B4-BE49-F238E27FC236}">
                <a16:creationId xmlns:a16="http://schemas.microsoft.com/office/drawing/2014/main" id="{359855A6-FAD7-460D-A1E8-E7216730A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60451" y="6538009"/>
            <a:ext cx="964224" cy="2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7864D3-9405-42FB-865B-EE25BEE9421F}"/>
              </a:ext>
            </a:extLst>
          </p:cNvPr>
          <p:cNvSpPr txBox="1"/>
          <p:nvPr/>
        </p:nvSpPr>
        <p:spPr>
          <a:xfrm>
            <a:off x="971550" y="6503509"/>
            <a:ext cx="10039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</a:rPr>
              <a:t>Graph Neural Networks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628D9-8874-4CBB-8D44-1499C2640BD8}"/>
              </a:ext>
            </a:extLst>
          </p:cNvPr>
          <p:cNvSpPr txBox="1"/>
          <p:nvPr/>
        </p:nvSpPr>
        <p:spPr>
          <a:xfrm>
            <a:off x="1488104" y="3244334"/>
            <a:ext cx="4943827" cy="369332"/>
          </a:xfrm>
          <a:prstGeom prst="rect">
            <a:avLst/>
          </a:prstGeom>
          <a:noFill/>
          <a:ln w="44450"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forms.gle</a:t>
            </a:r>
            <a:r>
              <a:rPr lang="en-US" dirty="0"/>
              <a:t>/</a:t>
            </a:r>
            <a:r>
              <a:rPr lang="en-US" dirty="0" err="1"/>
              <a:t>hB2WokMPTqsVXi1L9</a:t>
            </a:r>
            <a:endParaRPr lang="fa-I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A5C5AE-E742-467C-AA8D-586AD687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7" y="1447801"/>
            <a:ext cx="3962398" cy="396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815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35FF11-2C99-CE54-8FB0-85C6875591F9}"/>
              </a:ext>
            </a:extLst>
          </p:cNvPr>
          <p:cNvGrpSpPr/>
          <p:nvPr/>
        </p:nvGrpSpPr>
        <p:grpSpPr>
          <a:xfrm>
            <a:off x="688461" y="890587"/>
            <a:ext cx="5588514" cy="5076825"/>
            <a:chOff x="2321751" y="2594796"/>
            <a:chExt cx="4380463" cy="41179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62E286-5450-9E87-CD69-E66A1868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1751" y="4033705"/>
              <a:ext cx="544337" cy="138311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8B4B17-1AAF-8A9A-7A55-B75595664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600720" y="3973353"/>
              <a:ext cx="327537" cy="41226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22AA39-AACB-3A50-CFA2-A48F9205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888204" y="4122968"/>
              <a:ext cx="814010" cy="9808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6D0E1D-681F-DBD4-8EDB-9227DDC54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8393" y="2594796"/>
              <a:ext cx="906212" cy="90101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417E62-F5AE-3C5C-242F-1D10B64DE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8" t="37209" r="32404" b="14427"/>
            <a:stretch/>
          </p:blipFill>
          <p:spPr>
            <a:xfrm>
              <a:off x="2883505" y="3352800"/>
              <a:ext cx="2942530" cy="274492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861384-D83B-E1F9-4150-B1BFC286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9970" y="6110748"/>
              <a:ext cx="609600" cy="60196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2749B4-0030-CA77-D0CB-0B77D7826A2D}"/>
              </a:ext>
            </a:extLst>
          </p:cNvPr>
          <p:cNvGrpSpPr/>
          <p:nvPr/>
        </p:nvGrpSpPr>
        <p:grpSpPr>
          <a:xfrm>
            <a:off x="6885994" y="2143125"/>
            <a:ext cx="4451400" cy="2571750"/>
            <a:chOff x="6668278" y="2247900"/>
            <a:chExt cx="4451400" cy="257175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F32949-7C6F-85F8-6C2E-3CCBEE7A0606}"/>
                </a:ext>
              </a:extLst>
            </p:cNvPr>
            <p:cNvSpPr/>
            <p:nvPr/>
          </p:nvSpPr>
          <p:spPr>
            <a:xfrm>
              <a:off x="6991350" y="2247900"/>
              <a:ext cx="4128328" cy="2571750"/>
            </a:xfrm>
            <a:prstGeom prst="roundRect">
              <a:avLst/>
            </a:prstGeom>
            <a:noFill/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F4BD98-47E3-3627-0176-DD1FC5DE99F9}"/>
                </a:ext>
              </a:extLst>
            </p:cNvPr>
            <p:cNvSpPr txBox="1"/>
            <p:nvPr/>
          </p:nvSpPr>
          <p:spPr>
            <a:xfrm>
              <a:off x="6668278" y="2916993"/>
              <a:ext cx="4343839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400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Constantia" panose="02030602050306030303" pitchFamily="18" charset="0"/>
                  <a:cs typeface="+mj-cs"/>
                </a:rPr>
                <a:t>Thank you for your attention</a:t>
              </a:r>
              <a:endParaRPr lang="fa-IR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nstantia" panose="02030602050306030303" pitchFamily="18" charset="0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59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4399</Words>
  <Application>Microsoft Office PowerPoint</Application>
  <PresentationFormat>Widescreen</PresentationFormat>
  <Paragraphs>519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Calibri Light</vt:lpstr>
      <vt:lpstr>Cambria</vt:lpstr>
      <vt:lpstr>Cambria Math</vt:lpstr>
      <vt:lpstr>Constantia</vt:lpstr>
      <vt:lpstr>Courier New</vt:lpstr>
      <vt:lpstr>NimbusRomNo9L-Regu</vt:lpstr>
      <vt:lpstr>Times-Roman</vt:lpstr>
      <vt:lpstr>Wingdings</vt:lpstr>
      <vt:lpstr>Office Theme</vt:lpstr>
      <vt:lpstr>TP558 - Tópicos avançados em Machine Learning  Graph Neural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TP558 - Tópicos avançados em Machine Learning Federated Learning</dc:title>
  <dc:creator>User</dc:creator>
  <cp:lastModifiedBy>User</cp:lastModifiedBy>
  <cp:revision>339</cp:revision>
  <dcterms:created xsi:type="dcterms:W3CDTF">2026-08-27T19:44:46Z</dcterms:created>
  <dcterms:modified xsi:type="dcterms:W3CDTF">2026-09-21T17:56:36Z</dcterms:modified>
</cp:coreProperties>
</file>